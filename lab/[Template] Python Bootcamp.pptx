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Dosis"/>
      <p:regular r:id="rId30"/>
      <p:bold r:id="rId31"/>
    </p:embeddedFont>
    <p:embeddedFont>
      <p:font typeface="Roboto"/>
      <p:regular r:id="rId32"/>
      <p:bold r:id="rId33"/>
      <p:italic r:id="rId34"/>
      <p:boldItalic r:id="rId35"/>
    </p:embeddedFont>
    <p:embeddedFont>
      <p:font typeface="Montserrat"/>
      <p:regular r:id="rId36"/>
      <p:bold r:id="rId37"/>
      <p:italic r:id="rId38"/>
      <p:boldItalic r:id="rId39"/>
    </p:embeddedFont>
    <p:embeddedFont>
      <p:font typeface="PT Sans Narrow"/>
      <p:regular r:id="rId40"/>
      <p:bold r:id="rId41"/>
    </p:embeddedFont>
    <p:embeddedFont>
      <p:font typeface="Montserrat Medium"/>
      <p:regular r:id="rId42"/>
      <p:bold r:id="rId43"/>
      <p:italic r:id="rId44"/>
      <p:boldItalic r:id="rId45"/>
    </p:embeddedFon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jNpOOQ/FAACEGVrpLcQppwVezB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9E5EFF-D20A-4900-BC02-8A4EB16F9F86}">
  <a:tblStyle styleId="{E19E5EFF-D20A-4900-BC02-8A4EB16F9F8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TSansNarrow-regular.fntdata"/><Relationship Id="rId42" Type="http://schemas.openxmlformats.org/officeDocument/2006/relationships/font" Target="fonts/MontserratMedium-regular.fntdata"/><Relationship Id="rId41" Type="http://schemas.openxmlformats.org/officeDocument/2006/relationships/font" Target="fonts/PTSansNarrow-bold.fntdata"/><Relationship Id="rId44" Type="http://schemas.openxmlformats.org/officeDocument/2006/relationships/font" Target="fonts/MontserratMedium-italic.fntdata"/><Relationship Id="rId43" Type="http://schemas.openxmlformats.org/officeDocument/2006/relationships/font" Target="fonts/MontserratMedium-bold.fntdata"/><Relationship Id="rId46" Type="http://schemas.openxmlformats.org/officeDocument/2006/relationships/font" Target="fonts/OpenSans-regular.fntdata"/><Relationship Id="rId45" Type="http://schemas.openxmlformats.org/officeDocument/2006/relationships/font" Target="fonts/MontserratMedium-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osis-bold.fntdata"/><Relationship Id="rId30" Type="http://schemas.openxmlformats.org/officeDocument/2006/relationships/font" Target="fonts/Dosis-regular.fntdata"/><Relationship Id="rId33" Type="http://schemas.openxmlformats.org/officeDocument/2006/relationships/font" Target="fonts/Roboto-bold.fntdata"/><Relationship Id="rId32" Type="http://schemas.openxmlformats.org/officeDocument/2006/relationships/font" Target="fonts/Roboto-regular.fntdata"/><Relationship Id="rId35" Type="http://schemas.openxmlformats.org/officeDocument/2006/relationships/font" Target="fonts/Roboto-boldItalic.fntdata"/><Relationship Id="rId34" Type="http://schemas.openxmlformats.org/officeDocument/2006/relationships/font" Target="fonts/Roboto-italic.fntdata"/><Relationship Id="rId37" Type="http://schemas.openxmlformats.org/officeDocument/2006/relationships/font" Target="fonts/Montserrat-bold.fntdata"/><Relationship Id="rId36" Type="http://schemas.openxmlformats.org/officeDocument/2006/relationships/font" Target="fonts/Montserrat-regular.fntdata"/><Relationship Id="rId39" Type="http://schemas.openxmlformats.org/officeDocument/2006/relationships/font" Target="fonts/Montserrat-boldItalic.fntdata"/><Relationship Id="rId38" Type="http://schemas.openxmlformats.org/officeDocument/2006/relationships/font" Target="fonts/Montserrat-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6"/>
          <p:cNvGrpSpPr/>
          <p:nvPr/>
        </p:nvGrpSpPr>
        <p:grpSpPr>
          <a:xfrm>
            <a:off x="1004144" y="1022025"/>
            <a:ext cx="7136668" cy="152400"/>
            <a:chOff x="1346429" y="1011300"/>
            <a:chExt cx="6452100" cy="152400"/>
          </a:xfrm>
        </p:grpSpPr>
        <p:cxnSp>
          <p:nvCxnSpPr>
            <p:cNvPr id="11" name="Google Shape;11;p26"/>
            <p:cNvCxnSpPr/>
            <p:nvPr/>
          </p:nvCxnSpPr>
          <p:spPr>
            <a:xfrm rot="10800000">
              <a:off x="1346429" y="1011300"/>
              <a:ext cx="6452100" cy="0"/>
            </a:xfrm>
            <a:prstGeom prst="straightConnector1">
              <a:avLst/>
            </a:prstGeom>
            <a:noFill/>
            <a:ln cap="flat" cmpd="sng" w="76200">
              <a:solidFill>
                <a:srgbClr val="C4820E"/>
              </a:solidFill>
              <a:prstDash val="solid"/>
              <a:round/>
              <a:headEnd len="sm" w="sm" type="none"/>
              <a:tailEnd len="sm" w="sm" type="none"/>
            </a:ln>
          </p:spPr>
        </p:cxnSp>
        <p:cxnSp>
          <p:nvCxnSpPr>
            <p:cNvPr id="12" name="Google Shape;12;p26"/>
            <p:cNvCxnSpPr/>
            <p:nvPr/>
          </p:nvCxnSpPr>
          <p:spPr>
            <a:xfrm rot="10800000">
              <a:off x="1346429" y="1163700"/>
              <a:ext cx="6452100" cy="0"/>
            </a:xfrm>
            <a:prstGeom prst="straightConnector1">
              <a:avLst/>
            </a:prstGeom>
            <a:noFill/>
            <a:ln cap="flat" cmpd="sng" w="9525">
              <a:solidFill>
                <a:srgbClr val="C4820E"/>
              </a:solidFill>
              <a:prstDash val="solid"/>
              <a:round/>
              <a:headEnd len="sm" w="sm" type="none"/>
              <a:tailEnd len="sm" w="sm" type="none"/>
            </a:ln>
          </p:spPr>
        </p:cxnSp>
      </p:grpSp>
      <p:grpSp>
        <p:nvGrpSpPr>
          <p:cNvPr id="13" name="Google Shape;13;p26"/>
          <p:cNvGrpSpPr/>
          <p:nvPr/>
        </p:nvGrpSpPr>
        <p:grpSpPr>
          <a:xfrm>
            <a:off x="1004151" y="3969100"/>
            <a:ext cx="7136668" cy="152400"/>
            <a:chOff x="1346435" y="3969088"/>
            <a:chExt cx="6452100" cy="152400"/>
          </a:xfrm>
        </p:grpSpPr>
        <p:cxnSp>
          <p:nvCxnSpPr>
            <p:cNvPr id="14" name="Google Shape;14;p26"/>
            <p:cNvCxnSpPr/>
            <p:nvPr/>
          </p:nvCxnSpPr>
          <p:spPr>
            <a:xfrm>
              <a:off x="1346435" y="4121488"/>
              <a:ext cx="6452100" cy="0"/>
            </a:xfrm>
            <a:prstGeom prst="straightConnector1">
              <a:avLst/>
            </a:prstGeom>
            <a:noFill/>
            <a:ln cap="flat" cmpd="sng" w="76200">
              <a:solidFill>
                <a:srgbClr val="C4820E"/>
              </a:solidFill>
              <a:prstDash val="solid"/>
              <a:round/>
              <a:headEnd len="sm" w="sm" type="none"/>
              <a:tailEnd len="sm" w="sm" type="none"/>
            </a:ln>
          </p:spPr>
        </p:cxnSp>
        <p:cxnSp>
          <p:nvCxnSpPr>
            <p:cNvPr id="15" name="Google Shape;15;p26"/>
            <p:cNvCxnSpPr/>
            <p:nvPr/>
          </p:nvCxnSpPr>
          <p:spPr>
            <a:xfrm>
              <a:off x="1346435" y="3969088"/>
              <a:ext cx="6452100" cy="0"/>
            </a:xfrm>
            <a:prstGeom prst="straightConnector1">
              <a:avLst/>
            </a:prstGeom>
            <a:noFill/>
            <a:ln cap="flat" cmpd="sng" w="9525">
              <a:solidFill>
                <a:srgbClr val="C4820E"/>
              </a:solidFill>
              <a:prstDash val="solid"/>
              <a:round/>
              <a:headEnd len="sm" w="sm" type="none"/>
              <a:tailEnd len="sm" w="sm" type="none"/>
            </a:ln>
          </p:spPr>
        </p:cxnSp>
      </p:grpSp>
      <p:sp>
        <p:nvSpPr>
          <p:cNvPr id="16" name="Google Shape;16;p26"/>
          <p:cNvSpPr txBox="1"/>
          <p:nvPr>
            <p:ph type="ctrTitle"/>
          </p:nvPr>
        </p:nvSpPr>
        <p:spPr>
          <a:xfrm>
            <a:off x="1004150" y="15231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003262"/>
              </a:buClr>
              <a:buSzPts val="5400"/>
              <a:buFont typeface="Montserrat"/>
              <a:buNone/>
              <a:defRPr sz="5400">
                <a:solidFill>
                  <a:srgbClr val="003262"/>
                </a:solidFill>
                <a:latin typeface="Montserrat"/>
                <a:ea typeface="Montserrat"/>
                <a:cs typeface="Montserrat"/>
                <a:sym typeface="Montserrat"/>
              </a:defRPr>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7" name="Google Shape;17;p26"/>
          <p:cNvSpPr txBox="1"/>
          <p:nvPr>
            <p:ph idx="1" type="subTitle"/>
          </p:nvPr>
        </p:nvSpPr>
        <p:spPr>
          <a:xfrm>
            <a:off x="1547925" y="2850050"/>
            <a:ext cx="60942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003262"/>
              </a:buClr>
              <a:buSzPts val="2400"/>
              <a:buFont typeface="Montserrat Medium"/>
              <a:buNone/>
              <a:defRPr sz="2400">
                <a:solidFill>
                  <a:srgbClr val="003262"/>
                </a:solidFill>
                <a:latin typeface="Montserrat Medium"/>
                <a:ea typeface="Montserrat Medium"/>
                <a:cs typeface="Montserrat Medium"/>
                <a:sym typeface="Montserrat Medium"/>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8" name="Google Shape;18;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27"/>
          <p:cNvSpPr/>
          <p:nvPr/>
        </p:nvSpPr>
        <p:spPr>
          <a:xfrm>
            <a:off x="-75" y="5045700"/>
            <a:ext cx="9144000" cy="97800"/>
          </a:xfrm>
          <a:prstGeom prst="rect">
            <a:avLst/>
          </a:prstGeom>
          <a:solidFill>
            <a:srgbClr val="C4820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7"/>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C4820E"/>
              </a:buClr>
              <a:buSzPts val="3000"/>
              <a:buFont typeface="Montserrat"/>
              <a:buNone/>
              <a:defRPr sz="3000">
                <a:solidFill>
                  <a:srgbClr val="C4820E"/>
                </a:solidFill>
                <a:latin typeface="Montserrat"/>
                <a:ea typeface="Montserrat"/>
                <a:cs typeface="Montserrat"/>
                <a:sym typeface="Montserrat"/>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2" name="Google Shape;22;p27"/>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lvl1pPr indent="-355600" lvl="0" marL="4572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1pPr>
            <a:lvl2pPr indent="-355600" lvl="1" marL="9144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2pPr>
            <a:lvl3pPr indent="-355600" lvl="2" marL="13716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3pPr>
            <a:lvl4pPr indent="-355600" lvl="3" marL="18288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4pPr>
            <a:lvl5pPr indent="-355600" lvl="4" marL="22860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5pPr>
            <a:lvl6pPr indent="-355600" lvl="5" marL="27432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6pPr>
            <a:lvl7pPr indent="-355600" lvl="6" marL="32004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7pPr>
            <a:lvl8pPr indent="-355600" lvl="7" marL="36576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8pPr>
            <a:lvl9pPr indent="-355600" lvl="8" marL="41148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9pPr>
          </a:lstStyle>
          <a:p/>
        </p:txBody>
      </p:sp>
      <p:sp>
        <p:nvSpPr>
          <p:cNvPr id="23" name="Google Shape;23;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28"/>
          <p:cNvSpPr/>
          <p:nvPr/>
        </p:nvSpPr>
        <p:spPr>
          <a:xfrm>
            <a:off x="-50" y="2571900"/>
            <a:ext cx="9144000" cy="2571600"/>
          </a:xfrm>
          <a:prstGeom prst="rect">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8"/>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27" name="Google Shape;2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30"/>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C4820E"/>
              </a:buClr>
              <a:buSzPts val="3000"/>
              <a:buFont typeface="Montserrat"/>
              <a:buNone/>
              <a:defRPr sz="3000">
                <a:solidFill>
                  <a:srgbClr val="C4820E"/>
                </a:solidFill>
                <a:latin typeface="Montserrat"/>
                <a:ea typeface="Montserrat"/>
                <a:cs typeface="Montserrat"/>
                <a:sym typeface="Montserrat"/>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2" name="Google Shape;32;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31"/>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C4820E"/>
              </a:buClr>
              <a:buSzPts val="3000"/>
              <a:buFont typeface="Montserrat"/>
              <a:buNone/>
              <a:defRPr sz="3000">
                <a:solidFill>
                  <a:srgbClr val="C4820E"/>
                </a:solidFill>
                <a:latin typeface="Montserrat"/>
                <a:ea typeface="Montserrat"/>
                <a:cs typeface="Montserrat"/>
                <a:sym typeface="Montserrat"/>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5" name="Google Shape;35;p31"/>
          <p:cNvSpPr txBox="1"/>
          <p:nvPr>
            <p:ph idx="1" type="body"/>
          </p:nvPr>
        </p:nvSpPr>
        <p:spPr>
          <a:xfrm>
            <a:off x="311700" y="1145700"/>
            <a:ext cx="3999900" cy="35835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003262"/>
              </a:buClr>
              <a:buSzPts val="1400"/>
              <a:buFont typeface="Montserrat Medium"/>
              <a:buChar char="●"/>
              <a:defRPr sz="1400">
                <a:solidFill>
                  <a:srgbClr val="003262"/>
                </a:solidFill>
                <a:latin typeface="Montserrat Medium"/>
                <a:ea typeface="Montserrat Medium"/>
                <a:cs typeface="Montserrat Medium"/>
                <a:sym typeface="Montserrat Medium"/>
              </a:defRPr>
            </a:lvl1pPr>
            <a:lvl2pPr indent="-304800" lvl="1" marL="9144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2pPr>
            <a:lvl3pPr indent="-304800" lvl="2" marL="13716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3pPr>
            <a:lvl4pPr indent="-304800" lvl="3" marL="18288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4pPr>
            <a:lvl5pPr indent="-304800" lvl="4" marL="22860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5pPr>
            <a:lvl6pPr indent="-304800" lvl="5" marL="27432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6pPr>
            <a:lvl7pPr indent="-304800" lvl="6" marL="32004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7pPr>
            <a:lvl8pPr indent="-304800" lvl="7" marL="36576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8pPr>
            <a:lvl9pPr indent="-304800" lvl="8" marL="41148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9pPr>
          </a:lstStyle>
          <a:p/>
        </p:txBody>
      </p:sp>
      <p:sp>
        <p:nvSpPr>
          <p:cNvPr id="36" name="Google Shape;36;p31"/>
          <p:cNvSpPr txBox="1"/>
          <p:nvPr>
            <p:ph idx="2" type="body"/>
          </p:nvPr>
        </p:nvSpPr>
        <p:spPr>
          <a:xfrm>
            <a:off x="4832400" y="1145700"/>
            <a:ext cx="3999900" cy="35835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003262"/>
              </a:buClr>
              <a:buSzPts val="1400"/>
              <a:buFont typeface="Montserrat Medium"/>
              <a:buChar char="●"/>
              <a:defRPr sz="1400">
                <a:solidFill>
                  <a:srgbClr val="003262"/>
                </a:solidFill>
                <a:latin typeface="Montserrat Medium"/>
                <a:ea typeface="Montserrat Medium"/>
                <a:cs typeface="Montserrat Medium"/>
                <a:sym typeface="Montserrat Medium"/>
              </a:defRPr>
            </a:lvl1pPr>
            <a:lvl2pPr indent="-304800" lvl="1" marL="9144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2pPr>
            <a:lvl3pPr indent="-304800" lvl="2" marL="13716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3pPr>
            <a:lvl4pPr indent="-304800" lvl="3" marL="18288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4pPr>
            <a:lvl5pPr indent="-304800" lvl="4" marL="22860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5pPr>
            <a:lvl6pPr indent="-304800" lvl="5" marL="27432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6pPr>
            <a:lvl7pPr indent="-304800" lvl="6" marL="32004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7pPr>
            <a:lvl8pPr indent="-304800" lvl="7" marL="36576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8pPr>
            <a:lvl9pPr indent="-304800" lvl="8" marL="41148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32"/>
          <p:cNvSpPr txBox="1"/>
          <p:nvPr>
            <p:ph type="title"/>
          </p:nvPr>
        </p:nvSpPr>
        <p:spPr>
          <a:xfrm>
            <a:off x="311700" y="3270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32"/>
          <p:cNvSpPr txBox="1"/>
          <p:nvPr>
            <p:ph idx="1" type="body"/>
          </p:nvPr>
        </p:nvSpPr>
        <p:spPr>
          <a:xfrm>
            <a:off x="311700" y="1389600"/>
            <a:ext cx="2808000" cy="3388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33"/>
          <p:cNvSpPr/>
          <p:nvPr/>
        </p:nvSpPr>
        <p:spPr>
          <a:xfrm>
            <a:off x="4572000" y="0"/>
            <a:ext cx="4572000" cy="5143500"/>
          </a:xfrm>
          <a:prstGeom prst="rect">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3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5" name="Google Shape;45;p33"/>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33"/>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3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8" name="Google Shape;48;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34"/>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None/>
              <a:defRPr sz="2400"/>
            </a:lvl1pPr>
          </a:lstStyle>
          <a:p/>
        </p:txBody>
      </p:sp>
      <p:sp>
        <p:nvSpPr>
          <p:cNvPr id="51" name="Google Shape;5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35"/>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5"/>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C4820E"/>
              </a:buClr>
              <a:buSzPts val="13000"/>
              <a:buNone/>
              <a:defRPr sz="13000">
                <a:solidFill>
                  <a:srgbClr val="C4820E"/>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5" name="Google Shape;55;p35"/>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57" name="Shape 57"/>
        <p:cNvGrpSpPr/>
        <p:nvPr/>
      </p:nvGrpSpPr>
      <p:grpSpPr>
        <a:xfrm>
          <a:off x="0" y="0"/>
          <a:ext cx="0" cy="0"/>
          <a:chOff x="0" y="0"/>
          <a:chExt cx="0" cy="0"/>
        </a:xfrm>
      </p:grpSpPr>
      <p:sp>
        <p:nvSpPr>
          <p:cNvPr id="58" name="Google Shape;58;p36"/>
          <p:cNvSpPr txBox="1"/>
          <p:nvPr>
            <p:ph idx="1" type="body"/>
          </p:nvPr>
        </p:nvSpPr>
        <p:spPr>
          <a:xfrm>
            <a:off x="2159325" y="2161800"/>
            <a:ext cx="4825500" cy="819900"/>
          </a:xfrm>
          <a:prstGeom prst="rect">
            <a:avLst/>
          </a:prstGeom>
          <a:noFill/>
          <a:ln>
            <a:noFill/>
          </a:ln>
        </p:spPr>
        <p:txBody>
          <a:bodyPr anchorCtr="0" anchor="ctr" bIns="91425" lIns="91425" spcFirstLastPara="1" rIns="91425" wrap="square" tIns="91425">
            <a:normAutofit/>
          </a:bodyPr>
          <a:lstStyle>
            <a:lvl1pPr indent="-387350" lvl="0" marL="4572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1pPr>
            <a:lvl2pPr indent="-387350" lvl="1" marL="9144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2pPr>
            <a:lvl3pPr indent="-387350" lvl="2" marL="13716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3pPr>
            <a:lvl4pPr indent="-387350" lvl="3" marL="18288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4pPr>
            <a:lvl5pPr indent="-387350" lvl="4" marL="22860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5pPr>
            <a:lvl6pPr indent="-387350" lvl="5" marL="27432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6pPr>
            <a:lvl7pPr indent="-387350" lvl="6" marL="32004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7pPr>
            <a:lvl8pPr indent="-387350" lvl="7" marL="36576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8pPr>
            <a:lvl9pPr indent="-387350" lvl="8" marL="41148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9pPr>
          </a:lstStyle>
          <a:p/>
        </p:txBody>
      </p:sp>
      <p:sp>
        <p:nvSpPr>
          <p:cNvPr id="59" name="Google Shape;59;p36"/>
          <p:cNvSpPr/>
          <p:nvPr/>
        </p:nvSpPr>
        <p:spPr>
          <a:xfrm>
            <a:off x="7302880" y="-294362"/>
            <a:ext cx="450550" cy="558734"/>
          </a:xfrm>
          <a:custGeom>
            <a:rect b="b" l="l" r="r" t="t"/>
            <a:pathLst>
              <a:path extrusionOk="0" h="19698" w="15884">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0" name="Google Shape;60;p36"/>
          <p:cNvSpPr/>
          <p:nvPr/>
        </p:nvSpPr>
        <p:spPr>
          <a:xfrm>
            <a:off x="-35374" y="3366963"/>
            <a:ext cx="443260" cy="504670"/>
          </a:xfrm>
          <a:custGeom>
            <a:rect b="b" l="l" r="r" t="t"/>
            <a:pathLst>
              <a:path extrusionOk="0" h="17792" w="15627">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1" name="Google Shape;61;p36"/>
          <p:cNvSpPr/>
          <p:nvPr/>
        </p:nvSpPr>
        <p:spPr>
          <a:xfrm>
            <a:off x="8817948" y="3439661"/>
            <a:ext cx="414157" cy="507762"/>
          </a:xfrm>
          <a:custGeom>
            <a:rect b="b" l="l" r="r" t="t"/>
            <a:pathLst>
              <a:path extrusionOk="0" h="17901" w="14601">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2" name="Google Shape;62;p36"/>
          <p:cNvSpPr/>
          <p:nvPr/>
        </p:nvSpPr>
        <p:spPr>
          <a:xfrm>
            <a:off x="8742973" y="4166677"/>
            <a:ext cx="495281" cy="340238"/>
          </a:xfrm>
          <a:custGeom>
            <a:rect b="b" l="l" r="r" t="t"/>
            <a:pathLst>
              <a:path extrusionOk="0" h="11995" w="17461">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3" name="Google Shape;63;p36"/>
          <p:cNvSpPr/>
          <p:nvPr/>
        </p:nvSpPr>
        <p:spPr>
          <a:xfrm>
            <a:off x="8360955" y="4506916"/>
            <a:ext cx="372518" cy="384998"/>
          </a:xfrm>
          <a:custGeom>
            <a:rect b="b" l="l" r="r" t="t"/>
            <a:pathLst>
              <a:path extrusionOk="0" h="13573" w="13133">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4" name="Google Shape;64;p36"/>
          <p:cNvSpPr/>
          <p:nvPr/>
        </p:nvSpPr>
        <p:spPr>
          <a:xfrm>
            <a:off x="-77078" y="1488018"/>
            <a:ext cx="339602" cy="400617"/>
          </a:xfrm>
          <a:custGeom>
            <a:rect b="b" l="l" r="r" t="t"/>
            <a:pathLst>
              <a:path extrusionOk="0" h="11079" w="9391">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5" name="Google Shape;65;p36"/>
          <p:cNvSpPr/>
          <p:nvPr/>
        </p:nvSpPr>
        <p:spPr>
          <a:xfrm>
            <a:off x="8052572" y="4825260"/>
            <a:ext cx="589992" cy="414129"/>
          </a:xfrm>
          <a:custGeom>
            <a:rect b="b" l="l" r="r" t="t"/>
            <a:pathLst>
              <a:path extrusionOk="0" h="14600" w="2080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6" name="Google Shape;66;p36"/>
          <p:cNvSpPr/>
          <p:nvPr/>
        </p:nvSpPr>
        <p:spPr>
          <a:xfrm>
            <a:off x="8052577" y="4132327"/>
            <a:ext cx="388118" cy="408938"/>
          </a:xfrm>
          <a:custGeom>
            <a:rect b="b" l="l" r="r" t="t"/>
            <a:pathLst>
              <a:path extrusionOk="0" h="14417" w="13683">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7" name="Google Shape;67;p36"/>
          <p:cNvSpPr/>
          <p:nvPr/>
        </p:nvSpPr>
        <p:spPr>
          <a:xfrm>
            <a:off x="7430898" y="4873171"/>
            <a:ext cx="297606" cy="211234"/>
          </a:xfrm>
          <a:custGeom>
            <a:rect b="b" l="l" r="r" t="t"/>
            <a:pathLst>
              <a:path extrusionOk="0" h="7447" w="10492">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8" name="Google Shape;68;p36"/>
          <p:cNvSpPr/>
          <p:nvPr/>
        </p:nvSpPr>
        <p:spPr>
          <a:xfrm>
            <a:off x="8749725" y="4950125"/>
            <a:ext cx="288245" cy="184202"/>
          </a:xfrm>
          <a:custGeom>
            <a:rect b="b" l="l" r="r" t="t"/>
            <a:pathLst>
              <a:path extrusionOk="0" h="6494" w="10162">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9" name="Google Shape;69;p36"/>
          <p:cNvSpPr/>
          <p:nvPr/>
        </p:nvSpPr>
        <p:spPr>
          <a:xfrm>
            <a:off x="8522444" y="4000279"/>
            <a:ext cx="306966" cy="385027"/>
          </a:xfrm>
          <a:custGeom>
            <a:rect b="b" l="l" r="r" t="t"/>
            <a:pathLst>
              <a:path extrusionOk="0" h="13574" w="10822">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0" name="Google Shape;70;p36"/>
          <p:cNvSpPr/>
          <p:nvPr/>
        </p:nvSpPr>
        <p:spPr>
          <a:xfrm>
            <a:off x="8829403" y="4583868"/>
            <a:ext cx="391238" cy="289295"/>
          </a:xfrm>
          <a:custGeom>
            <a:rect b="b" l="l" r="r" t="t"/>
            <a:pathLst>
              <a:path extrusionOk="0" h="10199" w="13793">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1" name="Google Shape;71;p36"/>
          <p:cNvSpPr/>
          <p:nvPr/>
        </p:nvSpPr>
        <p:spPr>
          <a:xfrm>
            <a:off x="8963979" y="1338718"/>
            <a:ext cx="180033" cy="373539"/>
          </a:xfrm>
          <a:custGeom>
            <a:rect b="b" l="l" r="r" t="t"/>
            <a:pathLst>
              <a:path extrusionOk="0" h="13169" w="6347">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2" name="Google Shape;72;p36"/>
          <p:cNvSpPr/>
          <p:nvPr/>
        </p:nvSpPr>
        <p:spPr>
          <a:xfrm rot="-2426120">
            <a:off x="7110132" y="4877011"/>
            <a:ext cx="279910" cy="357971"/>
          </a:xfrm>
          <a:custGeom>
            <a:rect b="b" l="l" r="r" t="t"/>
            <a:pathLst>
              <a:path extrusionOk="0" h="12620" w="9868">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3" name="Google Shape;73;p36"/>
          <p:cNvSpPr/>
          <p:nvPr/>
        </p:nvSpPr>
        <p:spPr>
          <a:xfrm>
            <a:off x="7659648" y="4370196"/>
            <a:ext cx="377708" cy="426638"/>
          </a:xfrm>
          <a:custGeom>
            <a:rect b="b" l="l" r="r" t="t"/>
            <a:pathLst>
              <a:path extrusionOk="0" h="15041" w="13316">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4" name="Google Shape;74;p36"/>
          <p:cNvSpPr/>
          <p:nvPr/>
        </p:nvSpPr>
        <p:spPr>
          <a:xfrm>
            <a:off x="8797588" y="3078732"/>
            <a:ext cx="386048" cy="258065"/>
          </a:xfrm>
          <a:custGeom>
            <a:rect b="b" l="l" r="r" t="t"/>
            <a:pathLst>
              <a:path extrusionOk="0" h="9098" w="1361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5" name="Google Shape;75;p36"/>
          <p:cNvSpPr/>
          <p:nvPr/>
        </p:nvSpPr>
        <p:spPr>
          <a:xfrm>
            <a:off x="7782420" y="4885132"/>
            <a:ext cx="174842" cy="187322"/>
          </a:xfrm>
          <a:custGeom>
            <a:rect b="b" l="l" r="r" t="t"/>
            <a:pathLst>
              <a:path extrusionOk="0" h="6604" w="6164">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6" name="Google Shape;76;p36"/>
          <p:cNvSpPr/>
          <p:nvPr/>
        </p:nvSpPr>
        <p:spPr>
          <a:xfrm>
            <a:off x="346877" y="608615"/>
            <a:ext cx="210213" cy="458889"/>
          </a:xfrm>
          <a:custGeom>
            <a:rect b="b" l="l" r="r" t="t"/>
            <a:pathLst>
              <a:path extrusionOk="0" h="16178" w="7411">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7" name="Google Shape;77;p36"/>
          <p:cNvSpPr/>
          <p:nvPr/>
        </p:nvSpPr>
        <p:spPr>
          <a:xfrm>
            <a:off x="645010" y="355961"/>
            <a:ext cx="414157" cy="507762"/>
          </a:xfrm>
          <a:custGeom>
            <a:rect b="b" l="l" r="r" t="t"/>
            <a:pathLst>
              <a:path extrusionOk="0" h="17901" w="14601">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8" name="Google Shape;78;p36"/>
          <p:cNvSpPr/>
          <p:nvPr/>
        </p:nvSpPr>
        <p:spPr>
          <a:xfrm>
            <a:off x="8318810" y="-29822"/>
            <a:ext cx="456818" cy="425588"/>
          </a:xfrm>
          <a:custGeom>
            <a:rect b="b" l="l" r="r" t="t"/>
            <a:pathLst>
              <a:path extrusionOk="0" h="15004" w="16105">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9" name="Google Shape;79;p36"/>
          <p:cNvSpPr/>
          <p:nvPr/>
        </p:nvSpPr>
        <p:spPr>
          <a:xfrm>
            <a:off x="-8" y="1013366"/>
            <a:ext cx="372518" cy="384998"/>
          </a:xfrm>
          <a:custGeom>
            <a:rect b="b" l="l" r="r" t="t"/>
            <a:pathLst>
              <a:path extrusionOk="0" h="13573" w="13133">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0" name="Google Shape;80;p36"/>
          <p:cNvSpPr/>
          <p:nvPr/>
        </p:nvSpPr>
        <p:spPr>
          <a:xfrm>
            <a:off x="8699356" y="179112"/>
            <a:ext cx="521292" cy="538992"/>
          </a:xfrm>
          <a:custGeom>
            <a:rect b="b" l="l" r="r" t="t"/>
            <a:pathLst>
              <a:path extrusionOk="0" h="19002" w="18378">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1" name="Google Shape;81;p36"/>
          <p:cNvSpPr/>
          <p:nvPr/>
        </p:nvSpPr>
        <p:spPr>
          <a:xfrm>
            <a:off x="700454" y="4557600"/>
            <a:ext cx="504670" cy="400627"/>
          </a:xfrm>
          <a:custGeom>
            <a:rect b="b" l="l" r="r" t="t"/>
            <a:pathLst>
              <a:path extrusionOk="0" h="14124" w="17792">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2" name="Google Shape;82;p36"/>
          <p:cNvSpPr/>
          <p:nvPr/>
        </p:nvSpPr>
        <p:spPr>
          <a:xfrm>
            <a:off x="258967" y="-86251"/>
            <a:ext cx="470320" cy="442210"/>
          </a:xfrm>
          <a:custGeom>
            <a:rect b="b" l="l" r="r" t="t"/>
            <a:pathLst>
              <a:path extrusionOk="0" h="15590" w="16581">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3" name="Google Shape;83;p36"/>
          <p:cNvSpPr/>
          <p:nvPr/>
        </p:nvSpPr>
        <p:spPr>
          <a:xfrm>
            <a:off x="-35016" y="4075593"/>
            <a:ext cx="339602" cy="400617"/>
          </a:xfrm>
          <a:custGeom>
            <a:rect b="b" l="l" r="r" t="t"/>
            <a:pathLst>
              <a:path extrusionOk="0" h="11079" w="9391">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4" name="Google Shape;84;p36"/>
          <p:cNvSpPr/>
          <p:nvPr/>
        </p:nvSpPr>
        <p:spPr>
          <a:xfrm>
            <a:off x="721258" y="4998019"/>
            <a:ext cx="463059" cy="177962"/>
          </a:xfrm>
          <a:custGeom>
            <a:rect b="b" l="l" r="r" t="t"/>
            <a:pathLst>
              <a:path extrusionOk="0" h="6274" w="16325">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5" name="Google Shape;85;p36"/>
          <p:cNvSpPr/>
          <p:nvPr/>
        </p:nvSpPr>
        <p:spPr>
          <a:xfrm>
            <a:off x="-243128" y="54210"/>
            <a:ext cx="589992" cy="414129"/>
          </a:xfrm>
          <a:custGeom>
            <a:rect b="b" l="l" r="r" t="t"/>
            <a:pathLst>
              <a:path extrusionOk="0" h="14600" w="2080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6" name="Google Shape;86;p36"/>
          <p:cNvSpPr/>
          <p:nvPr/>
        </p:nvSpPr>
        <p:spPr>
          <a:xfrm>
            <a:off x="7842052" y="-100873"/>
            <a:ext cx="388118" cy="408938"/>
          </a:xfrm>
          <a:custGeom>
            <a:rect b="b" l="l" r="r" t="t"/>
            <a:pathLst>
              <a:path extrusionOk="0" h="14417" w="13683">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7" name="Google Shape;87;p36"/>
          <p:cNvSpPr/>
          <p:nvPr/>
        </p:nvSpPr>
        <p:spPr>
          <a:xfrm>
            <a:off x="-38626" y="579046"/>
            <a:ext cx="297606" cy="211234"/>
          </a:xfrm>
          <a:custGeom>
            <a:rect b="b" l="l" r="r" t="t"/>
            <a:pathLst>
              <a:path extrusionOk="0" h="7447" w="10492">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8" name="Google Shape;88;p36"/>
          <p:cNvSpPr/>
          <p:nvPr/>
        </p:nvSpPr>
        <p:spPr>
          <a:xfrm>
            <a:off x="1403775" y="11500"/>
            <a:ext cx="288245" cy="184202"/>
          </a:xfrm>
          <a:custGeom>
            <a:rect b="b" l="l" r="r" t="t"/>
            <a:pathLst>
              <a:path extrusionOk="0" h="6494" w="10162">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9" name="Google Shape;89;p36"/>
          <p:cNvSpPr/>
          <p:nvPr/>
        </p:nvSpPr>
        <p:spPr>
          <a:xfrm>
            <a:off x="955990" y="-57166"/>
            <a:ext cx="323616" cy="321546"/>
          </a:xfrm>
          <a:custGeom>
            <a:rect b="b" l="l" r="r" t="t"/>
            <a:pathLst>
              <a:path extrusionOk="0" h="11336" w="11409">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0" name="Google Shape;90;p36"/>
          <p:cNvSpPr/>
          <p:nvPr/>
        </p:nvSpPr>
        <p:spPr>
          <a:xfrm>
            <a:off x="1333294" y="4678454"/>
            <a:ext cx="306966" cy="385027"/>
          </a:xfrm>
          <a:custGeom>
            <a:rect b="b" l="l" r="r" t="t"/>
            <a:pathLst>
              <a:path extrusionOk="0" h="13574" w="10822">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1" name="Google Shape;91;p36"/>
          <p:cNvSpPr/>
          <p:nvPr/>
        </p:nvSpPr>
        <p:spPr>
          <a:xfrm>
            <a:off x="91624" y="4552927"/>
            <a:ext cx="416228" cy="409988"/>
          </a:xfrm>
          <a:custGeom>
            <a:rect b="b" l="l" r="r" t="t"/>
            <a:pathLst>
              <a:path extrusionOk="0" h="14454" w="14674">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2" name="Google Shape;92;p36"/>
          <p:cNvSpPr/>
          <p:nvPr/>
        </p:nvSpPr>
        <p:spPr>
          <a:xfrm>
            <a:off x="1525678" y="4911343"/>
            <a:ext cx="391238" cy="289295"/>
          </a:xfrm>
          <a:custGeom>
            <a:rect b="b" l="l" r="r" t="t"/>
            <a:pathLst>
              <a:path extrusionOk="0" h="10199" w="13793">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3" name="Google Shape;93;p36"/>
          <p:cNvSpPr/>
          <p:nvPr/>
        </p:nvSpPr>
        <p:spPr>
          <a:xfrm>
            <a:off x="2704" y="4900231"/>
            <a:ext cx="180033" cy="373539"/>
          </a:xfrm>
          <a:custGeom>
            <a:rect b="b" l="l" r="r" t="t"/>
            <a:pathLst>
              <a:path extrusionOk="0" h="13169" w="6347">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4" name="Google Shape;94;p36"/>
          <p:cNvSpPr/>
          <p:nvPr/>
        </p:nvSpPr>
        <p:spPr>
          <a:xfrm rot="1920548">
            <a:off x="8225551" y="625274"/>
            <a:ext cx="501522" cy="425557"/>
          </a:xfrm>
          <a:custGeom>
            <a:rect b="b" l="l" r="r" t="t"/>
            <a:pathLst>
              <a:path extrusionOk="0" h="15004" w="17681">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5" name="Google Shape;95;p36"/>
          <p:cNvSpPr/>
          <p:nvPr/>
        </p:nvSpPr>
        <p:spPr>
          <a:xfrm>
            <a:off x="346867" y="4064142"/>
            <a:ext cx="479681" cy="339217"/>
          </a:xfrm>
          <a:custGeom>
            <a:rect b="b" l="l" r="r" t="t"/>
            <a:pathLst>
              <a:path extrusionOk="0" h="11959" w="16911">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6" name="Google Shape;96;p36"/>
          <p:cNvSpPr/>
          <p:nvPr/>
        </p:nvSpPr>
        <p:spPr>
          <a:xfrm rot="-5400000">
            <a:off x="7996280" y="316930"/>
            <a:ext cx="279906" cy="357966"/>
          </a:xfrm>
          <a:custGeom>
            <a:rect b="b" l="l" r="r" t="t"/>
            <a:pathLst>
              <a:path extrusionOk="0" h="12620" w="9868">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7" name="Google Shape;97;p36"/>
          <p:cNvSpPr/>
          <p:nvPr/>
        </p:nvSpPr>
        <p:spPr>
          <a:xfrm>
            <a:off x="8801760" y="790271"/>
            <a:ext cx="377708" cy="426638"/>
          </a:xfrm>
          <a:custGeom>
            <a:rect b="b" l="l" r="r" t="t"/>
            <a:pathLst>
              <a:path extrusionOk="0" h="15041" w="13316">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8" name="Google Shape;98;p36"/>
          <p:cNvSpPr/>
          <p:nvPr/>
        </p:nvSpPr>
        <p:spPr>
          <a:xfrm>
            <a:off x="258963" y="4957957"/>
            <a:ext cx="386048" cy="258065"/>
          </a:xfrm>
          <a:custGeom>
            <a:rect b="b" l="l" r="r" t="t"/>
            <a:pathLst>
              <a:path extrusionOk="0" h="9098" w="1361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9" name="Google Shape;99;p36"/>
          <p:cNvSpPr/>
          <p:nvPr/>
        </p:nvSpPr>
        <p:spPr>
          <a:xfrm>
            <a:off x="8699345" y="1151407"/>
            <a:ext cx="174842" cy="187322"/>
          </a:xfrm>
          <a:custGeom>
            <a:rect b="b" l="l" r="r" t="t"/>
            <a:pathLst>
              <a:path extrusionOk="0" h="6604" w="6164">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C4820E"/>
              </a:buClr>
              <a:buSzPts val="3000"/>
              <a:buFont typeface="Montserrat"/>
              <a:buNone/>
              <a:defRPr b="1" i="0" sz="3000" u="none" cap="none" strike="noStrike">
                <a:solidFill>
                  <a:srgbClr val="C4820E"/>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25"/>
          <p:cNvSpPr txBox="1"/>
          <p:nvPr>
            <p:ph idx="1" type="body"/>
          </p:nvPr>
        </p:nvSpPr>
        <p:spPr>
          <a:xfrm>
            <a:off x="311700" y="1113875"/>
            <a:ext cx="8520600" cy="3676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003262"/>
              </a:buClr>
              <a:buSzPts val="1800"/>
              <a:buFont typeface="Montserrat Medium"/>
              <a:buChar char="●"/>
              <a:defRPr b="0" i="0" sz="1800" u="none" cap="none" strike="noStrike">
                <a:solidFill>
                  <a:srgbClr val="003262"/>
                </a:solidFill>
                <a:latin typeface="Montserrat Medium"/>
                <a:ea typeface="Montserrat Medium"/>
                <a:cs typeface="Montserrat Medium"/>
                <a:sym typeface="Montserrat Medium"/>
              </a:defRPr>
            </a:lvl1pPr>
            <a:lvl2pPr indent="-317500" lvl="1" marL="9144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2pPr>
            <a:lvl3pPr indent="-317500" lvl="2" marL="13716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3pPr>
            <a:lvl4pPr indent="-317500" lvl="3" marL="18288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4pPr>
            <a:lvl5pPr indent="-317500" lvl="4" marL="22860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5pPr>
            <a:lvl6pPr indent="-317500" lvl="5" marL="27432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6pPr>
            <a:lvl7pPr indent="-317500" lvl="6" marL="32004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7pPr>
            <a:lvl8pPr indent="-317500" lvl="7" marL="36576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8pPr>
            <a:lvl9pPr indent="-317500" lvl="8" marL="41148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9pPr>
          </a:lstStyle>
          <a:p/>
        </p:txBody>
      </p:sp>
      <p:sp>
        <p:nvSpPr>
          <p:cNvPr id="8" name="Google Shape;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mailto:eecs16a.lab@berkeley.edu"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tinyurl.com/66-playlis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
          <p:cNvSpPr txBox="1"/>
          <p:nvPr>
            <p:ph type="ctrTitle"/>
          </p:nvPr>
        </p:nvSpPr>
        <p:spPr>
          <a:xfrm>
            <a:off x="1004150" y="1523164"/>
            <a:ext cx="7136700" cy="1022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n"/>
              <a:t>EE 66 Lab</a:t>
            </a:r>
            <a:endParaRPr/>
          </a:p>
        </p:txBody>
      </p:sp>
      <p:sp>
        <p:nvSpPr>
          <p:cNvPr id="105" name="Google Shape;105;p1"/>
          <p:cNvSpPr txBox="1"/>
          <p:nvPr>
            <p:ph idx="1" type="subTitle"/>
          </p:nvPr>
        </p:nvSpPr>
        <p:spPr>
          <a:xfrm>
            <a:off x="1607350" y="2773850"/>
            <a:ext cx="61218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en" sz="2000">
                <a:solidFill>
                  <a:srgbClr val="1C4587"/>
                </a:solidFill>
                <a:latin typeface="Montserrat"/>
                <a:ea typeface="Montserrat"/>
                <a:cs typeface="Montserrat"/>
                <a:sym typeface="Montserrat"/>
              </a:rPr>
              <a:t>Welcome! We will begin at Berkeley Time.</a:t>
            </a:r>
            <a:endParaRPr sz="2000">
              <a:solidFill>
                <a:srgbClr val="1C4587"/>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Today’s Agenda</a:t>
            </a:r>
            <a:endParaRPr/>
          </a:p>
        </p:txBody>
      </p:sp>
      <p:sp>
        <p:nvSpPr>
          <p:cNvPr id="111" name="Google Shape;111;p2"/>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Char char="●"/>
            </a:pPr>
            <a:r>
              <a:rPr lang="en"/>
              <a:t>About Us</a:t>
            </a:r>
            <a:endParaRPr/>
          </a:p>
          <a:p>
            <a:pPr indent="-355600" lvl="0" marL="457200" rtl="0" algn="l">
              <a:lnSpc>
                <a:spcPct val="115000"/>
              </a:lnSpc>
              <a:spcBef>
                <a:spcPts val="0"/>
              </a:spcBef>
              <a:spcAft>
                <a:spcPts val="0"/>
              </a:spcAft>
              <a:buSzPts val="2000"/>
              <a:buChar char="●"/>
            </a:pPr>
            <a:r>
              <a:rPr lang="en"/>
              <a:t>About Lab: Policies &amp; Overview</a:t>
            </a:r>
            <a:endParaRPr/>
          </a:p>
          <a:p>
            <a:pPr indent="-355600" lvl="0" marL="457200" rtl="0" algn="l">
              <a:lnSpc>
                <a:spcPct val="115000"/>
              </a:lnSpc>
              <a:spcBef>
                <a:spcPts val="0"/>
              </a:spcBef>
              <a:spcAft>
                <a:spcPts val="0"/>
              </a:spcAft>
              <a:buSzPts val="2000"/>
              <a:buChar char="●"/>
            </a:pPr>
            <a:r>
              <a:rPr lang="en"/>
              <a:t>Marimo Notebook</a:t>
            </a:r>
            <a:endParaRPr/>
          </a:p>
          <a:p>
            <a:pPr indent="-355600" lvl="0" marL="457200" rtl="0" algn="l">
              <a:lnSpc>
                <a:spcPct val="115000"/>
              </a:lnSpc>
              <a:spcBef>
                <a:spcPts val="0"/>
              </a:spcBef>
              <a:spcAft>
                <a:spcPts val="0"/>
              </a:spcAft>
              <a:buSzPts val="2000"/>
              <a:buChar char="●"/>
            </a:pPr>
            <a:r>
              <a:rPr lang="en"/>
              <a:t>Python Bootcamp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About Us!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idx="4294967295" type="body"/>
          </p:nvPr>
        </p:nvSpPr>
        <p:spPr>
          <a:xfrm>
            <a:off x="656050" y="936050"/>
            <a:ext cx="5682300" cy="3605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3000">
                <a:solidFill>
                  <a:srgbClr val="C4820E"/>
                </a:solidFill>
                <a:latin typeface="Montserrat"/>
                <a:ea typeface="Montserrat"/>
                <a:cs typeface="Montserrat"/>
                <a:sym typeface="Montserrat"/>
              </a:rPr>
              <a:t>TA Name - </a:t>
            </a:r>
            <a:r>
              <a:rPr b="1" lang="en" sz="2400">
                <a:solidFill>
                  <a:srgbClr val="C4820E"/>
                </a:solidFill>
                <a:latin typeface="Montserrat"/>
                <a:ea typeface="Montserrat"/>
                <a:cs typeface="Montserrat"/>
                <a:sym typeface="Montserrat"/>
              </a:rPr>
              <a:t>Lab TA</a:t>
            </a:r>
            <a:endParaRPr b="1" sz="2400">
              <a:solidFill>
                <a:srgbClr val="C4820E"/>
              </a:solidFill>
              <a:latin typeface="Montserrat"/>
              <a:ea typeface="Montserrat"/>
              <a:cs typeface="Montserrat"/>
              <a:sym typeface="Montserrat"/>
            </a:endParaRPr>
          </a:p>
          <a:p>
            <a:pPr indent="-355600" lvl="0" marL="457200" rtl="0" algn="l">
              <a:lnSpc>
                <a:spcPct val="115000"/>
              </a:lnSpc>
              <a:spcBef>
                <a:spcPts val="1200"/>
              </a:spcBef>
              <a:spcAft>
                <a:spcPts val="0"/>
              </a:spcAft>
              <a:buSzPts val="2000"/>
              <a:buChar char="●"/>
            </a:pPr>
            <a:r>
              <a:rPr lang="en" sz="2000"/>
              <a:t>Year, major</a:t>
            </a:r>
            <a:endParaRPr sz="2000"/>
          </a:p>
          <a:p>
            <a:pPr indent="-355600" lvl="0" marL="457200" marR="0" rtl="0" algn="l">
              <a:lnSpc>
                <a:spcPct val="100000"/>
              </a:lnSpc>
              <a:spcBef>
                <a:spcPts val="0"/>
              </a:spcBef>
              <a:spcAft>
                <a:spcPts val="0"/>
              </a:spcAft>
              <a:buClr>
                <a:srgbClr val="3D4965"/>
              </a:buClr>
              <a:buSzPts val="2000"/>
              <a:buFont typeface="Dosis"/>
              <a:buChar char="●"/>
            </a:pPr>
            <a:r>
              <a:rPr lang="en" sz="2000"/>
              <a:t>Fun</a:t>
            </a:r>
            <a:endParaRPr sz="2000"/>
          </a:p>
          <a:p>
            <a:pPr indent="-355600" lvl="0" marL="457200" marR="0" rtl="0" algn="l">
              <a:lnSpc>
                <a:spcPct val="100000"/>
              </a:lnSpc>
              <a:spcBef>
                <a:spcPts val="0"/>
              </a:spcBef>
              <a:spcAft>
                <a:spcPts val="0"/>
              </a:spcAft>
              <a:buSzPts val="2000"/>
              <a:buChar char="●"/>
            </a:pPr>
            <a:r>
              <a:rPr lang="en" sz="2000"/>
              <a:t>Facts</a:t>
            </a:r>
            <a:endParaRPr sz="2000"/>
          </a:p>
          <a:p>
            <a:pPr indent="-355600" lvl="0" marL="457200" marR="0" rtl="0" algn="l">
              <a:lnSpc>
                <a:spcPct val="100000"/>
              </a:lnSpc>
              <a:spcBef>
                <a:spcPts val="0"/>
              </a:spcBef>
              <a:spcAft>
                <a:spcPts val="0"/>
              </a:spcAft>
              <a:buSzPts val="2000"/>
              <a:buChar char="●"/>
            </a:pPr>
            <a:r>
              <a:rPr lang="en" sz="2000"/>
              <a:t>Interests </a:t>
            </a:r>
            <a:endParaRPr sz="2000"/>
          </a:p>
          <a:p>
            <a:pPr indent="0" lvl="0" marL="0" rtl="0" algn="l">
              <a:lnSpc>
                <a:spcPct val="115000"/>
              </a:lnSpc>
              <a:spcBef>
                <a:spcPts val="0"/>
              </a:spcBef>
              <a:spcAft>
                <a:spcPts val="1200"/>
              </a:spcAft>
              <a:buSzPts val="1800"/>
              <a:buNone/>
            </a:pPr>
            <a:r>
              <a:t/>
            </a:r>
            <a:endParaRPr/>
          </a:p>
        </p:txBody>
      </p:sp>
      <p:sp>
        <p:nvSpPr>
          <p:cNvPr id="122" name="Google Shape;122;p4"/>
          <p:cNvSpPr txBox="1"/>
          <p:nvPr/>
        </p:nvSpPr>
        <p:spPr>
          <a:xfrm>
            <a:off x="6302975" y="1105550"/>
            <a:ext cx="1604400" cy="32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4"/>
          <p:cNvSpPr/>
          <p:nvPr/>
        </p:nvSpPr>
        <p:spPr>
          <a:xfrm>
            <a:off x="6016925" y="1202850"/>
            <a:ext cx="2176500" cy="32076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Pictures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idx="4294967295" type="body"/>
          </p:nvPr>
        </p:nvSpPr>
        <p:spPr>
          <a:xfrm>
            <a:off x="656050" y="936050"/>
            <a:ext cx="5682300" cy="3605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3000">
                <a:solidFill>
                  <a:srgbClr val="C4820E"/>
                </a:solidFill>
                <a:latin typeface="Montserrat"/>
                <a:ea typeface="Montserrat"/>
                <a:cs typeface="Montserrat"/>
                <a:sym typeface="Montserrat"/>
              </a:rPr>
              <a:t>UCS1 Name - </a:t>
            </a:r>
            <a:r>
              <a:rPr b="1" lang="en" sz="2400">
                <a:solidFill>
                  <a:srgbClr val="C4820E"/>
                </a:solidFill>
                <a:latin typeface="Montserrat"/>
                <a:ea typeface="Montserrat"/>
                <a:cs typeface="Montserrat"/>
                <a:sym typeface="Montserrat"/>
              </a:rPr>
              <a:t>Lab Assistant</a:t>
            </a:r>
            <a:endParaRPr b="1" sz="2400">
              <a:solidFill>
                <a:srgbClr val="C4820E"/>
              </a:solidFill>
              <a:latin typeface="Montserrat"/>
              <a:ea typeface="Montserrat"/>
              <a:cs typeface="Montserrat"/>
              <a:sym typeface="Montserrat"/>
            </a:endParaRPr>
          </a:p>
          <a:p>
            <a:pPr indent="-355600" lvl="0" marL="457200" rtl="0" algn="l">
              <a:lnSpc>
                <a:spcPct val="115000"/>
              </a:lnSpc>
              <a:spcBef>
                <a:spcPts val="1200"/>
              </a:spcBef>
              <a:spcAft>
                <a:spcPts val="0"/>
              </a:spcAft>
              <a:buSzPts val="2000"/>
              <a:buChar char="●"/>
            </a:pPr>
            <a:r>
              <a:rPr lang="en" sz="2000"/>
              <a:t>Year, major</a:t>
            </a:r>
            <a:endParaRPr sz="2000"/>
          </a:p>
          <a:p>
            <a:pPr indent="-355600" lvl="0" marL="457200" marR="0" rtl="0" algn="l">
              <a:lnSpc>
                <a:spcPct val="100000"/>
              </a:lnSpc>
              <a:spcBef>
                <a:spcPts val="0"/>
              </a:spcBef>
              <a:spcAft>
                <a:spcPts val="0"/>
              </a:spcAft>
              <a:buClr>
                <a:srgbClr val="3D4965"/>
              </a:buClr>
              <a:buSzPts val="2000"/>
              <a:buFont typeface="Dosis"/>
              <a:buChar char="●"/>
            </a:pPr>
            <a:r>
              <a:rPr lang="en" sz="2000"/>
              <a:t>Fun</a:t>
            </a:r>
            <a:endParaRPr sz="2000"/>
          </a:p>
          <a:p>
            <a:pPr indent="-355600" lvl="0" marL="457200" marR="0" rtl="0" algn="l">
              <a:lnSpc>
                <a:spcPct val="100000"/>
              </a:lnSpc>
              <a:spcBef>
                <a:spcPts val="0"/>
              </a:spcBef>
              <a:spcAft>
                <a:spcPts val="0"/>
              </a:spcAft>
              <a:buSzPts val="2000"/>
              <a:buChar char="●"/>
            </a:pPr>
            <a:r>
              <a:rPr lang="en" sz="2000"/>
              <a:t>Facts</a:t>
            </a:r>
            <a:endParaRPr sz="2000"/>
          </a:p>
          <a:p>
            <a:pPr indent="-355600" lvl="0" marL="457200" marR="0" rtl="0" algn="l">
              <a:lnSpc>
                <a:spcPct val="100000"/>
              </a:lnSpc>
              <a:spcBef>
                <a:spcPts val="0"/>
              </a:spcBef>
              <a:spcAft>
                <a:spcPts val="0"/>
              </a:spcAft>
              <a:buSzPts val="2000"/>
              <a:buChar char="●"/>
            </a:pPr>
            <a:r>
              <a:rPr lang="en" sz="2000"/>
              <a:t>Interests </a:t>
            </a:r>
            <a:endParaRPr sz="2000"/>
          </a:p>
          <a:p>
            <a:pPr indent="0" lvl="0" marL="0" rtl="0" algn="l">
              <a:lnSpc>
                <a:spcPct val="115000"/>
              </a:lnSpc>
              <a:spcBef>
                <a:spcPts val="0"/>
              </a:spcBef>
              <a:spcAft>
                <a:spcPts val="1200"/>
              </a:spcAft>
              <a:buSzPts val="1800"/>
              <a:buNone/>
            </a:pPr>
            <a:r>
              <a:t/>
            </a:r>
            <a:endParaRPr/>
          </a:p>
        </p:txBody>
      </p:sp>
      <p:sp>
        <p:nvSpPr>
          <p:cNvPr id="129" name="Google Shape;129;p5"/>
          <p:cNvSpPr txBox="1"/>
          <p:nvPr/>
        </p:nvSpPr>
        <p:spPr>
          <a:xfrm>
            <a:off x="6302975" y="1105550"/>
            <a:ext cx="1604400" cy="32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
          <p:cNvSpPr/>
          <p:nvPr/>
        </p:nvSpPr>
        <p:spPr>
          <a:xfrm>
            <a:off x="6016925" y="1202850"/>
            <a:ext cx="2176500" cy="32076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Pictures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About Lab!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Semester Outline</a:t>
            </a:r>
            <a:endParaRPr/>
          </a:p>
        </p:txBody>
      </p:sp>
      <p:cxnSp>
        <p:nvCxnSpPr>
          <p:cNvPr id="141" name="Google Shape;141;p7"/>
          <p:cNvCxnSpPr/>
          <p:nvPr/>
        </p:nvCxnSpPr>
        <p:spPr>
          <a:xfrm>
            <a:off x="-4800" y="2156036"/>
            <a:ext cx="9153600" cy="0"/>
          </a:xfrm>
          <a:prstGeom prst="straightConnector1">
            <a:avLst/>
          </a:prstGeom>
          <a:noFill/>
          <a:ln cap="rnd" cmpd="sng" w="19050">
            <a:solidFill>
              <a:srgbClr val="003262"/>
            </a:solidFill>
            <a:prstDash val="dash"/>
            <a:round/>
            <a:headEnd len="sm" w="sm" type="none"/>
            <a:tailEnd len="sm" w="sm" type="none"/>
          </a:ln>
        </p:spPr>
      </p:cxnSp>
      <p:grpSp>
        <p:nvGrpSpPr>
          <p:cNvPr id="142" name="Google Shape;142;p7"/>
          <p:cNvGrpSpPr/>
          <p:nvPr/>
        </p:nvGrpSpPr>
        <p:grpSpPr>
          <a:xfrm>
            <a:off x="1489650" y="1940284"/>
            <a:ext cx="1247700" cy="1568779"/>
            <a:chOff x="1504125" y="1933896"/>
            <a:chExt cx="1247700" cy="1568779"/>
          </a:xfrm>
        </p:grpSpPr>
        <p:grpSp>
          <p:nvGrpSpPr>
            <p:cNvPr id="143" name="Google Shape;143;p7"/>
            <p:cNvGrpSpPr/>
            <p:nvPr/>
          </p:nvGrpSpPr>
          <p:grpSpPr>
            <a:xfrm>
              <a:off x="1918425" y="1933896"/>
              <a:ext cx="419100" cy="1038375"/>
              <a:chOff x="2173100" y="1946332"/>
              <a:chExt cx="419100" cy="1038375"/>
            </a:xfrm>
          </p:grpSpPr>
          <p:sp>
            <p:nvSpPr>
              <p:cNvPr id="144" name="Google Shape;144;p7"/>
              <p:cNvSpPr/>
              <p:nvPr/>
            </p:nvSpPr>
            <p:spPr>
              <a:xfrm flipH="1" rot="10800000">
                <a:off x="2173100" y="1946332"/>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5" name="Google Shape;145;p7"/>
              <p:cNvCxnSpPr/>
              <p:nvPr/>
            </p:nvCxnSpPr>
            <p:spPr>
              <a:xfrm>
                <a:off x="2382650" y="2108407"/>
                <a:ext cx="0" cy="876300"/>
              </a:xfrm>
              <a:prstGeom prst="straightConnector1">
                <a:avLst/>
              </a:prstGeom>
              <a:noFill/>
              <a:ln cap="flat" cmpd="sng" w="19050">
                <a:solidFill>
                  <a:srgbClr val="003262"/>
                </a:solidFill>
                <a:prstDash val="solid"/>
                <a:round/>
                <a:headEnd len="med" w="med" type="oval"/>
                <a:tailEnd len="med" w="med" type="diamond"/>
              </a:ln>
            </p:spPr>
          </p:cxnSp>
        </p:grpSp>
        <p:sp>
          <p:nvSpPr>
            <p:cNvPr id="146" name="Google Shape;146;p7"/>
            <p:cNvSpPr txBox="1"/>
            <p:nvPr/>
          </p:nvSpPr>
          <p:spPr>
            <a:xfrm>
              <a:off x="1504125" y="2972275"/>
              <a:ext cx="1247700" cy="53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800" u="none" cap="none" strike="noStrike">
                  <a:solidFill>
                    <a:srgbClr val="3D4965"/>
                  </a:solidFill>
                  <a:latin typeface="Montserrat Medium"/>
                  <a:ea typeface="Montserrat Medium"/>
                  <a:cs typeface="Montserrat Medium"/>
                  <a:sym typeface="Montserrat Medium"/>
                </a:rPr>
                <a:t>Shazam</a:t>
              </a:r>
              <a:endParaRPr b="0" i="0" sz="1800" u="none" cap="none" strike="noStrike">
                <a:solidFill>
                  <a:srgbClr val="3D4965"/>
                </a:solidFill>
                <a:latin typeface="Montserrat Medium"/>
                <a:ea typeface="Montserrat Medium"/>
                <a:cs typeface="Montserrat Medium"/>
                <a:sym typeface="Montserrat Medium"/>
              </a:endParaRPr>
            </a:p>
          </p:txBody>
        </p:sp>
      </p:grpSp>
      <p:grpSp>
        <p:nvGrpSpPr>
          <p:cNvPr id="147" name="Google Shape;147;p7"/>
          <p:cNvGrpSpPr/>
          <p:nvPr/>
        </p:nvGrpSpPr>
        <p:grpSpPr>
          <a:xfrm>
            <a:off x="2456050" y="1940287"/>
            <a:ext cx="1787100" cy="1846526"/>
            <a:chOff x="3241600" y="1926574"/>
            <a:chExt cx="1787100" cy="1846526"/>
          </a:xfrm>
        </p:grpSpPr>
        <p:grpSp>
          <p:nvGrpSpPr>
            <p:cNvPr id="148" name="Google Shape;148;p7"/>
            <p:cNvGrpSpPr/>
            <p:nvPr/>
          </p:nvGrpSpPr>
          <p:grpSpPr>
            <a:xfrm>
              <a:off x="3925608" y="1926574"/>
              <a:ext cx="419100" cy="1045700"/>
              <a:chOff x="4395150" y="1939011"/>
              <a:chExt cx="419100" cy="1045700"/>
            </a:xfrm>
          </p:grpSpPr>
          <p:sp>
            <p:nvSpPr>
              <p:cNvPr id="149" name="Google Shape;149;p7"/>
              <p:cNvSpPr/>
              <p:nvPr/>
            </p:nvSpPr>
            <p:spPr>
              <a:xfrm>
                <a:off x="4395150" y="1939011"/>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0" name="Google Shape;150;p7"/>
              <p:cNvCxnSpPr/>
              <p:nvPr/>
            </p:nvCxnSpPr>
            <p:spPr>
              <a:xfrm>
                <a:off x="4604700" y="2108411"/>
                <a:ext cx="0" cy="876300"/>
              </a:xfrm>
              <a:prstGeom prst="straightConnector1">
                <a:avLst/>
              </a:prstGeom>
              <a:noFill/>
              <a:ln cap="flat" cmpd="sng" w="19050">
                <a:solidFill>
                  <a:srgbClr val="003262"/>
                </a:solidFill>
                <a:prstDash val="solid"/>
                <a:round/>
                <a:headEnd len="med" w="med" type="oval"/>
                <a:tailEnd len="med" w="med" type="diamond"/>
              </a:ln>
            </p:spPr>
          </p:cxnSp>
        </p:grpSp>
        <p:sp>
          <p:nvSpPr>
            <p:cNvPr id="151" name="Google Shape;151;p7"/>
            <p:cNvSpPr txBox="1"/>
            <p:nvPr/>
          </p:nvSpPr>
          <p:spPr>
            <a:xfrm>
              <a:off x="3241600" y="2979600"/>
              <a:ext cx="1787100" cy="793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3D4965"/>
                  </a:solidFill>
                  <a:latin typeface="Montserrat Medium"/>
                  <a:ea typeface="Montserrat Medium"/>
                  <a:cs typeface="Montserrat Medium"/>
                  <a:sym typeface="Montserrat Medium"/>
                </a:rPr>
                <a:t>Acoustic Positioning</a:t>
              </a:r>
              <a:endParaRPr b="0" i="0" sz="1800" u="none" cap="none" strike="noStrike">
                <a:solidFill>
                  <a:srgbClr val="3D4965"/>
                </a:solidFill>
                <a:latin typeface="Dosis"/>
                <a:ea typeface="Dosis"/>
                <a:cs typeface="Dosis"/>
                <a:sym typeface="Dosis"/>
              </a:endParaRPr>
            </a:p>
          </p:txBody>
        </p:sp>
      </p:grpSp>
      <p:grpSp>
        <p:nvGrpSpPr>
          <p:cNvPr id="152" name="Google Shape;152;p7"/>
          <p:cNvGrpSpPr/>
          <p:nvPr/>
        </p:nvGrpSpPr>
        <p:grpSpPr>
          <a:xfrm>
            <a:off x="4011475" y="1947990"/>
            <a:ext cx="1767900" cy="1831110"/>
            <a:chOff x="5258388" y="1926571"/>
            <a:chExt cx="1767900" cy="1858995"/>
          </a:xfrm>
        </p:grpSpPr>
        <p:grpSp>
          <p:nvGrpSpPr>
            <p:cNvPr id="153" name="Google Shape;153;p7"/>
            <p:cNvGrpSpPr/>
            <p:nvPr/>
          </p:nvGrpSpPr>
          <p:grpSpPr>
            <a:xfrm>
              <a:off x="5932792" y="1926571"/>
              <a:ext cx="419100" cy="1045700"/>
              <a:chOff x="6551800" y="1939007"/>
              <a:chExt cx="419100" cy="1045700"/>
            </a:xfrm>
          </p:grpSpPr>
          <p:sp>
            <p:nvSpPr>
              <p:cNvPr id="154" name="Google Shape;154;p7"/>
              <p:cNvSpPr/>
              <p:nvPr/>
            </p:nvSpPr>
            <p:spPr>
              <a:xfrm flipH="1" rot="10800000">
                <a:off x="6551800" y="1939007"/>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5" name="Google Shape;155;p7"/>
              <p:cNvCxnSpPr/>
              <p:nvPr/>
            </p:nvCxnSpPr>
            <p:spPr>
              <a:xfrm>
                <a:off x="6761350" y="2108407"/>
                <a:ext cx="0" cy="876300"/>
              </a:xfrm>
              <a:prstGeom prst="straightConnector1">
                <a:avLst/>
              </a:prstGeom>
              <a:noFill/>
              <a:ln cap="flat" cmpd="sng" w="19050">
                <a:solidFill>
                  <a:srgbClr val="003262"/>
                </a:solidFill>
                <a:prstDash val="solid"/>
                <a:round/>
                <a:headEnd len="med" w="med" type="oval"/>
                <a:tailEnd len="med" w="med" type="diamond"/>
              </a:ln>
            </p:spPr>
          </p:cxnSp>
        </p:grpSp>
        <p:sp>
          <p:nvSpPr>
            <p:cNvPr id="156" name="Google Shape;156;p7"/>
            <p:cNvSpPr txBox="1"/>
            <p:nvPr/>
          </p:nvSpPr>
          <p:spPr>
            <a:xfrm>
              <a:off x="5258388" y="2972266"/>
              <a:ext cx="1767900" cy="813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3D4965"/>
                  </a:solidFill>
                  <a:latin typeface="Montserrat Medium"/>
                  <a:ea typeface="Montserrat Medium"/>
                  <a:cs typeface="Montserrat Medium"/>
                  <a:sym typeface="Montserrat Medium"/>
                </a:rPr>
                <a:t>Voice Recognition</a:t>
              </a:r>
              <a:endParaRPr b="0" i="0" sz="1800" u="none" cap="none" strike="noStrike">
                <a:solidFill>
                  <a:srgbClr val="3D4965"/>
                </a:solidFill>
                <a:latin typeface="Montserrat Medium"/>
                <a:ea typeface="Montserrat Medium"/>
                <a:cs typeface="Montserrat Medium"/>
                <a:sym typeface="Montserrat Medium"/>
              </a:endParaRPr>
            </a:p>
          </p:txBody>
        </p:sp>
      </p:grpSp>
      <p:grpSp>
        <p:nvGrpSpPr>
          <p:cNvPr id="157" name="Google Shape;157;p7"/>
          <p:cNvGrpSpPr/>
          <p:nvPr/>
        </p:nvGrpSpPr>
        <p:grpSpPr>
          <a:xfrm>
            <a:off x="5623425" y="1943946"/>
            <a:ext cx="2123700" cy="1839204"/>
            <a:chOff x="7223875" y="1933896"/>
            <a:chExt cx="2123700" cy="1839204"/>
          </a:xfrm>
        </p:grpSpPr>
        <p:grpSp>
          <p:nvGrpSpPr>
            <p:cNvPr id="158" name="Google Shape;158;p7"/>
            <p:cNvGrpSpPr/>
            <p:nvPr/>
          </p:nvGrpSpPr>
          <p:grpSpPr>
            <a:xfrm>
              <a:off x="7939975" y="1933896"/>
              <a:ext cx="419100" cy="1045700"/>
              <a:chOff x="8194650" y="1946332"/>
              <a:chExt cx="419100" cy="1045700"/>
            </a:xfrm>
          </p:grpSpPr>
          <p:sp>
            <p:nvSpPr>
              <p:cNvPr id="159" name="Google Shape;159;p7"/>
              <p:cNvSpPr/>
              <p:nvPr/>
            </p:nvSpPr>
            <p:spPr>
              <a:xfrm flipH="1" rot="10800000">
                <a:off x="8194650" y="1946332"/>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0" name="Google Shape;160;p7"/>
              <p:cNvCxnSpPr/>
              <p:nvPr/>
            </p:nvCxnSpPr>
            <p:spPr>
              <a:xfrm>
                <a:off x="8404200" y="2115732"/>
                <a:ext cx="0" cy="876300"/>
              </a:xfrm>
              <a:prstGeom prst="straightConnector1">
                <a:avLst/>
              </a:prstGeom>
              <a:noFill/>
              <a:ln cap="flat" cmpd="sng" w="19050">
                <a:solidFill>
                  <a:srgbClr val="003262"/>
                </a:solidFill>
                <a:prstDash val="solid"/>
                <a:round/>
                <a:headEnd len="med" w="med" type="oval"/>
                <a:tailEnd len="med" w="med" type="diamond"/>
              </a:ln>
            </p:spPr>
          </p:cxnSp>
        </p:grpSp>
        <p:sp>
          <p:nvSpPr>
            <p:cNvPr id="161" name="Google Shape;161;p7"/>
            <p:cNvSpPr txBox="1"/>
            <p:nvPr/>
          </p:nvSpPr>
          <p:spPr>
            <a:xfrm>
              <a:off x="7223875" y="2979600"/>
              <a:ext cx="2123700" cy="793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rgbClr val="3D4965"/>
                  </a:solidFill>
                  <a:latin typeface="Montserrat Medium"/>
                  <a:ea typeface="Montserrat Medium"/>
                  <a:cs typeface="Montserrat Medium"/>
                  <a:sym typeface="Montserrat Medium"/>
                </a:rPr>
                <a:t>Image Deconvolution</a:t>
              </a:r>
              <a:endParaRPr b="0" i="0" sz="1800" u="none" cap="none" strike="noStrike">
                <a:solidFill>
                  <a:srgbClr val="3D4965"/>
                </a:solidFill>
                <a:latin typeface="Montserrat Medium"/>
                <a:ea typeface="Montserrat Medium"/>
                <a:cs typeface="Montserrat Medium"/>
                <a:sym typeface="Montserrat Medium"/>
              </a:endParaRPr>
            </a:p>
          </p:txBody>
        </p:sp>
      </p:grpSp>
      <p:grpSp>
        <p:nvGrpSpPr>
          <p:cNvPr id="162" name="Google Shape;162;p7"/>
          <p:cNvGrpSpPr/>
          <p:nvPr/>
        </p:nvGrpSpPr>
        <p:grpSpPr>
          <a:xfrm>
            <a:off x="-4800" y="1952071"/>
            <a:ext cx="1412100" cy="1619604"/>
            <a:chOff x="229500" y="1926571"/>
            <a:chExt cx="1412100" cy="1619604"/>
          </a:xfrm>
        </p:grpSpPr>
        <p:grpSp>
          <p:nvGrpSpPr>
            <p:cNvPr id="163" name="Google Shape;163;p7"/>
            <p:cNvGrpSpPr/>
            <p:nvPr/>
          </p:nvGrpSpPr>
          <p:grpSpPr>
            <a:xfrm>
              <a:off x="726000" y="1926571"/>
              <a:ext cx="419100" cy="1038375"/>
              <a:chOff x="2173100" y="1946332"/>
              <a:chExt cx="419100" cy="1038375"/>
            </a:xfrm>
          </p:grpSpPr>
          <p:sp>
            <p:nvSpPr>
              <p:cNvPr id="164" name="Google Shape;164;p7"/>
              <p:cNvSpPr/>
              <p:nvPr/>
            </p:nvSpPr>
            <p:spPr>
              <a:xfrm flipH="1" rot="10800000">
                <a:off x="2173100" y="1946332"/>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5" name="Google Shape;165;p7"/>
              <p:cNvCxnSpPr/>
              <p:nvPr/>
            </p:nvCxnSpPr>
            <p:spPr>
              <a:xfrm>
                <a:off x="2382650" y="2108407"/>
                <a:ext cx="0" cy="876300"/>
              </a:xfrm>
              <a:prstGeom prst="straightConnector1">
                <a:avLst/>
              </a:prstGeom>
              <a:noFill/>
              <a:ln cap="flat" cmpd="sng" w="19050">
                <a:solidFill>
                  <a:srgbClr val="003262"/>
                </a:solidFill>
                <a:prstDash val="solid"/>
                <a:round/>
                <a:headEnd len="med" w="med" type="oval"/>
                <a:tailEnd len="med" w="med" type="diamond"/>
              </a:ln>
            </p:spPr>
          </p:cxnSp>
        </p:grpSp>
        <p:sp>
          <p:nvSpPr>
            <p:cNvPr id="166" name="Google Shape;166;p7"/>
            <p:cNvSpPr txBox="1"/>
            <p:nvPr/>
          </p:nvSpPr>
          <p:spPr>
            <a:xfrm>
              <a:off x="229500" y="3121975"/>
              <a:ext cx="1412100" cy="424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800" u="none" cap="none" strike="noStrike">
                  <a:solidFill>
                    <a:srgbClr val="3D4965"/>
                  </a:solidFill>
                  <a:latin typeface="Montserrat Medium"/>
                  <a:ea typeface="Montserrat Medium"/>
                  <a:cs typeface="Montserrat Medium"/>
                  <a:sym typeface="Montserrat Medium"/>
                </a:rPr>
                <a:t>Python</a:t>
              </a:r>
              <a:endParaRPr b="0" i="0" sz="1800" u="none" cap="none" strike="noStrike">
                <a:solidFill>
                  <a:srgbClr val="3D4965"/>
                </a:solidFill>
                <a:latin typeface="Montserrat Medium"/>
                <a:ea typeface="Montserrat Medium"/>
                <a:cs typeface="Montserrat Medium"/>
                <a:sym typeface="Montserrat Medium"/>
              </a:endParaRPr>
            </a:p>
            <a:p>
              <a:pPr indent="0" lvl="0" marL="0" marR="0" rtl="0" algn="ctr">
                <a:lnSpc>
                  <a:spcPct val="100000"/>
                </a:lnSpc>
                <a:spcBef>
                  <a:spcPts val="0"/>
                </a:spcBef>
                <a:spcAft>
                  <a:spcPts val="0"/>
                </a:spcAft>
                <a:buClr>
                  <a:schemeClr val="dk1"/>
                </a:buClr>
                <a:buSzPts val="1100"/>
                <a:buFont typeface="Arial"/>
                <a:buNone/>
              </a:pPr>
              <a:r>
                <a:rPr b="0" i="0" lang="en" sz="1800" u="none" cap="none" strike="noStrike">
                  <a:solidFill>
                    <a:srgbClr val="3D4965"/>
                  </a:solidFill>
                  <a:latin typeface="Montserrat Medium"/>
                  <a:ea typeface="Montserrat Medium"/>
                  <a:cs typeface="Montserrat Medium"/>
                  <a:sym typeface="Montserrat Medium"/>
                </a:rPr>
                <a:t>Bootcamp</a:t>
              </a:r>
              <a:endParaRPr b="0" i="0" sz="1800" u="none" cap="none" strike="noStrike">
                <a:solidFill>
                  <a:srgbClr val="3D4965"/>
                </a:solidFill>
                <a:latin typeface="Montserrat Medium"/>
                <a:ea typeface="Montserrat Medium"/>
                <a:cs typeface="Montserrat Medium"/>
                <a:sym typeface="Montserrat Medium"/>
              </a:endParaRPr>
            </a:p>
          </p:txBody>
        </p:sp>
      </p:grpSp>
      <p:grpSp>
        <p:nvGrpSpPr>
          <p:cNvPr id="167" name="Google Shape;167;p7"/>
          <p:cNvGrpSpPr/>
          <p:nvPr/>
        </p:nvGrpSpPr>
        <p:grpSpPr>
          <a:xfrm>
            <a:off x="7395050" y="1943946"/>
            <a:ext cx="1828800" cy="1839204"/>
            <a:chOff x="7223875" y="1933896"/>
            <a:chExt cx="1828800" cy="1839204"/>
          </a:xfrm>
        </p:grpSpPr>
        <p:grpSp>
          <p:nvGrpSpPr>
            <p:cNvPr id="168" name="Google Shape;168;p7"/>
            <p:cNvGrpSpPr/>
            <p:nvPr/>
          </p:nvGrpSpPr>
          <p:grpSpPr>
            <a:xfrm>
              <a:off x="7939975" y="1933896"/>
              <a:ext cx="419100" cy="1045700"/>
              <a:chOff x="8194650" y="1946332"/>
              <a:chExt cx="419100" cy="1045700"/>
            </a:xfrm>
          </p:grpSpPr>
          <p:sp>
            <p:nvSpPr>
              <p:cNvPr id="169" name="Google Shape;169;p7"/>
              <p:cNvSpPr/>
              <p:nvPr/>
            </p:nvSpPr>
            <p:spPr>
              <a:xfrm flipH="1" rot="10800000">
                <a:off x="8194650" y="1946332"/>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0" name="Google Shape;170;p7"/>
              <p:cNvCxnSpPr/>
              <p:nvPr/>
            </p:nvCxnSpPr>
            <p:spPr>
              <a:xfrm>
                <a:off x="8404200" y="2115732"/>
                <a:ext cx="0" cy="876300"/>
              </a:xfrm>
              <a:prstGeom prst="straightConnector1">
                <a:avLst/>
              </a:prstGeom>
              <a:noFill/>
              <a:ln cap="flat" cmpd="sng" w="19050">
                <a:solidFill>
                  <a:srgbClr val="003262"/>
                </a:solidFill>
                <a:prstDash val="solid"/>
                <a:round/>
                <a:headEnd len="med" w="med" type="oval"/>
                <a:tailEnd len="med" w="med" type="diamond"/>
              </a:ln>
            </p:spPr>
          </p:cxnSp>
        </p:grpSp>
        <p:sp>
          <p:nvSpPr>
            <p:cNvPr id="171" name="Google Shape;171;p7"/>
            <p:cNvSpPr txBox="1"/>
            <p:nvPr/>
          </p:nvSpPr>
          <p:spPr>
            <a:xfrm>
              <a:off x="7223875" y="2979600"/>
              <a:ext cx="1828800" cy="793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rgbClr val="3D4965"/>
                  </a:solidFill>
                  <a:latin typeface="Montserrat Medium"/>
                  <a:ea typeface="Montserrat Medium"/>
                  <a:cs typeface="Montserrat Medium"/>
                  <a:sym typeface="Montserrat Medium"/>
                </a:rPr>
                <a:t>Intro to Medical Imaging</a:t>
              </a:r>
              <a:endParaRPr b="0" i="0" sz="1800" u="none" cap="none" strike="noStrike">
                <a:solidFill>
                  <a:srgbClr val="3D4965"/>
                </a:solidFill>
                <a:latin typeface="Montserrat Medium"/>
                <a:ea typeface="Montserrat Medium"/>
                <a:cs typeface="Montserrat Medium"/>
                <a:sym typeface="Montserrat Medium"/>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8"/>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Policies</a:t>
            </a:r>
            <a:endParaRPr/>
          </a:p>
        </p:txBody>
      </p:sp>
      <p:sp>
        <p:nvSpPr>
          <p:cNvPr id="177" name="Google Shape;177;p8"/>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Labs this semester are in-person. </a:t>
            </a:r>
            <a:endParaRPr sz="2100"/>
          </a:p>
          <a:p>
            <a:pPr indent="-361950" lvl="0" marL="457200" rtl="0" algn="l">
              <a:spcBef>
                <a:spcPts val="0"/>
              </a:spcBef>
              <a:spcAft>
                <a:spcPts val="0"/>
              </a:spcAft>
              <a:buSzPts val="2100"/>
              <a:buChar char="●"/>
            </a:pPr>
            <a:r>
              <a:rPr lang="en" sz="2100"/>
              <a:t>To receive credit, you must pass all autograder checks and then get checked off by a lab TA/UCS1 during your assigned lab section.</a:t>
            </a:r>
            <a:endParaRPr sz="2100"/>
          </a:p>
          <a:p>
            <a:pPr indent="-361950" lvl="0" marL="457200" rtl="0" algn="l">
              <a:spcBef>
                <a:spcPts val="0"/>
              </a:spcBef>
              <a:spcAft>
                <a:spcPts val="0"/>
              </a:spcAft>
              <a:buSzPts val="2100"/>
              <a:buChar char="●"/>
            </a:pPr>
            <a:r>
              <a:rPr lang="en" sz="2100"/>
              <a:t>For </a:t>
            </a:r>
            <a:r>
              <a:rPr b="1" lang="en" sz="2100">
                <a:latin typeface="Montserrat"/>
                <a:ea typeface="Montserrat"/>
                <a:cs typeface="Montserrat"/>
                <a:sym typeface="Montserrat"/>
              </a:rPr>
              <a:t>Lab 0 Only</a:t>
            </a:r>
            <a:r>
              <a:rPr lang="en" sz="2100"/>
              <a:t>:</a:t>
            </a:r>
            <a:endParaRPr sz="2100"/>
          </a:p>
          <a:p>
            <a:pPr indent="-361950" lvl="1" marL="914400" rtl="0" algn="l">
              <a:spcBef>
                <a:spcPts val="0"/>
              </a:spcBef>
              <a:spcAft>
                <a:spcPts val="0"/>
              </a:spcAft>
              <a:buSzPts val="2100"/>
              <a:buChar char="○"/>
            </a:pPr>
            <a:r>
              <a:rPr lang="en" sz="2100"/>
              <a:t>You are free to complete the lab yourself on DataHub using your own computer.</a:t>
            </a:r>
            <a:endParaRPr sz="2100"/>
          </a:p>
          <a:p>
            <a:pPr indent="-361950" lvl="1" marL="914400" rtl="0" algn="l">
              <a:spcBef>
                <a:spcPts val="0"/>
              </a:spcBef>
              <a:spcAft>
                <a:spcPts val="0"/>
              </a:spcAft>
              <a:buSzPts val="2100"/>
              <a:buChar char="○"/>
            </a:pPr>
            <a:r>
              <a:rPr lang="en" sz="2100"/>
              <a:t>You do not need to attend the full lab section. However, </a:t>
            </a:r>
            <a:r>
              <a:rPr b="1" lang="en" sz="2100">
                <a:latin typeface="Montserrat"/>
                <a:ea typeface="Montserrat"/>
                <a:cs typeface="Montserrat"/>
                <a:sym typeface="Montserrat"/>
              </a:rPr>
              <a:t>you must come to Cory 111 during your assigned lab section to get checked off</a:t>
            </a:r>
            <a:r>
              <a:rPr lang="en" sz="2100"/>
              <a:t>.</a:t>
            </a:r>
            <a:endParaRPr sz="2100"/>
          </a:p>
          <a:p>
            <a:pPr indent="0" lvl="0" marL="0" rtl="0" algn="l">
              <a:spcBef>
                <a:spcPts val="800"/>
              </a:spcBef>
              <a:spcAft>
                <a:spcPts val="0"/>
              </a:spcAft>
              <a:buSzPts val="2000"/>
              <a:buNone/>
            </a:pPr>
            <a:r>
              <a:t/>
            </a:r>
            <a:endParaRPr/>
          </a:p>
          <a:p>
            <a:pPr indent="0" lvl="0" marL="0" rtl="0" algn="l">
              <a:lnSpc>
                <a:spcPct val="115000"/>
              </a:lnSpc>
              <a:spcBef>
                <a:spcPts val="1200"/>
              </a:spcBef>
              <a:spcAft>
                <a:spcPts val="1200"/>
              </a:spcAft>
              <a:buSzPts val="2000"/>
              <a:buNone/>
            </a:pPr>
            <a:r>
              <a:t/>
            </a:r>
            <a:endParaRPr sz="2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Policies</a:t>
            </a:r>
            <a:endParaRPr/>
          </a:p>
        </p:txBody>
      </p:sp>
      <p:sp>
        <p:nvSpPr>
          <p:cNvPr id="183" name="Google Shape;183;p9"/>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SzPts val="2100"/>
              <a:buChar char="●"/>
            </a:pPr>
            <a:r>
              <a:rPr lang="en" sz="2100"/>
              <a:t>In a checkoff, you will demonstrate your work from portions of the lab and answer conceptual questions related to the lab. You should aim to get checked off by the end of your lab section. </a:t>
            </a:r>
            <a:endParaRPr sz="2100"/>
          </a:p>
          <a:p>
            <a:pPr indent="-361950" lvl="0" marL="457200" rtl="0" algn="l">
              <a:lnSpc>
                <a:spcPct val="115000"/>
              </a:lnSpc>
              <a:spcBef>
                <a:spcPts val="0"/>
              </a:spcBef>
              <a:spcAft>
                <a:spcPts val="0"/>
              </a:spcAft>
              <a:buSzPts val="2100"/>
              <a:buChar char="●"/>
            </a:pPr>
            <a:r>
              <a:rPr lang="en" sz="2100"/>
              <a:t>You may work with a partner and get checked off together.</a:t>
            </a:r>
            <a:endParaRPr sz="2100"/>
          </a:p>
          <a:p>
            <a:pPr indent="0" lvl="0" marL="0" rtl="0" algn="l">
              <a:lnSpc>
                <a:spcPct val="115000"/>
              </a:lnSpc>
              <a:spcBef>
                <a:spcPts val="800"/>
              </a:spcBef>
              <a:spcAft>
                <a:spcPts val="1200"/>
              </a:spcAft>
              <a:buSzPts val="2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0"/>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Lab Grade</a:t>
            </a:r>
            <a:endParaRPr/>
          </a:p>
        </p:txBody>
      </p:sp>
      <p:graphicFrame>
        <p:nvGraphicFramePr>
          <p:cNvPr id="189" name="Google Shape;189;p10"/>
          <p:cNvGraphicFramePr/>
          <p:nvPr/>
        </p:nvGraphicFramePr>
        <p:xfrm>
          <a:off x="952500" y="1331500"/>
          <a:ext cx="3000000" cy="3000000"/>
        </p:xfrm>
        <a:graphic>
          <a:graphicData uri="http://schemas.openxmlformats.org/drawingml/2006/table">
            <a:tbl>
              <a:tblPr>
                <a:noFill/>
                <a:tableStyleId>{E19E5EFF-D20A-4900-BC02-8A4EB16F9F86}</a:tableStyleId>
              </a:tblPr>
              <a:tblGrid>
                <a:gridCol w="3619500"/>
                <a:gridCol w="3619500"/>
              </a:tblGrid>
              <a:tr h="381000">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chemeClr val="lt1"/>
                          </a:solidFill>
                          <a:latin typeface="Montserrat"/>
                          <a:ea typeface="Montserrat"/>
                          <a:cs typeface="Montserrat"/>
                          <a:sym typeface="Montserrat"/>
                        </a:rPr>
                        <a:t>Number of Labs Missed</a:t>
                      </a:r>
                      <a:endParaRPr sz="1700" u="none" cap="none" strike="noStrike">
                        <a:solidFill>
                          <a:schemeClr val="lt1"/>
                        </a:solidFill>
                        <a:latin typeface="Montserrat"/>
                        <a:ea typeface="Montserrat"/>
                        <a:cs typeface="Montserrat"/>
                        <a:sym typeface="Montserrat"/>
                      </a:endParaRPr>
                    </a:p>
                  </a:txBody>
                  <a:tcPr marT="91425" marB="91425" marR="91425" marL="91425">
                    <a:lnL cap="flat" cmpd="sng" w="9525">
                      <a:solidFill>
                        <a:srgbClr val="C4820E"/>
                      </a:solidFill>
                      <a:prstDash val="solid"/>
                      <a:round/>
                      <a:headEnd len="sm" w="sm" type="none"/>
                      <a:tailEnd len="sm" w="sm" type="none"/>
                    </a:lnL>
                    <a:lnR cap="flat" cmpd="sng" w="9525">
                      <a:solidFill>
                        <a:srgbClr val="C4820E"/>
                      </a:solidFill>
                      <a:prstDash val="solid"/>
                      <a:round/>
                      <a:headEnd len="sm" w="sm" type="none"/>
                      <a:tailEnd len="sm" w="sm" type="none"/>
                    </a:lnR>
                    <a:lnT cap="flat" cmpd="sng" w="9525">
                      <a:solidFill>
                        <a:srgbClr val="C4820E"/>
                      </a:solidFill>
                      <a:prstDash val="solid"/>
                      <a:round/>
                      <a:headEnd len="sm" w="sm" type="none"/>
                      <a:tailEnd len="sm" w="sm" type="none"/>
                    </a:lnT>
                    <a:lnB cap="flat" cmpd="sng" w="9525">
                      <a:solidFill>
                        <a:srgbClr val="C4820E"/>
                      </a:solidFill>
                      <a:prstDash val="solid"/>
                      <a:round/>
                      <a:headEnd len="sm" w="sm" type="none"/>
                      <a:tailEnd len="sm" w="sm" type="none"/>
                    </a:lnB>
                    <a:solidFill>
                      <a:srgbClr val="003262"/>
                    </a:solidFill>
                  </a:tcPr>
                </a:tc>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chemeClr val="lt1"/>
                          </a:solidFill>
                          <a:latin typeface="Montserrat"/>
                          <a:ea typeface="Montserrat"/>
                          <a:cs typeface="Montserrat"/>
                          <a:sym typeface="Montserrat"/>
                        </a:rPr>
                        <a:t>What happens?</a:t>
                      </a:r>
                      <a:endParaRPr sz="1100" u="none" cap="none" strike="noStrike"/>
                    </a:p>
                  </a:txBody>
                  <a:tcPr marT="91425" marB="91425" marR="91425" marL="91425">
                    <a:lnL cap="flat" cmpd="sng" w="9525">
                      <a:solidFill>
                        <a:srgbClr val="C4820E"/>
                      </a:solidFill>
                      <a:prstDash val="solid"/>
                      <a:round/>
                      <a:headEnd len="sm" w="sm" type="none"/>
                      <a:tailEnd len="sm" w="sm" type="none"/>
                    </a:lnL>
                    <a:lnB cap="flat" cmpd="sng" w="9525">
                      <a:solidFill>
                        <a:srgbClr val="1155CC"/>
                      </a:solidFill>
                      <a:prstDash val="solid"/>
                      <a:round/>
                      <a:headEnd len="sm" w="sm" type="none"/>
                      <a:tailEnd len="sm" w="sm" type="none"/>
                    </a:lnB>
                    <a:solidFill>
                      <a:srgbClr val="003262"/>
                    </a:solidFill>
                  </a:tcPr>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rgbClr val="003262"/>
                          </a:solidFill>
                          <a:latin typeface="Montserrat"/>
                          <a:ea typeface="Montserrat"/>
                          <a:cs typeface="Montserrat"/>
                          <a:sym typeface="Montserrat"/>
                        </a:rPr>
                        <a:t>0</a:t>
                      </a:r>
                      <a:endParaRPr sz="1700" u="none" cap="none" strike="noStrike">
                        <a:solidFill>
                          <a:srgbClr val="003262"/>
                        </a:solidFill>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lnT cap="flat" cmpd="sng" w="9525">
                      <a:solidFill>
                        <a:srgbClr val="C4820E"/>
                      </a:solidFill>
                      <a:prstDash val="solid"/>
                      <a:round/>
                      <a:headEnd len="sm" w="sm" type="none"/>
                      <a:tailEnd len="sm" w="sm" type="none"/>
                    </a:lnT>
                    <a:lnB cap="flat" cmpd="sng" w="9525">
                      <a:solidFill>
                        <a:srgbClr val="C4820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rgbClr val="003262"/>
                          </a:solidFill>
                          <a:latin typeface="Montserrat"/>
                          <a:ea typeface="Montserrat"/>
                          <a:cs typeface="Montserrat"/>
                          <a:sym typeface="Montserrat"/>
                        </a:rPr>
                        <a:t>Full lab credit</a:t>
                      </a:r>
                      <a:endParaRPr sz="1700" u="none" cap="none" strike="noStrike">
                        <a:solidFill>
                          <a:srgbClr val="003262"/>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rgbClr val="003262"/>
                          </a:solidFill>
                          <a:latin typeface="Montserrat"/>
                          <a:ea typeface="Montserrat"/>
                          <a:cs typeface="Montserrat"/>
                          <a:sym typeface="Montserrat"/>
                        </a:rPr>
                        <a:t>1</a:t>
                      </a:r>
                      <a:endParaRPr sz="1700" u="none" cap="none" strike="noStrike">
                        <a:solidFill>
                          <a:srgbClr val="003262"/>
                        </a:solidFill>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lnT cap="flat" cmpd="sng" w="9525">
                      <a:solidFill>
                        <a:srgbClr val="C4820E"/>
                      </a:solidFill>
                      <a:prstDash val="solid"/>
                      <a:round/>
                      <a:headEnd len="sm" w="sm" type="none"/>
                      <a:tailEnd len="sm" w="sm" type="none"/>
                    </a:lnT>
                    <a:lnB cap="flat" cmpd="sng" w="9525">
                      <a:solidFill>
                        <a:srgbClr val="C4820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rgbClr val="003262"/>
                          </a:solidFill>
                          <a:latin typeface="Montserrat"/>
                          <a:ea typeface="Montserrat"/>
                          <a:cs typeface="Montserrat"/>
                          <a:sym typeface="Montserrat"/>
                        </a:rPr>
                        <a:t>-10% of your lab grade</a:t>
                      </a:r>
                      <a:endParaRPr sz="1700" u="none" cap="none" strike="noStrike">
                        <a:solidFill>
                          <a:srgbClr val="003262"/>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rgbClr val="003262"/>
                          </a:solidFill>
                          <a:latin typeface="Montserrat"/>
                          <a:ea typeface="Montserrat"/>
                          <a:cs typeface="Montserrat"/>
                          <a:sym typeface="Montserrat"/>
                        </a:rPr>
                        <a:t>2</a:t>
                      </a:r>
                      <a:endParaRPr sz="1700" u="none" cap="none" strike="noStrike">
                        <a:solidFill>
                          <a:srgbClr val="003262"/>
                        </a:solidFill>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lnT cap="flat" cmpd="sng" w="9525">
                      <a:solidFill>
                        <a:srgbClr val="C4820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rgbClr val="003262"/>
                          </a:solidFill>
                          <a:latin typeface="Montserrat"/>
                          <a:ea typeface="Montserrat"/>
                          <a:cs typeface="Montserrat"/>
                          <a:sym typeface="Montserrat"/>
                        </a:rPr>
                        <a:t>-40% of your lab grade</a:t>
                      </a:r>
                      <a:endParaRPr sz="1700" u="none" cap="none" strike="noStrike">
                        <a:solidFill>
                          <a:srgbClr val="003262"/>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rgbClr val="FF0000"/>
                          </a:solidFill>
                          <a:latin typeface="Montserrat"/>
                          <a:ea typeface="Montserrat"/>
                          <a:cs typeface="Montserrat"/>
                          <a:sym typeface="Montserrat"/>
                        </a:rPr>
                        <a:t>3</a:t>
                      </a:r>
                      <a:endParaRPr sz="1700" u="none" cap="none" strike="noStrike">
                        <a:solidFill>
                          <a:srgbClr val="FF0000"/>
                        </a:solidFill>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700"/>
                        <a:buFont typeface="Arial"/>
                        <a:buNone/>
                      </a:pPr>
                      <a:r>
                        <a:rPr lang="en" sz="1700" u="none" cap="none" strike="noStrike">
                          <a:solidFill>
                            <a:srgbClr val="FF0000"/>
                          </a:solidFill>
                          <a:latin typeface="Montserrat"/>
                          <a:ea typeface="Montserrat"/>
                          <a:cs typeface="Montserrat"/>
                          <a:sym typeface="Montserrat"/>
                        </a:rPr>
                        <a:t>Automatic </a:t>
                      </a:r>
                      <a:r>
                        <a:rPr lang="en" sz="1700">
                          <a:solidFill>
                            <a:srgbClr val="FF0000"/>
                          </a:solidFill>
                          <a:latin typeface="Montserrat"/>
                          <a:ea typeface="Montserrat"/>
                          <a:cs typeface="Montserrat"/>
                          <a:sym typeface="Montserrat"/>
                        </a:rPr>
                        <a:t>F</a:t>
                      </a:r>
                      <a:endParaRPr sz="1700" u="none" cap="none" strike="noStrike">
                        <a:solidFill>
                          <a:srgbClr val="003262"/>
                        </a:solidFill>
                        <a:latin typeface="Montserrat"/>
                        <a:ea typeface="Montserrat"/>
                        <a:cs typeface="Montserrat"/>
                        <a:sym typeface="Montserra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1"/>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Buffer Labs</a:t>
            </a:r>
            <a:endParaRPr/>
          </a:p>
        </p:txBody>
      </p:sp>
      <p:sp>
        <p:nvSpPr>
          <p:cNvPr id="195" name="Google Shape;195;p11"/>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During buffer lab weeks, you may get checked off for only one missed lab that occurred since the previous buffer week.</a:t>
            </a:r>
            <a:endParaRPr/>
          </a:p>
          <a:p>
            <a:pPr indent="-355600" lvl="0" marL="457200" rtl="0" algn="l">
              <a:lnSpc>
                <a:spcPct val="115000"/>
              </a:lnSpc>
              <a:spcBef>
                <a:spcPts val="0"/>
              </a:spcBef>
              <a:spcAft>
                <a:spcPts val="0"/>
              </a:spcAft>
              <a:buSzPts val="2000"/>
              <a:buChar char="●"/>
            </a:pPr>
            <a:r>
              <a:rPr lang="en"/>
              <a:t>No other labs can be checked off. </a:t>
            </a:r>
            <a:endParaRPr/>
          </a:p>
          <a:p>
            <a:pPr indent="-355600" lvl="0" marL="457200" rtl="0" algn="l">
              <a:lnSpc>
                <a:spcPct val="115000"/>
              </a:lnSpc>
              <a:spcBef>
                <a:spcPts val="0"/>
              </a:spcBef>
              <a:spcAft>
                <a:spcPts val="0"/>
              </a:spcAft>
              <a:buSzPts val="2000"/>
              <a:buChar char="●"/>
            </a:pPr>
            <a:r>
              <a:rPr lang="en"/>
              <a:t>The eligible labs for makeup for each buffer lab period will be released in a timely manner. Please look out on Ed for each buffer lab signup.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Important Notes</a:t>
            </a:r>
            <a:endParaRPr/>
          </a:p>
        </p:txBody>
      </p:sp>
      <p:sp>
        <p:nvSpPr>
          <p:cNvPr id="201" name="Google Shape;201;p12"/>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lnSpcReduction="10000"/>
          </a:bodyPr>
          <a:lstStyle/>
          <a:p>
            <a:pPr indent="-361950" lvl="0" marL="457200" rtl="0" algn="l">
              <a:lnSpc>
                <a:spcPct val="115000"/>
              </a:lnSpc>
              <a:spcBef>
                <a:spcPts val="0"/>
              </a:spcBef>
              <a:spcAft>
                <a:spcPts val="0"/>
              </a:spcAft>
              <a:buSzPts val="2100"/>
              <a:buChar char="●"/>
            </a:pPr>
            <a:r>
              <a:rPr lang="en" sz="2100"/>
              <a:t>No food or drink is allowed in the lab room! Please eat outside of the lab room.</a:t>
            </a:r>
            <a:endParaRPr sz="2100"/>
          </a:p>
          <a:p>
            <a:pPr indent="-361950" lvl="0" marL="457200" rtl="0" algn="l">
              <a:lnSpc>
                <a:spcPct val="115000"/>
              </a:lnSpc>
              <a:spcBef>
                <a:spcPts val="0"/>
              </a:spcBef>
              <a:spcAft>
                <a:spcPts val="0"/>
              </a:spcAft>
              <a:buSzPts val="2100"/>
              <a:buChar char="●"/>
            </a:pPr>
            <a:r>
              <a:rPr lang="en" sz="2100"/>
              <a:t>When you are done with the lab:</a:t>
            </a:r>
            <a:endParaRPr sz="2100"/>
          </a:p>
          <a:p>
            <a:pPr indent="-361950" lvl="1" marL="914400" rtl="0" algn="l">
              <a:lnSpc>
                <a:spcPct val="115000"/>
              </a:lnSpc>
              <a:spcBef>
                <a:spcPts val="0"/>
              </a:spcBef>
              <a:spcAft>
                <a:spcPts val="0"/>
              </a:spcAft>
              <a:buSzPts val="2100"/>
              <a:buChar char="○"/>
            </a:pPr>
            <a:r>
              <a:rPr lang="en" sz="2100"/>
              <a:t>Clean up your workspace</a:t>
            </a:r>
            <a:endParaRPr sz="2100"/>
          </a:p>
          <a:p>
            <a:pPr indent="-361950" lvl="1" marL="914400" rtl="0" algn="l">
              <a:lnSpc>
                <a:spcPct val="115000"/>
              </a:lnSpc>
              <a:spcBef>
                <a:spcPts val="0"/>
              </a:spcBef>
              <a:spcAft>
                <a:spcPts val="0"/>
              </a:spcAft>
              <a:buSzPts val="2100"/>
              <a:buChar char="○"/>
            </a:pPr>
            <a:r>
              <a:rPr lang="en" sz="2100"/>
              <a:t>If using the lab computers:</a:t>
            </a:r>
            <a:endParaRPr sz="2100"/>
          </a:p>
          <a:p>
            <a:pPr indent="-361950" lvl="2" marL="1371600" rtl="0" algn="l">
              <a:lnSpc>
                <a:spcPct val="115000"/>
              </a:lnSpc>
              <a:spcBef>
                <a:spcPts val="0"/>
              </a:spcBef>
              <a:spcAft>
                <a:spcPts val="0"/>
              </a:spcAft>
              <a:buSzPts val="2100"/>
              <a:buChar char="■"/>
            </a:pPr>
            <a:r>
              <a:rPr lang="en" sz="2100"/>
              <a:t>Log out of your account</a:t>
            </a:r>
            <a:endParaRPr sz="2100"/>
          </a:p>
          <a:p>
            <a:pPr indent="-361950" lvl="2" marL="1371600" rtl="0" algn="l">
              <a:lnSpc>
                <a:spcPct val="115000"/>
              </a:lnSpc>
              <a:spcBef>
                <a:spcPts val="0"/>
              </a:spcBef>
              <a:spcAft>
                <a:spcPts val="0"/>
              </a:spcAft>
              <a:buSzPts val="2100"/>
              <a:buChar char="■"/>
            </a:pPr>
            <a:r>
              <a:rPr lang="en" sz="2100"/>
              <a:t>Turn off the display</a:t>
            </a:r>
            <a:endParaRPr sz="2100"/>
          </a:p>
          <a:p>
            <a:pPr indent="-361950" lvl="2" marL="1371600" rtl="0" algn="l">
              <a:lnSpc>
                <a:spcPct val="115000"/>
              </a:lnSpc>
              <a:spcBef>
                <a:spcPts val="0"/>
              </a:spcBef>
              <a:spcAft>
                <a:spcPts val="0"/>
              </a:spcAft>
              <a:buSzPts val="2100"/>
              <a:buFont typeface="Montserrat"/>
              <a:buChar char="■"/>
            </a:pPr>
            <a:r>
              <a:rPr b="1" lang="en" sz="2100">
                <a:latin typeface="Montserrat"/>
                <a:ea typeface="Montserrat"/>
                <a:cs typeface="Montserrat"/>
                <a:sym typeface="Montserrat"/>
              </a:rPr>
              <a:t>Do not turn off the desktop</a:t>
            </a:r>
            <a:endParaRPr b="1" sz="2100">
              <a:latin typeface="Montserrat"/>
              <a:ea typeface="Montserrat"/>
              <a:cs typeface="Montserrat"/>
              <a:sym typeface="Montserrat"/>
            </a:endParaRPr>
          </a:p>
          <a:p>
            <a:pPr indent="-361950" lvl="0" marL="457200" rtl="0" algn="l">
              <a:lnSpc>
                <a:spcPct val="115000"/>
              </a:lnSpc>
              <a:spcBef>
                <a:spcPts val="0"/>
              </a:spcBef>
              <a:spcAft>
                <a:spcPts val="0"/>
              </a:spcAft>
              <a:buSzPts val="2100"/>
              <a:buChar char="●"/>
            </a:pPr>
            <a:r>
              <a:rPr lang="en" sz="2100"/>
              <a:t>If you need any accommodations, please email </a:t>
            </a:r>
            <a:r>
              <a:rPr lang="en" sz="2100" u="sng">
                <a:solidFill>
                  <a:schemeClr val="accent5"/>
                </a:solidFill>
                <a:hlinkClick r:id="rId3">
                  <a:extLst>
                    <a:ext uri="{A12FA001-AC4F-418D-AE19-62706E023703}">
                      <ahyp:hlinkClr val="tx"/>
                    </a:ext>
                  </a:extLst>
                </a:hlinkClick>
              </a:rPr>
              <a:t>ee66-lab@berkeley.edu</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Bootcamp Time!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4"/>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212" name="Google Shape;212;p14"/>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a:t>A web-based interactive computational environment similar to Jupyter Notebook</a:t>
            </a:r>
            <a:endParaRPr/>
          </a:p>
          <a:p>
            <a:pPr indent="-355600" lvl="0" marL="914400" rtl="0" algn="l">
              <a:lnSpc>
                <a:spcPct val="115000"/>
              </a:lnSpc>
              <a:spcBef>
                <a:spcPts val="1000"/>
              </a:spcBef>
              <a:spcAft>
                <a:spcPts val="0"/>
              </a:spcAft>
              <a:buSzPts val="2000"/>
              <a:buChar char="●"/>
            </a:pPr>
            <a:r>
              <a:rPr lang="en"/>
              <a:t>Document containing a list</a:t>
            </a:r>
            <a:r>
              <a:rPr b="1" lang="en"/>
              <a:t> </a:t>
            </a:r>
            <a:r>
              <a:rPr lang="en"/>
              <a:t>of input/output cells </a:t>
            </a:r>
            <a:endParaRPr/>
          </a:p>
          <a:p>
            <a:pPr indent="-355600" lvl="0" marL="914400" rtl="0" algn="l">
              <a:lnSpc>
                <a:spcPct val="115000"/>
              </a:lnSpc>
              <a:spcBef>
                <a:spcPts val="0"/>
              </a:spcBef>
              <a:spcAft>
                <a:spcPts val="0"/>
              </a:spcAft>
              <a:buSzPts val="2000"/>
              <a:buChar char="●"/>
            </a:pPr>
            <a:r>
              <a:rPr lang="en"/>
              <a:t>Can contain code, text, mathematics, plots and rich media</a:t>
            </a:r>
            <a:endParaRPr/>
          </a:p>
          <a:p>
            <a:pPr indent="-355600" lvl="0" marL="914400" rtl="0" algn="l">
              <a:lnSpc>
                <a:spcPct val="115000"/>
              </a:lnSpc>
              <a:spcBef>
                <a:spcPts val="0"/>
              </a:spcBef>
              <a:spcAft>
                <a:spcPts val="0"/>
              </a:spcAft>
              <a:buSzPts val="2000"/>
              <a:buChar char="●"/>
            </a:pPr>
            <a:r>
              <a:rPr lang="en"/>
              <a:t>.py file extension</a:t>
            </a:r>
            <a:endParaRPr/>
          </a:p>
          <a:p>
            <a:pPr indent="-355600" lvl="0" marL="914400" rtl="0" algn="l">
              <a:lnSpc>
                <a:spcPct val="115000"/>
              </a:lnSpc>
              <a:spcBef>
                <a:spcPts val="0"/>
              </a:spcBef>
              <a:spcAft>
                <a:spcPts val="0"/>
              </a:spcAft>
              <a:buSzPts val="2000"/>
              <a:buChar char="●"/>
            </a:pPr>
            <a:r>
              <a:rPr lang="en"/>
              <a:t>But what does this look like?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218" name="Google Shape;218;p15"/>
          <p:cNvSpPr txBox="1"/>
          <p:nvPr>
            <p:ph idx="1" type="body"/>
          </p:nvPr>
        </p:nvSpPr>
        <p:spPr>
          <a:xfrm>
            <a:off x="311700" y="1027025"/>
            <a:ext cx="4929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b="1" lang="en"/>
              <a:t>Stateless </a:t>
            </a:r>
            <a:r>
              <a:rPr lang="en"/>
              <a:t>list of </a:t>
            </a:r>
            <a:r>
              <a:rPr b="1" lang="en"/>
              <a:t>input &amp; output</a:t>
            </a:r>
            <a:endParaRPr b="1"/>
          </a:p>
          <a:p>
            <a:pPr indent="-330200" lvl="1" marL="914400" rtl="0" algn="l">
              <a:lnSpc>
                <a:spcPct val="115000"/>
              </a:lnSpc>
              <a:spcBef>
                <a:spcPts val="0"/>
              </a:spcBef>
              <a:spcAft>
                <a:spcPts val="0"/>
              </a:spcAft>
              <a:buSzPts val="1600"/>
              <a:buFont typeface="Montserrat"/>
              <a:buChar char="○"/>
            </a:pPr>
            <a:r>
              <a:rPr lang="en" sz="1600">
                <a:latin typeface="Montserrat"/>
                <a:ea typeface="Montserrat"/>
                <a:cs typeface="Montserrat"/>
                <a:sym typeface="Montserrat"/>
              </a:rPr>
              <a:t>The order you run these cells does not matter!</a:t>
            </a:r>
            <a:endParaRPr sz="1600">
              <a:latin typeface="Montserrat"/>
              <a:ea typeface="Montserrat"/>
              <a:cs typeface="Montserrat"/>
              <a:sym typeface="Montserrat"/>
            </a:endParaRPr>
          </a:p>
          <a:p>
            <a:pPr indent="-355600" lvl="0" marL="457200" rtl="0" algn="l">
              <a:lnSpc>
                <a:spcPct val="115000"/>
              </a:lnSpc>
              <a:spcBef>
                <a:spcPts val="0"/>
              </a:spcBef>
              <a:spcAft>
                <a:spcPts val="0"/>
              </a:spcAft>
              <a:buSzPts val="2000"/>
              <a:buChar char="●"/>
            </a:pPr>
            <a:r>
              <a:rPr lang="en"/>
              <a:t>Control/Command + Enter to run current block</a:t>
            </a:r>
            <a:endParaRPr/>
          </a:p>
          <a:p>
            <a:pPr indent="-355600" lvl="0" marL="457200" rtl="0" algn="l">
              <a:lnSpc>
                <a:spcPct val="115000"/>
              </a:lnSpc>
              <a:spcBef>
                <a:spcPts val="0"/>
              </a:spcBef>
              <a:spcAft>
                <a:spcPts val="0"/>
              </a:spcAft>
              <a:buSzPts val="2000"/>
              <a:buChar char="●"/>
            </a:pPr>
            <a:r>
              <a:rPr lang="en"/>
              <a:t>Shift + Enter to run and move forward</a:t>
            </a:r>
            <a:endParaRPr b="1"/>
          </a:p>
        </p:txBody>
      </p:sp>
      <p:pic>
        <p:nvPicPr>
          <p:cNvPr id="219" name="Google Shape;219;p15"/>
          <p:cNvPicPr preferRelativeResize="0"/>
          <p:nvPr/>
        </p:nvPicPr>
        <p:blipFill rotWithShape="1">
          <a:blip r:embed="rId3">
            <a:alphaModFix/>
          </a:blip>
          <a:srcRect b="0" l="0" r="0" t="0"/>
          <a:stretch/>
        </p:blipFill>
        <p:spPr>
          <a:xfrm>
            <a:off x="5847974" y="332500"/>
            <a:ext cx="2612772" cy="4232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6"/>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225" name="Google Shape;225;p16"/>
          <p:cNvSpPr txBox="1"/>
          <p:nvPr>
            <p:ph idx="1" type="body"/>
          </p:nvPr>
        </p:nvSpPr>
        <p:spPr>
          <a:xfrm>
            <a:off x="311700" y="1027025"/>
            <a:ext cx="33783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Font typeface="Montserrat"/>
              <a:buChar char="●"/>
            </a:pPr>
            <a:r>
              <a:rPr lang="en">
                <a:latin typeface="Montserrat"/>
                <a:ea typeface="Montserrat"/>
                <a:cs typeface="Montserrat"/>
                <a:sym typeface="Montserrat"/>
              </a:rPr>
              <a:t>Running / changing one cell executes downstream cells</a:t>
            </a:r>
            <a:endParaRPr>
              <a:latin typeface="Montserrat"/>
              <a:ea typeface="Montserrat"/>
              <a:cs typeface="Montserrat"/>
              <a:sym typeface="Montserrat"/>
            </a:endParaRPr>
          </a:p>
          <a:p>
            <a:pPr indent="-355600" lvl="0" marL="457200" rtl="0" algn="l">
              <a:lnSpc>
                <a:spcPct val="115000"/>
              </a:lnSpc>
              <a:spcBef>
                <a:spcPts val="1000"/>
              </a:spcBef>
              <a:spcAft>
                <a:spcPts val="1000"/>
              </a:spcAft>
              <a:buSzPts val="2000"/>
              <a:buFont typeface="Montserrat"/>
              <a:buChar char="●"/>
            </a:pPr>
            <a:r>
              <a:rPr lang="en">
                <a:latin typeface="Montserrat"/>
                <a:ea typeface="Montserrat"/>
                <a:cs typeface="Montserrat"/>
                <a:sym typeface="Montserrat"/>
              </a:rPr>
              <a:t>If I change variable v, the next two cells are automatically affected</a:t>
            </a:r>
            <a:endParaRPr>
              <a:latin typeface="Montserrat"/>
              <a:ea typeface="Montserrat"/>
              <a:cs typeface="Montserrat"/>
              <a:sym typeface="Montserrat"/>
            </a:endParaRPr>
          </a:p>
        </p:txBody>
      </p:sp>
      <p:pic>
        <p:nvPicPr>
          <p:cNvPr id="226" name="Google Shape;226;p16"/>
          <p:cNvPicPr preferRelativeResize="0"/>
          <p:nvPr/>
        </p:nvPicPr>
        <p:blipFill rotWithShape="1">
          <a:blip r:embed="rId3">
            <a:alphaModFix/>
          </a:blip>
          <a:srcRect b="0" l="0" r="0" t="0"/>
          <a:stretch/>
        </p:blipFill>
        <p:spPr>
          <a:xfrm>
            <a:off x="3973250" y="931000"/>
            <a:ext cx="2273727" cy="3232450"/>
          </a:xfrm>
          <a:prstGeom prst="rect">
            <a:avLst/>
          </a:prstGeom>
          <a:noFill/>
          <a:ln>
            <a:noFill/>
          </a:ln>
        </p:spPr>
      </p:pic>
      <p:pic>
        <p:nvPicPr>
          <p:cNvPr id="227" name="Google Shape;227;p16"/>
          <p:cNvPicPr preferRelativeResize="0"/>
          <p:nvPr/>
        </p:nvPicPr>
        <p:blipFill rotWithShape="1">
          <a:blip r:embed="rId4">
            <a:alphaModFix/>
          </a:blip>
          <a:srcRect b="0" l="0" r="0" t="0"/>
          <a:stretch/>
        </p:blipFill>
        <p:spPr>
          <a:xfrm>
            <a:off x="6403050" y="924533"/>
            <a:ext cx="2165800" cy="323244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7"/>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233" name="Google Shape;233;p17"/>
          <p:cNvSpPr txBox="1"/>
          <p:nvPr>
            <p:ph idx="1" type="body"/>
          </p:nvPr>
        </p:nvSpPr>
        <p:spPr>
          <a:xfrm>
            <a:off x="311700" y="1006750"/>
            <a:ext cx="33783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Font typeface="Montserrat"/>
              <a:buChar char="●"/>
            </a:pPr>
            <a:r>
              <a:rPr lang="en">
                <a:latin typeface="Montserrat"/>
                <a:ea typeface="Montserrat"/>
                <a:cs typeface="Montserrat"/>
                <a:sym typeface="Montserrat"/>
              </a:rPr>
              <a:t>Variable names for assignment can only happen in one cell.</a:t>
            </a:r>
            <a:endParaRPr>
              <a:latin typeface="Montserrat"/>
              <a:ea typeface="Montserrat"/>
              <a:cs typeface="Montserrat"/>
              <a:sym typeface="Montserrat"/>
            </a:endParaRPr>
          </a:p>
          <a:p>
            <a:pPr indent="-330200" lvl="1" marL="914400" rtl="0" algn="l">
              <a:lnSpc>
                <a:spcPct val="115000"/>
              </a:lnSpc>
              <a:spcBef>
                <a:spcPts val="1000"/>
              </a:spcBef>
              <a:spcAft>
                <a:spcPts val="1000"/>
              </a:spcAft>
              <a:buSzPts val="1600"/>
              <a:buFont typeface="Montserrat"/>
              <a:buChar char="○"/>
            </a:pPr>
            <a:r>
              <a:rPr lang="en" sz="1600">
                <a:latin typeface="Montserrat"/>
                <a:ea typeface="Montserrat"/>
                <a:cs typeface="Montserrat"/>
                <a:sym typeface="Montserrat"/>
              </a:rPr>
              <a:t>You cannot define a variable in one cell and redefine it in another cell</a:t>
            </a:r>
            <a:endParaRPr sz="1600">
              <a:latin typeface="Montserrat"/>
              <a:ea typeface="Montserrat"/>
              <a:cs typeface="Montserrat"/>
              <a:sym typeface="Montserrat"/>
            </a:endParaRPr>
          </a:p>
        </p:txBody>
      </p:sp>
      <p:pic>
        <p:nvPicPr>
          <p:cNvPr id="234" name="Google Shape;234;p17"/>
          <p:cNvPicPr preferRelativeResize="0"/>
          <p:nvPr/>
        </p:nvPicPr>
        <p:blipFill rotWithShape="1">
          <a:blip r:embed="rId3">
            <a:alphaModFix/>
          </a:blip>
          <a:srcRect b="0" l="0" r="0" t="0"/>
          <a:stretch/>
        </p:blipFill>
        <p:spPr>
          <a:xfrm>
            <a:off x="5166025" y="1000025"/>
            <a:ext cx="3065856" cy="38386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8"/>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240" name="Google Shape;240;p18"/>
          <p:cNvSpPr txBox="1"/>
          <p:nvPr>
            <p:ph idx="1" type="body"/>
          </p:nvPr>
        </p:nvSpPr>
        <p:spPr>
          <a:xfrm>
            <a:off x="311700" y="1027025"/>
            <a:ext cx="84000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Text/Markdown</a:t>
            </a:r>
            <a:endParaRPr/>
          </a:p>
          <a:p>
            <a:pPr indent="-355600" lvl="0" marL="457200" rtl="0" algn="l">
              <a:lnSpc>
                <a:spcPct val="115000"/>
              </a:lnSpc>
              <a:spcBef>
                <a:spcPts val="1000"/>
              </a:spcBef>
              <a:spcAft>
                <a:spcPts val="0"/>
              </a:spcAft>
              <a:buSzPts val="2000"/>
              <a:buChar char="●"/>
            </a:pPr>
            <a:r>
              <a:rPr lang="en"/>
              <a:t>Expand on the cell (simply click inside)</a:t>
            </a:r>
            <a:endParaRPr/>
          </a:p>
          <a:p>
            <a:pPr indent="-355600" lvl="0" marL="457200" rtl="0" algn="l">
              <a:lnSpc>
                <a:spcPct val="115000"/>
              </a:lnSpc>
              <a:spcBef>
                <a:spcPts val="1000"/>
              </a:spcBef>
              <a:spcAft>
                <a:spcPts val="0"/>
              </a:spcAft>
              <a:buSzPts val="2000"/>
              <a:buChar char="●"/>
            </a:pPr>
            <a:r>
              <a:rPr lang="en"/>
              <a:t>Control/Command + Enter to format current block</a:t>
            </a:r>
            <a:endParaRPr/>
          </a:p>
          <a:p>
            <a:pPr indent="-355600" lvl="0" marL="457200" rtl="0" algn="l">
              <a:lnSpc>
                <a:spcPct val="115000"/>
              </a:lnSpc>
              <a:spcBef>
                <a:spcPts val="1000"/>
              </a:spcBef>
              <a:spcAft>
                <a:spcPts val="1000"/>
              </a:spcAft>
              <a:buSzPts val="2000"/>
              <a:buChar char="●"/>
            </a:pPr>
            <a:r>
              <a:rPr lang="en"/>
              <a:t>Shift + Enter to format current block and move forward</a:t>
            </a:r>
            <a:endParaRPr/>
          </a:p>
        </p:txBody>
      </p:sp>
      <p:pic>
        <p:nvPicPr>
          <p:cNvPr id="241" name="Google Shape;241;p18"/>
          <p:cNvPicPr preferRelativeResize="0"/>
          <p:nvPr/>
        </p:nvPicPr>
        <p:blipFill rotWithShape="1">
          <a:blip r:embed="rId3">
            <a:alphaModFix/>
          </a:blip>
          <a:srcRect b="0" l="0" r="0" t="0"/>
          <a:stretch/>
        </p:blipFill>
        <p:spPr>
          <a:xfrm>
            <a:off x="900550" y="3031188"/>
            <a:ext cx="3389075" cy="1585425"/>
          </a:xfrm>
          <a:prstGeom prst="rect">
            <a:avLst/>
          </a:prstGeom>
          <a:noFill/>
          <a:ln>
            <a:noFill/>
          </a:ln>
        </p:spPr>
      </p:pic>
      <p:pic>
        <p:nvPicPr>
          <p:cNvPr id="242" name="Google Shape;242;p18"/>
          <p:cNvPicPr preferRelativeResize="0"/>
          <p:nvPr/>
        </p:nvPicPr>
        <p:blipFill rotWithShape="1">
          <a:blip r:embed="rId4">
            <a:alphaModFix/>
          </a:blip>
          <a:srcRect b="0" l="0" r="0" t="0"/>
          <a:stretch/>
        </p:blipFill>
        <p:spPr>
          <a:xfrm>
            <a:off x="4999050" y="2992026"/>
            <a:ext cx="2506501" cy="1663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Running the Marimo Lab</a:t>
            </a:r>
            <a:endParaRPr/>
          </a:p>
        </p:txBody>
      </p:sp>
      <p:sp>
        <p:nvSpPr>
          <p:cNvPr id="248" name="Google Shape;248;p19"/>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Char char="●"/>
            </a:pPr>
            <a:r>
              <a:rPr lang="en"/>
              <a:t>If you are using the lab computer, login using your CalNet ID</a:t>
            </a:r>
            <a:endParaRPr/>
          </a:p>
          <a:p>
            <a:pPr indent="-355600" lvl="0" marL="457200" rtl="0" algn="l">
              <a:lnSpc>
                <a:spcPct val="115000"/>
              </a:lnSpc>
              <a:spcBef>
                <a:spcPts val="0"/>
              </a:spcBef>
              <a:spcAft>
                <a:spcPts val="0"/>
              </a:spcAft>
              <a:buSzPts val="2000"/>
              <a:buChar char="●"/>
            </a:pPr>
            <a:r>
              <a:rPr lang="en"/>
              <a:t>Click on the Datahub link from the course website</a:t>
            </a:r>
            <a:endParaRPr/>
          </a:p>
          <a:p>
            <a:pPr indent="-355600" lvl="0" marL="457200" rtl="0" algn="l">
              <a:lnSpc>
                <a:spcPct val="115000"/>
              </a:lnSpc>
              <a:spcBef>
                <a:spcPts val="0"/>
              </a:spcBef>
              <a:spcAft>
                <a:spcPts val="0"/>
              </a:spcAft>
              <a:buSzPts val="2000"/>
              <a:buChar char="●"/>
            </a:pPr>
            <a:r>
              <a:rPr lang="en"/>
              <a:t>You should see a .py file to start working on the lab!</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Using the Lab Computers</a:t>
            </a:r>
            <a:endParaRPr/>
          </a:p>
        </p:txBody>
      </p:sp>
      <p:sp>
        <p:nvSpPr>
          <p:cNvPr id="254" name="Google Shape;254;p20"/>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Char char="●"/>
            </a:pPr>
            <a:r>
              <a:rPr lang="en"/>
              <a:t>Log in to the computers using your Calnet ID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1"/>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Python Bootcamp</a:t>
            </a:r>
            <a:endParaRPr sz="3600"/>
          </a:p>
        </p:txBody>
      </p:sp>
      <p:sp>
        <p:nvSpPr>
          <p:cNvPr id="260" name="Google Shape;260;p21"/>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Char char="●"/>
            </a:pPr>
            <a:r>
              <a:rPr lang="en"/>
              <a:t>Review Python</a:t>
            </a:r>
            <a:endParaRPr/>
          </a:p>
          <a:p>
            <a:pPr indent="-355600" lvl="1" marL="914400" rtl="0" algn="l">
              <a:lnSpc>
                <a:spcPct val="115000"/>
              </a:lnSpc>
              <a:spcBef>
                <a:spcPts val="1000"/>
              </a:spcBef>
              <a:spcAft>
                <a:spcPts val="0"/>
              </a:spcAft>
              <a:buSzPts val="2000"/>
              <a:buChar char="○"/>
            </a:pPr>
            <a:r>
              <a:rPr lang="en"/>
              <a:t>List comprehension</a:t>
            </a:r>
            <a:endParaRPr/>
          </a:p>
          <a:p>
            <a:pPr indent="-355600" lvl="0" marL="457200" rtl="0" algn="l">
              <a:lnSpc>
                <a:spcPct val="115000"/>
              </a:lnSpc>
              <a:spcBef>
                <a:spcPts val="1000"/>
              </a:spcBef>
              <a:spcAft>
                <a:spcPts val="0"/>
              </a:spcAft>
              <a:buSzPts val="2000"/>
              <a:buChar char="●"/>
            </a:pPr>
            <a:r>
              <a:rPr lang="en"/>
              <a:t>Introduction to NumPy - scientific computing in Python</a:t>
            </a:r>
            <a:endParaRPr/>
          </a:p>
          <a:p>
            <a:pPr indent="-355600" lvl="1" marL="914400" rtl="0" algn="l">
              <a:lnSpc>
                <a:spcPct val="115000"/>
              </a:lnSpc>
              <a:spcBef>
                <a:spcPts val="0"/>
              </a:spcBef>
              <a:spcAft>
                <a:spcPts val="0"/>
              </a:spcAft>
              <a:buSzPts val="2000"/>
              <a:buChar char="○"/>
            </a:pPr>
            <a:r>
              <a:rPr lang="en"/>
              <a:t>NumPy functions: np.linspace, np.eye, np.transpose, np.linalg.inv, np.dot</a:t>
            </a:r>
            <a:endParaRPr/>
          </a:p>
          <a:p>
            <a:pPr indent="-355600" lvl="1" marL="914400" rtl="0" algn="l">
              <a:lnSpc>
                <a:spcPct val="115000"/>
              </a:lnSpc>
              <a:spcBef>
                <a:spcPts val="1000"/>
              </a:spcBef>
              <a:spcAft>
                <a:spcPts val="0"/>
              </a:spcAft>
              <a:buSzPts val="2000"/>
              <a:buChar char="○"/>
            </a:pPr>
            <a:r>
              <a:rPr lang="en"/>
              <a:t>NumPy objects: arrays, matrices</a:t>
            </a:r>
            <a:endParaRPr/>
          </a:p>
          <a:p>
            <a:pPr indent="-355600" lvl="1" marL="914400" rtl="0" algn="l">
              <a:lnSpc>
                <a:spcPct val="115000"/>
              </a:lnSpc>
              <a:spcBef>
                <a:spcPts val="1000"/>
              </a:spcBef>
              <a:spcAft>
                <a:spcPts val="0"/>
              </a:spcAft>
              <a:buSzPts val="2000"/>
              <a:buChar char="○"/>
            </a:pPr>
            <a:r>
              <a:rPr lang="en"/>
              <a:t>NumPy array slicing, array reshaping</a:t>
            </a:r>
            <a:endParaRPr/>
          </a:p>
          <a:p>
            <a:pPr indent="-355600" lvl="1" marL="914400" rtl="0" algn="l">
              <a:lnSpc>
                <a:spcPct val="115000"/>
              </a:lnSpc>
              <a:spcBef>
                <a:spcPts val="1000"/>
              </a:spcBef>
              <a:spcAft>
                <a:spcPts val="1000"/>
              </a:spcAft>
              <a:buSzPts val="2000"/>
              <a:buChar char="○"/>
            </a:pPr>
            <a:r>
              <a:rPr lang="en"/>
              <a:t>All the tools you will need for future labs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2"/>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Python Guide</a:t>
            </a:r>
            <a:endParaRPr/>
          </a:p>
        </p:txBody>
      </p:sp>
      <p:sp>
        <p:nvSpPr>
          <p:cNvPr id="266" name="Google Shape;266;p22"/>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Char char="●"/>
            </a:pPr>
            <a:r>
              <a:rPr lang="en"/>
              <a:t>Introduction to Python! </a:t>
            </a:r>
            <a:endParaRPr/>
          </a:p>
          <a:p>
            <a:pPr indent="-355600" lvl="0" marL="457200" rtl="0" algn="l">
              <a:lnSpc>
                <a:spcPct val="115000"/>
              </a:lnSpc>
              <a:spcBef>
                <a:spcPts val="0"/>
              </a:spcBef>
              <a:spcAft>
                <a:spcPts val="0"/>
              </a:spcAft>
              <a:buSzPts val="2000"/>
              <a:buChar char="●"/>
            </a:pPr>
            <a:r>
              <a:rPr lang="en"/>
              <a:t>Link in the Lab Notebook (and on the course website)</a:t>
            </a:r>
            <a:endParaRPr/>
          </a:p>
          <a:p>
            <a:pPr indent="-355600" lvl="0" marL="457200" rtl="0" algn="l">
              <a:lnSpc>
                <a:spcPct val="115000"/>
              </a:lnSpc>
              <a:spcBef>
                <a:spcPts val="0"/>
              </a:spcBef>
              <a:spcAft>
                <a:spcPts val="0"/>
              </a:spcAft>
              <a:buSzPts val="2000"/>
              <a:buChar char="●"/>
            </a:pPr>
            <a:r>
              <a:rPr lang="en"/>
              <a:t>Contains fundamental Python concepts and tools that you will need for all EE 66 Labs</a:t>
            </a:r>
            <a:endParaRPr/>
          </a:p>
          <a:p>
            <a:pPr indent="-355600" lvl="0" marL="457200" rtl="0" algn="l">
              <a:lnSpc>
                <a:spcPct val="115000"/>
              </a:lnSpc>
              <a:spcBef>
                <a:spcPts val="0"/>
              </a:spcBef>
              <a:spcAft>
                <a:spcPts val="0"/>
              </a:spcAft>
              <a:buSzPts val="2000"/>
              <a:buChar char="●"/>
            </a:pPr>
            <a:r>
              <a:rPr lang="en"/>
              <a:t>Not a requirement, but a resource!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3"/>
          <p:cNvSpPr txBox="1"/>
          <p:nvPr>
            <p:ph type="title"/>
          </p:nvPr>
        </p:nvSpPr>
        <p:spPr>
          <a:xfrm>
            <a:off x="366925" y="301225"/>
            <a:ext cx="4142700" cy="85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Checking-off Today</a:t>
            </a:r>
            <a:endParaRPr/>
          </a:p>
        </p:txBody>
      </p:sp>
      <p:sp>
        <p:nvSpPr>
          <p:cNvPr id="272" name="Google Shape;272;p23"/>
          <p:cNvSpPr txBox="1"/>
          <p:nvPr>
            <p:ph idx="1" type="body"/>
          </p:nvPr>
        </p:nvSpPr>
        <p:spPr>
          <a:xfrm>
            <a:off x="363400" y="1013875"/>
            <a:ext cx="8060700" cy="3610800"/>
          </a:xfrm>
          <a:prstGeom prst="rect">
            <a:avLst/>
          </a:prstGeom>
          <a:noFill/>
          <a:ln>
            <a:noFill/>
          </a:ln>
        </p:spPr>
        <p:txBody>
          <a:bodyPr anchorCtr="0" anchor="t" bIns="91425" lIns="91425" spcFirstLastPara="1" rIns="91425" wrap="square" tIns="91425">
            <a:noAutofit/>
          </a:bodyPr>
          <a:lstStyle/>
          <a:p>
            <a:pPr indent="-349250" lvl="0" marL="457200" rtl="0" algn="l">
              <a:lnSpc>
                <a:spcPct val="105000"/>
              </a:lnSpc>
              <a:spcBef>
                <a:spcPts val="0"/>
              </a:spcBef>
              <a:spcAft>
                <a:spcPts val="0"/>
              </a:spcAft>
              <a:buSzPts val="1900"/>
              <a:buChar char="●"/>
            </a:pPr>
            <a:r>
              <a:rPr lang="en" sz="1900"/>
              <a:t>Work on Python Bootcamp</a:t>
            </a:r>
            <a:endParaRPr sz="1900"/>
          </a:p>
          <a:p>
            <a:pPr indent="-349250" lvl="0" marL="457200" rtl="0" algn="l">
              <a:lnSpc>
                <a:spcPct val="105000"/>
              </a:lnSpc>
              <a:spcBef>
                <a:spcPts val="0"/>
              </a:spcBef>
              <a:spcAft>
                <a:spcPts val="0"/>
              </a:spcAft>
              <a:buSzPts val="1900"/>
              <a:buChar char="●"/>
            </a:pPr>
            <a:r>
              <a:rPr lang="en" sz="1900"/>
              <a:t>Pass all autograder checks</a:t>
            </a:r>
            <a:endParaRPr sz="1900"/>
          </a:p>
          <a:p>
            <a:pPr indent="-349250" lvl="0" marL="457200" rtl="0" algn="l">
              <a:lnSpc>
                <a:spcPct val="105000"/>
              </a:lnSpc>
              <a:spcBef>
                <a:spcPts val="0"/>
              </a:spcBef>
              <a:spcAft>
                <a:spcPts val="0"/>
              </a:spcAft>
              <a:buSzPts val="1900"/>
              <a:buChar char="●"/>
            </a:pPr>
            <a:r>
              <a:rPr lang="en" sz="1900"/>
              <a:t>Follow the directions linked at bottom of the lab</a:t>
            </a:r>
            <a:endParaRPr sz="1900"/>
          </a:p>
          <a:p>
            <a:pPr indent="-349250" lvl="1" marL="914400" rtl="0" algn="l">
              <a:lnSpc>
                <a:spcPct val="105000"/>
              </a:lnSpc>
              <a:spcBef>
                <a:spcPts val="0"/>
              </a:spcBef>
              <a:spcAft>
                <a:spcPts val="0"/>
              </a:spcAft>
              <a:buSzPts val="1900"/>
              <a:buChar char="○"/>
            </a:pPr>
            <a:r>
              <a:rPr lang="en" sz="1900"/>
              <a:t>Fill out Google form</a:t>
            </a:r>
            <a:endParaRPr sz="1900"/>
          </a:p>
          <a:p>
            <a:pPr indent="-349250" lvl="0" marL="457200" rtl="0" algn="l">
              <a:lnSpc>
                <a:spcPct val="105000"/>
              </a:lnSpc>
              <a:spcBef>
                <a:spcPts val="0"/>
              </a:spcBef>
              <a:spcAft>
                <a:spcPts val="0"/>
              </a:spcAft>
              <a:buSzPts val="1900"/>
              <a:buChar char="●"/>
            </a:pPr>
            <a:r>
              <a:rPr lang="en" sz="1900"/>
              <a:t>During checkoff:</a:t>
            </a:r>
            <a:endParaRPr sz="1900"/>
          </a:p>
          <a:p>
            <a:pPr indent="-349250" lvl="1" marL="914400" rtl="0" algn="l">
              <a:lnSpc>
                <a:spcPct val="105000"/>
              </a:lnSpc>
              <a:spcBef>
                <a:spcPts val="0"/>
              </a:spcBef>
              <a:spcAft>
                <a:spcPts val="0"/>
              </a:spcAft>
              <a:buSzPts val="1900"/>
              <a:buChar char="○"/>
            </a:pPr>
            <a:r>
              <a:rPr lang="en" sz="1900"/>
              <a:t>Introduce yourself: </a:t>
            </a:r>
            <a:r>
              <a:rPr b="1" lang="en" sz="1900"/>
              <a:t>name, major, year, hobbies</a:t>
            </a:r>
            <a:endParaRPr b="1" sz="1900"/>
          </a:p>
          <a:p>
            <a:pPr indent="-349250" lvl="1" marL="914400" rtl="0" algn="l">
              <a:lnSpc>
                <a:spcPct val="105000"/>
              </a:lnSpc>
              <a:spcBef>
                <a:spcPts val="0"/>
              </a:spcBef>
              <a:spcAft>
                <a:spcPts val="0"/>
              </a:spcAft>
              <a:buSzPts val="1900"/>
              <a:buChar char="○"/>
            </a:pPr>
            <a:r>
              <a:rPr lang="en" sz="1900"/>
              <a:t>Open the Python Bootcamp</a:t>
            </a:r>
            <a:endParaRPr sz="1900"/>
          </a:p>
          <a:p>
            <a:pPr indent="-349250" lvl="1" marL="914400" rtl="0" algn="l">
              <a:lnSpc>
                <a:spcPct val="90000"/>
              </a:lnSpc>
              <a:spcBef>
                <a:spcPts val="0"/>
              </a:spcBef>
              <a:spcAft>
                <a:spcPts val="0"/>
              </a:spcAft>
              <a:buSzPts val="1900"/>
              <a:buChar char="○"/>
            </a:pPr>
            <a:r>
              <a:rPr lang="en" sz="1900"/>
              <a:t>Show the final autograder check result</a:t>
            </a:r>
            <a:endParaRPr sz="1900"/>
          </a:p>
          <a:p>
            <a:pPr indent="-349250" lvl="1" marL="914400" rtl="0" algn="l">
              <a:lnSpc>
                <a:spcPct val="90000"/>
              </a:lnSpc>
              <a:spcBef>
                <a:spcPts val="0"/>
              </a:spcBef>
              <a:spcAft>
                <a:spcPts val="0"/>
              </a:spcAft>
              <a:buSzPts val="1900"/>
              <a:buChar char="○"/>
            </a:pPr>
            <a:r>
              <a:rPr lang="en" sz="1900"/>
              <a:t>Find this presentation on the website</a:t>
            </a:r>
            <a:endParaRPr sz="1900"/>
          </a:p>
          <a:p>
            <a:pPr indent="-349250" lvl="1" marL="914400" rtl="0" algn="l">
              <a:lnSpc>
                <a:spcPct val="90000"/>
              </a:lnSpc>
              <a:spcBef>
                <a:spcPts val="0"/>
              </a:spcBef>
              <a:spcAft>
                <a:spcPts val="0"/>
              </a:spcAft>
              <a:buSzPts val="1900"/>
              <a:buChar char="○"/>
            </a:pPr>
            <a:r>
              <a:rPr lang="en" sz="1900"/>
              <a:t>If you want to add songs to our playlist: </a:t>
            </a:r>
            <a:r>
              <a:rPr lang="en" sz="1900" u="sng">
                <a:solidFill>
                  <a:schemeClr val="hlink"/>
                </a:solidFill>
                <a:hlinkClick r:id="rId3"/>
              </a:rPr>
              <a:t>https://tinyurl.com/66-playlist</a:t>
            </a:r>
            <a:r>
              <a:rPr lang="en" sz="1900" u="sng"/>
              <a:t> </a:t>
            </a:r>
            <a:endParaRPr sz="1900" u="sng"/>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Feedback Time</a:t>
            </a:r>
            <a:endParaRPr/>
          </a:p>
        </p:txBody>
      </p:sp>
      <p:sp>
        <p:nvSpPr>
          <p:cNvPr id="278" name="Google Shape;278;p24"/>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000"/>
              <a:buNone/>
            </a:pPr>
            <a:r>
              <a:rPr lang="en" sz="3200">
                <a:solidFill>
                  <a:srgbClr val="179669"/>
                </a:solidFill>
                <a:highlight>
                  <a:srgbClr val="FFFFFF"/>
                </a:highlight>
              </a:rPr>
              <a:t>https://tinyurl.com/bdf3ya92</a:t>
            </a:r>
            <a:endParaRPr sz="3200">
              <a:solidFill>
                <a:srgbClr val="179669"/>
              </a:solidFill>
            </a:endParaRPr>
          </a:p>
        </p:txBody>
      </p:sp>
      <p:pic>
        <p:nvPicPr>
          <p:cNvPr id="279" name="Google Shape;279;p24"/>
          <p:cNvPicPr preferRelativeResize="0"/>
          <p:nvPr/>
        </p:nvPicPr>
        <p:blipFill>
          <a:blip r:embed="rId3">
            <a:alphaModFix/>
          </a:blip>
          <a:stretch>
            <a:fillRect/>
          </a:stretch>
        </p:blipFill>
        <p:spPr>
          <a:xfrm>
            <a:off x="3152334" y="1775896"/>
            <a:ext cx="2839325" cy="2839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ECS16a - Lab">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