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6858000" cy="9144000"/>
  <p:embeddedFontLst>
    <p:embeddedFont>
      <p:font typeface="Dosis"/>
      <p:regular r:id="rId26"/>
      <p:bold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Montserrat"/>
      <p:regular r:id="rId32"/>
      <p:bold r:id="rId33"/>
      <p:italic r:id="rId34"/>
      <p:boldItalic r:id="rId35"/>
    </p:embeddedFont>
    <p:embeddedFont>
      <p:font typeface="PT Sans Narrow"/>
      <p:regular r:id="rId36"/>
      <p:bold r:id="rId37"/>
    </p:embeddedFont>
    <p:embeddedFont>
      <p:font typeface="Montserrat Medium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j+7IGqteen+ikPs6AlxlXCkhZS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italic.fntdata"/><Relationship Id="rId20" Type="http://schemas.openxmlformats.org/officeDocument/2006/relationships/slide" Target="slides/slide16.xml"/><Relationship Id="rId42" Type="http://schemas.openxmlformats.org/officeDocument/2006/relationships/font" Target="fonts/OpenSans-regular.fntdata"/><Relationship Id="rId41" Type="http://schemas.openxmlformats.org/officeDocument/2006/relationships/font" Target="fonts/MontserratMedium-boldItalic.fntdata"/><Relationship Id="rId22" Type="http://schemas.openxmlformats.org/officeDocument/2006/relationships/slide" Target="slides/slide18.xml"/><Relationship Id="rId44" Type="http://schemas.openxmlformats.org/officeDocument/2006/relationships/font" Target="fonts/OpenSans-italic.fntdata"/><Relationship Id="rId21" Type="http://schemas.openxmlformats.org/officeDocument/2006/relationships/slide" Target="slides/slide17.xml"/><Relationship Id="rId43" Type="http://schemas.openxmlformats.org/officeDocument/2006/relationships/font" Target="fonts/OpenSans-bold.fntdata"/><Relationship Id="rId24" Type="http://schemas.openxmlformats.org/officeDocument/2006/relationships/slide" Target="slides/slide20.xml"/><Relationship Id="rId46" Type="http://customschemas.google.com/relationships/presentationmetadata" Target="metadata"/><Relationship Id="rId23" Type="http://schemas.openxmlformats.org/officeDocument/2006/relationships/slide" Target="slides/slide19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osis-regular.fntdata"/><Relationship Id="rId25" Type="http://schemas.openxmlformats.org/officeDocument/2006/relationships/slide" Target="slides/slide21.xml"/><Relationship Id="rId28" Type="http://schemas.openxmlformats.org/officeDocument/2006/relationships/font" Target="fonts/Roboto-regular.fntdata"/><Relationship Id="rId27" Type="http://schemas.openxmlformats.org/officeDocument/2006/relationships/font" Target="fonts/Dosi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7.xml"/><Relationship Id="rId33" Type="http://schemas.openxmlformats.org/officeDocument/2006/relationships/font" Target="fonts/Montserrat-bold.fntdata"/><Relationship Id="rId10" Type="http://schemas.openxmlformats.org/officeDocument/2006/relationships/slide" Target="slides/slide6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9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8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11.xml"/><Relationship Id="rId37" Type="http://schemas.openxmlformats.org/officeDocument/2006/relationships/font" Target="fonts/PTSansNarrow-bold.fntdata"/><Relationship Id="rId14" Type="http://schemas.openxmlformats.org/officeDocument/2006/relationships/slide" Target="slides/slide10.xml"/><Relationship Id="rId36" Type="http://schemas.openxmlformats.org/officeDocument/2006/relationships/font" Target="fonts/PTSansNarrow-regular.fntdata"/><Relationship Id="rId17" Type="http://schemas.openxmlformats.org/officeDocument/2006/relationships/slide" Target="slides/slide13.xml"/><Relationship Id="rId39" Type="http://schemas.openxmlformats.org/officeDocument/2006/relationships/font" Target="fonts/MontserratMedium-bold.fntdata"/><Relationship Id="rId16" Type="http://schemas.openxmlformats.org/officeDocument/2006/relationships/slide" Target="slides/slide12.xml"/><Relationship Id="rId38" Type="http://schemas.openxmlformats.org/officeDocument/2006/relationships/font" Target="fonts/MontserratMedium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rgbClr val="202122"/>
                </a:solidFill>
              </a:rPr>
              <a:t>The SVD decomposition breaks down any linear transformation ⁠into a composition of three geometrical transformations: a rotation or reflection, followed by a coordinate-by-coordinate scaling, followed by another rotation or reflection.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rgbClr val="202122"/>
                </a:solidFill>
              </a:rPr>
              <a:t>PCA linearly transforms the data onto a new coordinate system such that the directions (principal components) capturing the largest variation in the data can be easily identified.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508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Find the center of each cluster by taking the mean of all points in a cluster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3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1" name="Google Shape;11;p23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C4820E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23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C4820E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" name="Google Shape;13;p23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4" name="Google Shape;14;p23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C4820E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" name="Google Shape;15;p23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C4820E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" name="Google Shape;16;p23"/>
          <p:cNvSpPr txBox="1"/>
          <p:nvPr>
            <p:ph type="ctrTitle"/>
          </p:nvPr>
        </p:nvSpPr>
        <p:spPr>
          <a:xfrm>
            <a:off x="1004150" y="15231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5400"/>
              <a:buFont typeface="Montserrat"/>
              <a:buNone/>
              <a:defRPr sz="5400">
                <a:solidFill>
                  <a:srgbClr val="00326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547925" y="2850050"/>
            <a:ext cx="6094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400"/>
              <a:buFont typeface="Montserrat Medium"/>
              <a:buNone/>
              <a:defRPr sz="24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3000"/>
              <a:buFont typeface="Montserrat"/>
              <a:buNone/>
              <a:defRPr sz="3000">
                <a:solidFill>
                  <a:srgbClr val="C4820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rgbClr val="C482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5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3000"/>
              <a:buFont typeface="Montserrat"/>
              <a:buNone/>
              <a:defRPr sz="3000">
                <a:solidFill>
                  <a:srgbClr val="C4820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311700" y="1027025"/>
            <a:ext cx="85206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○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55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■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○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■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●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○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Montserrat Medium"/>
              <a:buChar char="■"/>
              <a:defRPr sz="20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6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3000"/>
              <a:buFont typeface="Montserrat"/>
              <a:buNone/>
              <a:defRPr sz="3000">
                <a:solidFill>
                  <a:srgbClr val="C4820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311700" y="1145700"/>
            <a:ext cx="3999900" cy="3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●"/>
              <a:defRPr sz="14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●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●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" name="Google Shape;34;p27"/>
          <p:cNvSpPr txBox="1"/>
          <p:nvPr>
            <p:ph idx="2" type="body"/>
          </p:nvPr>
        </p:nvSpPr>
        <p:spPr>
          <a:xfrm>
            <a:off x="4832400" y="1145700"/>
            <a:ext cx="3999900" cy="3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●"/>
              <a:defRPr sz="14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●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●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○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00"/>
              <a:buFont typeface="Montserrat Medium"/>
              <a:buChar char="■"/>
              <a:defRPr sz="1200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" name="Google Shape;3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/>
          <p:nvPr>
            <p:ph type="title"/>
          </p:nvPr>
        </p:nvSpPr>
        <p:spPr>
          <a:xfrm>
            <a:off x="311700" y="3270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28"/>
          <p:cNvSpPr txBox="1"/>
          <p:nvPr>
            <p:ph idx="1" type="body"/>
          </p:nvPr>
        </p:nvSpPr>
        <p:spPr>
          <a:xfrm>
            <a:off x="311700" y="1389600"/>
            <a:ext cx="28080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" name="Google Shape;42;p2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2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/>
        </p:txBody>
      </p:sp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13000"/>
              <a:buNone/>
              <a:defRPr sz="13000">
                <a:solidFill>
                  <a:srgbClr val="C4820E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3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3"/>
          <p:cNvSpPr txBox="1"/>
          <p:nvPr>
            <p:ph idx="1" type="body"/>
          </p:nvPr>
        </p:nvSpPr>
        <p:spPr>
          <a:xfrm>
            <a:off x="2159325" y="2161800"/>
            <a:ext cx="48255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873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●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73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○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873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■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873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●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873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○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873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■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873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●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873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○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873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Font typeface="Roboto"/>
              <a:buChar char="■"/>
              <a:defRPr b="1" sz="25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" name="Google Shape;59;p33"/>
          <p:cNvSpPr/>
          <p:nvPr/>
        </p:nvSpPr>
        <p:spPr>
          <a:xfrm>
            <a:off x="7302880" y="-294362"/>
            <a:ext cx="450550" cy="558734"/>
          </a:xfrm>
          <a:custGeom>
            <a:rect b="b" l="l" r="r" t="t"/>
            <a:pathLst>
              <a:path extrusionOk="0" h="19698" w="15884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3"/>
          <p:cNvSpPr/>
          <p:nvPr/>
        </p:nvSpPr>
        <p:spPr>
          <a:xfrm>
            <a:off x="-35374" y="3366963"/>
            <a:ext cx="443260" cy="504670"/>
          </a:xfrm>
          <a:custGeom>
            <a:rect b="b" l="l" r="r" t="t"/>
            <a:pathLst>
              <a:path extrusionOk="0" h="17792" w="15627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3"/>
          <p:cNvSpPr/>
          <p:nvPr/>
        </p:nvSpPr>
        <p:spPr>
          <a:xfrm>
            <a:off x="8817948" y="3439661"/>
            <a:ext cx="414157" cy="507762"/>
          </a:xfrm>
          <a:custGeom>
            <a:rect b="b" l="l" r="r" t="t"/>
            <a:pathLst>
              <a:path extrusionOk="0" h="17901" w="14601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3"/>
          <p:cNvSpPr/>
          <p:nvPr/>
        </p:nvSpPr>
        <p:spPr>
          <a:xfrm>
            <a:off x="8742973" y="4166677"/>
            <a:ext cx="495281" cy="340238"/>
          </a:xfrm>
          <a:custGeom>
            <a:rect b="b" l="l" r="r" t="t"/>
            <a:pathLst>
              <a:path extrusionOk="0" h="11995" w="17461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3"/>
          <p:cNvSpPr/>
          <p:nvPr/>
        </p:nvSpPr>
        <p:spPr>
          <a:xfrm>
            <a:off x="8360955" y="4506916"/>
            <a:ext cx="372518" cy="384998"/>
          </a:xfrm>
          <a:custGeom>
            <a:rect b="b" l="l" r="r" t="t"/>
            <a:pathLst>
              <a:path extrusionOk="0" h="13573" w="13133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3"/>
          <p:cNvSpPr/>
          <p:nvPr/>
        </p:nvSpPr>
        <p:spPr>
          <a:xfrm>
            <a:off x="-77078" y="1488018"/>
            <a:ext cx="339602" cy="400617"/>
          </a:xfrm>
          <a:custGeom>
            <a:rect b="b" l="l" r="r" t="t"/>
            <a:pathLst>
              <a:path extrusionOk="0" h="11079" w="9391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3"/>
          <p:cNvSpPr/>
          <p:nvPr/>
        </p:nvSpPr>
        <p:spPr>
          <a:xfrm>
            <a:off x="8052572" y="4825260"/>
            <a:ext cx="589992" cy="414129"/>
          </a:xfrm>
          <a:custGeom>
            <a:rect b="b" l="l" r="r" t="t"/>
            <a:pathLst>
              <a:path extrusionOk="0" h="14600" w="2080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/>
          <p:nvPr/>
        </p:nvSpPr>
        <p:spPr>
          <a:xfrm>
            <a:off x="8052577" y="4132327"/>
            <a:ext cx="388118" cy="408938"/>
          </a:xfrm>
          <a:custGeom>
            <a:rect b="b" l="l" r="r" t="t"/>
            <a:pathLst>
              <a:path extrusionOk="0" h="14417" w="13683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3"/>
          <p:cNvSpPr/>
          <p:nvPr/>
        </p:nvSpPr>
        <p:spPr>
          <a:xfrm>
            <a:off x="7430898" y="4873171"/>
            <a:ext cx="297606" cy="211234"/>
          </a:xfrm>
          <a:custGeom>
            <a:rect b="b" l="l" r="r" t="t"/>
            <a:pathLst>
              <a:path extrusionOk="0" h="7447" w="10492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3"/>
          <p:cNvSpPr/>
          <p:nvPr/>
        </p:nvSpPr>
        <p:spPr>
          <a:xfrm>
            <a:off x="8749725" y="4950125"/>
            <a:ext cx="288245" cy="184202"/>
          </a:xfrm>
          <a:custGeom>
            <a:rect b="b" l="l" r="r" t="t"/>
            <a:pathLst>
              <a:path extrusionOk="0" h="6494" w="10162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3"/>
          <p:cNvSpPr/>
          <p:nvPr/>
        </p:nvSpPr>
        <p:spPr>
          <a:xfrm>
            <a:off x="8522444" y="4000279"/>
            <a:ext cx="306966" cy="385027"/>
          </a:xfrm>
          <a:custGeom>
            <a:rect b="b" l="l" r="r" t="t"/>
            <a:pathLst>
              <a:path extrusionOk="0" h="13574" w="10822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3"/>
          <p:cNvSpPr/>
          <p:nvPr/>
        </p:nvSpPr>
        <p:spPr>
          <a:xfrm>
            <a:off x="8829403" y="4583868"/>
            <a:ext cx="391238" cy="289295"/>
          </a:xfrm>
          <a:custGeom>
            <a:rect b="b" l="l" r="r" t="t"/>
            <a:pathLst>
              <a:path extrusionOk="0" h="10199" w="13793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3"/>
          <p:cNvSpPr/>
          <p:nvPr/>
        </p:nvSpPr>
        <p:spPr>
          <a:xfrm>
            <a:off x="8963979" y="1338718"/>
            <a:ext cx="180033" cy="373539"/>
          </a:xfrm>
          <a:custGeom>
            <a:rect b="b" l="l" r="r" t="t"/>
            <a:pathLst>
              <a:path extrusionOk="0" h="13169" w="6347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3"/>
          <p:cNvSpPr/>
          <p:nvPr/>
        </p:nvSpPr>
        <p:spPr>
          <a:xfrm rot="-2426120">
            <a:off x="7110132" y="4877011"/>
            <a:ext cx="279910" cy="357971"/>
          </a:xfrm>
          <a:custGeom>
            <a:rect b="b" l="l" r="r" t="t"/>
            <a:pathLst>
              <a:path extrusionOk="0" h="12620" w="9868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3"/>
          <p:cNvSpPr/>
          <p:nvPr/>
        </p:nvSpPr>
        <p:spPr>
          <a:xfrm>
            <a:off x="7659648" y="4370196"/>
            <a:ext cx="377708" cy="426638"/>
          </a:xfrm>
          <a:custGeom>
            <a:rect b="b" l="l" r="r" t="t"/>
            <a:pathLst>
              <a:path extrusionOk="0" h="15041" w="13316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3"/>
          <p:cNvSpPr/>
          <p:nvPr/>
        </p:nvSpPr>
        <p:spPr>
          <a:xfrm>
            <a:off x="8797588" y="3078732"/>
            <a:ext cx="386048" cy="258065"/>
          </a:xfrm>
          <a:custGeom>
            <a:rect b="b" l="l" r="r" t="t"/>
            <a:pathLst>
              <a:path extrusionOk="0" h="9098" w="1361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3"/>
          <p:cNvSpPr/>
          <p:nvPr/>
        </p:nvSpPr>
        <p:spPr>
          <a:xfrm>
            <a:off x="7782420" y="4885132"/>
            <a:ext cx="174842" cy="187322"/>
          </a:xfrm>
          <a:custGeom>
            <a:rect b="b" l="l" r="r" t="t"/>
            <a:pathLst>
              <a:path extrusionOk="0" h="6604" w="6164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3"/>
          <p:cNvSpPr/>
          <p:nvPr/>
        </p:nvSpPr>
        <p:spPr>
          <a:xfrm>
            <a:off x="346877" y="608615"/>
            <a:ext cx="210213" cy="458889"/>
          </a:xfrm>
          <a:custGeom>
            <a:rect b="b" l="l" r="r" t="t"/>
            <a:pathLst>
              <a:path extrusionOk="0" h="16178" w="7411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3"/>
          <p:cNvSpPr/>
          <p:nvPr/>
        </p:nvSpPr>
        <p:spPr>
          <a:xfrm>
            <a:off x="645010" y="355961"/>
            <a:ext cx="414157" cy="507762"/>
          </a:xfrm>
          <a:custGeom>
            <a:rect b="b" l="l" r="r" t="t"/>
            <a:pathLst>
              <a:path extrusionOk="0" h="17901" w="14601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3"/>
          <p:cNvSpPr/>
          <p:nvPr/>
        </p:nvSpPr>
        <p:spPr>
          <a:xfrm>
            <a:off x="8318810" y="-29822"/>
            <a:ext cx="456818" cy="425588"/>
          </a:xfrm>
          <a:custGeom>
            <a:rect b="b" l="l" r="r" t="t"/>
            <a:pathLst>
              <a:path extrusionOk="0" h="15004" w="16105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3"/>
          <p:cNvSpPr/>
          <p:nvPr/>
        </p:nvSpPr>
        <p:spPr>
          <a:xfrm>
            <a:off x="-8" y="1013366"/>
            <a:ext cx="372518" cy="384998"/>
          </a:xfrm>
          <a:custGeom>
            <a:rect b="b" l="l" r="r" t="t"/>
            <a:pathLst>
              <a:path extrusionOk="0" h="13573" w="13133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3"/>
          <p:cNvSpPr/>
          <p:nvPr/>
        </p:nvSpPr>
        <p:spPr>
          <a:xfrm>
            <a:off x="8699356" y="179112"/>
            <a:ext cx="521292" cy="538992"/>
          </a:xfrm>
          <a:custGeom>
            <a:rect b="b" l="l" r="r" t="t"/>
            <a:pathLst>
              <a:path extrusionOk="0" h="19002" w="18378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>
            <a:off x="700454" y="4557600"/>
            <a:ext cx="504670" cy="400627"/>
          </a:xfrm>
          <a:custGeom>
            <a:rect b="b" l="l" r="r" t="t"/>
            <a:pathLst>
              <a:path extrusionOk="0" h="14124" w="17792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/>
          <p:nvPr/>
        </p:nvSpPr>
        <p:spPr>
          <a:xfrm>
            <a:off x="258967" y="-86251"/>
            <a:ext cx="470320" cy="442210"/>
          </a:xfrm>
          <a:custGeom>
            <a:rect b="b" l="l" r="r" t="t"/>
            <a:pathLst>
              <a:path extrusionOk="0" h="15590" w="16581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3"/>
          <p:cNvSpPr/>
          <p:nvPr/>
        </p:nvSpPr>
        <p:spPr>
          <a:xfrm>
            <a:off x="-35016" y="4075593"/>
            <a:ext cx="339602" cy="400617"/>
          </a:xfrm>
          <a:custGeom>
            <a:rect b="b" l="l" r="r" t="t"/>
            <a:pathLst>
              <a:path extrusionOk="0" h="11079" w="9391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3"/>
          <p:cNvSpPr/>
          <p:nvPr/>
        </p:nvSpPr>
        <p:spPr>
          <a:xfrm>
            <a:off x="721258" y="4998019"/>
            <a:ext cx="463059" cy="177962"/>
          </a:xfrm>
          <a:custGeom>
            <a:rect b="b" l="l" r="r" t="t"/>
            <a:pathLst>
              <a:path extrusionOk="0" h="6274" w="16325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3"/>
          <p:cNvSpPr/>
          <p:nvPr/>
        </p:nvSpPr>
        <p:spPr>
          <a:xfrm>
            <a:off x="-243128" y="54210"/>
            <a:ext cx="589992" cy="414129"/>
          </a:xfrm>
          <a:custGeom>
            <a:rect b="b" l="l" r="r" t="t"/>
            <a:pathLst>
              <a:path extrusionOk="0" h="14600" w="2080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/>
          <p:nvPr/>
        </p:nvSpPr>
        <p:spPr>
          <a:xfrm>
            <a:off x="7842052" y="-100873"/>
            <a:ext cx="388118" cy="408938"/>
          </a:xfrm>
          <a:custGeom>
            <a:rect b="b" l="l" r="r" t="t"/>
            <a:pathLst>
              <a:path extrusionOk="0" h="14417" w="13683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3"/>
          <p:cNvSpPr/>
          <p:nvPr/>
        </p:nvSpPr>
        <p:spPr>
          <a:xfrm>
            <a:off x="-38626" y="579046"/>
            <a:ext cx="297606" cy="211234"/>
          </a:xfrm>
          <a:custGeom>
            <a:rect b="b" l="l" r="r" t="t"/>
            <a:pathLst>
              <a:path extrusionOk="0" h="7447" w="10492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3"/>
          <p:cNvSpPr/>
          <p:nvPr/>
        </p:nvSpPr>
        <p:spPr>
          <a:xfrm>
            <a:off x="1403775" y="11500"/>
            <a:ext cx="288245" cy="184202"/>
          </a:xfrm>
          <a:custGeom>
            <a:rect b="b" l="l" r="r" t="t"/>
            <a:pathLst>
              <a:path extrusionOk="0" h="6494" w="10162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/>
          <p:nvPr/>
        </p:nvSpPr>
        <p:spPr>
          <a:xfrm>
            <a:off x="955990" y="-57166"/>
            <a:ext cx="323616" cy="321546"/>
          </a:xfrm>
          <a:custGeom>
            <a:rect b="b" l="l" r="r" t="t"/>
            <a:pathLst>
              <a:path extrusionOk="0" h="11336" w="11409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1333294" y="4678454"/>
            <a:ext cx="306966" cy="385027"/>
          </a:xfrm>
          <a:custGeom>
            <a:rect b="b" l="l" r="r" t="t"/>
            <a:pathLst>
              <a:path extrusionOk="0" h="13574" w="10822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/>
          <p:nvPr/>
        </p:nvSpPr>
        <p:spPr>
          <a:xfrm>
            <a:off x="91624" y="4552927"/>
            <a:ext cx="416228" cy="409988"/>
          </a:xfrm>
          <a:custGeom>
            <a:rect b="b" l="l" r="r" t="t"/>
            <a:pathLst>
              <a:path extrusionOk="0" h="14454" w="14674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3"/>
          <p:cNvSpPr/>
          <p:nvPr/>
        </p:nvSpPr>
        <p:spPr>
          <a:xfrm>
            <a:off x="1525678" y="4911343"/>
            <a:ext cx="391238" cy="289295"/>
          </a:xfrm>
          <a:custGeom>
            <a:rect b="b" l="l" r="r" t="t"/>
            <a:pathLst>
              <a:path extrusionOk="0" h="10199" w="13793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3"/>
          <p:cNvSpPr/>
          <p:nvPr/>
        </p:nvSpPr>
        <p:spPr>
          <a:xfrm>
            <a:off x="2704" y="4900231"/>
            <a:ext cx="180033" cy="373539"/>
          </a:xfrm>
          <a:custGeom>
            <a:rect b="b" l="l" r="r" t="t"/>
            <a:pathLst>
              <a:path extrusionOk="0" h="13169" w="6347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3"/>
          <p:cNvSpPr/>
          <p:nvPr/>
        </p:nvSpPr>
        <p:spPr>
          <a:xfrm rot="1920548">
            <a:off x="8225551" y="625274"/>
            <a:ext cx="501522" cy="425557"/>
          </a:xfrm>
          <a:custGeom>
            <a:rect b="b" l="l" r="r" t="t"/>
            <a:pathLst>
              <a:path extrusionOk="0" h="15004" w="17681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3"/>
          <p:cNvSpPr/>
          <p:nvPr/>
        </p:nvSpPr>
        <p:spPr>
          <a:xfrm>
            <a:off x="346867" y="4064142"/>
            <a:ext cx="479681" cy="339217"/>
          </a:xfrm>
          <a:custGeom>
            <a:rect b="b" l="l" r="r" t="t"/>
            <a:pathLst>
              <a:path extrusionOk="0" h="11959" w="16911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3"/>
          <p:cNvSpPr/>
          <p:nvPr/>
        </p:nvSpPr>
        <p:spPr>
          <a:xfrm rot="-5400000">
            <a:off x="7996280" y="316930"/>
            <a:ext cx="279906" cy="357966"/>
          </a:xfrm>
          <a:custGeom>
            <a:rect b="b" l="l" r="r" t="t"/>
            <a:pathLst>
              <a:path extrusionOk="0" h="12620" w="9868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3"/>
          <p:cNvSpPr/>
          <p:nvPr/>
        </p:nvSpPr>
        <p:spPr>
          <a:xfrm>
            <a:off x="8801760" y="790271"/>
            <a:ext cx="377708" cy="426638"/>
          </a:xfrm>
          <a:custGeom>
            <a:rect b="b" l="l" r="r" t="t"/>
            <a:pathLst>
              <a:path extrusionOk="0" h="15041" w="13316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3"/>
          <p:cNvSpPr/>
          <p:nvPr/>
        </p:nvSpPr>
        <p:spPr>
          <a:xfrm>
            <a:off x="258963" y="4957957"/>
            <a:ext cx="386048" cy="258065"/>
          </a:xfrm>
          <a:custGeom>
            <a:rect b="b" l="l" r="r" t="t"/>
            <a:pathLst>
              <a:path extrusionOk="0" h="9098" w="1361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3"/>
          <p:cNvSpPr/>
          <p:nvPr/>
        </p:nvSpPr>
        <p:spPr>
          <a:xfrm>
            <a:off x="8699345" y="1151407"/>
            <a:ext cx="174842" cy="187322"/>
          </a:xfrm>
          <a:custGeom>
            <a:rect b="b" l="l" r="r" t="t"/>
            <a:pathLst>
              <a:path extrusionOk="0" h="6604" w="6164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A4C2F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3000"/>
              <a:buFont typeface="Montserrat"/>
              <a:buNone/>
              <a:defRPr b="1" i="0" sz="3000" u="none" cap="none" strike="noStrike">
                <a:solidFill>
                  <a:srgbClr val="C4820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13875"/>
            <a:ext cx="8520600" cy="3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800"/>
              <a:buFont typeface="Montserrat Medium"/>
              <a:buChar char="●"/>
              <a:defRPr b="0" i="0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○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■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●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○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■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●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○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■"/>
              <a:defRPr b="0" i="0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tinyurl.com/66-playlist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950550" y="2143150"/>
            <a:ext cx="71367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EE 66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Voice Recognition</a:t>
            </a:r>
            <a:endParaRPr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587850" y="3090450"/>
            <a:ext cx="61218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Welcome! We’ll be starting at Berkeley Time.</a:t>
            </a:r>
            <a:endParaRPr sz="200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3765528" y="1843625"/>
            <a:ext cx="1838700" cy="1860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1" name="Google Shape;111;p2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Semester Outline</a:t>
            </a:r>
            <a:endParaRPr/>
          </a:p>
        </p:txBody>
      </p:sp>
      <p:cxnSp>
        <p:nvCxnSpPr>
          <p:cNvPr id="112" name="Google Shape;112;p2"/>
          <p:cNvCxnSpPr/>
          <p:nvPr/>
        </p:nvCxnSpPr>
        <p:spPr>
          <a:xfrm>
            <a:off x="-4800" y="2156036"/>
            <a:ext cx="9153600" cy="0"/>
          </a:xfrm>
          <a:prstGeom prst="straightConnector1">
            <a:avLst/>
          </a:prstGeom>
          <a:noFill/>
          <a:ln cap="rnd" cmpd="sng" w="19050">
            <a:solidFill>
              <a:srgbClr val="003262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13" name="Google Shape;113;p2"/>
          <p:cNvGrpSpPr/>
          <p:nvPr/>
        </p:nvGrpSpPr>
        <p:grpSpPr>
          <a:xfrm>
            <a:off x="414300" y="1920221"/>
            <a:ext cx="419100" cy="1038375"/>
            <a:chOff x="2173100" y="1946332"/>
            <a:chExt cx="419100" cy="1038375"/>
          </a:xfrm>
        </p:grpSpPr>
        <p:sp>
          <p:nvSpPr>
            <p:cNvPr id="114" name="Google Shape;114;p2"/>
            <p:cNvSpPr/>
            <p:nvPr/>
          </p:nvSpPr>
          <p:spPr>
            <a:xfrm flipH="1" rot="10800000">
              <a:off x="2173100" y="1946332"/>
              <a:ext cx="419100" cy="419400"/>
            </a:xfrm>
            <a:prstGeom prst="donut">
              <a:avLst>
                <a:gd fmla="val 24108" name="adj"/>
              </a:avLst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" name="Google Shape;115;p2"/>
            <p:cNvCxnSpPr/>
            <p:nvPr/>
          </p:nvCxnSpPr>
          <p:spPr>
            <a:xfrm>
              <a:off x="2382650" y="2108407"/>
              <a:ext cx="0" cy="876300"/>
            </a:xfrm>
            <a:prstGeom prst="straightConnector1">
              <a:avLst/>
            </a:prstGeom>
            <a:noFill/>
            <a:ln cap="flat" cmpd="sng" w="19050">
              <a:solidFill>
                <a:srgbClr val="003262"/>
              </a:solidFill>
              <a:prstDash val="solid"/>
              <a:round/>
              <a:headEnd len="med" w="med" type="oval"/>
              <a:tailEnd len="med" w="med" type="diamond"/>
            </a:ln>
          </p:spPr>
        </p:cxnSp>
      </p:grpSp>
      <p:grpSp>
        <p:nvGrpSpPr>
          <p:cNvPr id="116" name="Google Shape;116;p2"/>
          <p:cNvGrpSpPr/>
          <p:nvPr/>
        </p:nvGrpSpPr>
        <p:grpSpPr>
          <a:xfrm>
            <a:off x="2421483" y="1912899"/>
            <a:ext cx="419100" cy="1045700"/>
            <a:chOff x="4395150" y="1939011"/>
            <a:chExt cx="419100" cy="1045700"/>
          </a:xfrm>
        </p:grpSpPr>
        <p:sp>
          <p:nvSpPr>
            <p:cNvPr id="117" name="Google Shape;117;p2"/>
            <p:cNvSpPr/>
            <p:nvPr/>
          </p:nvSpPr>
          <p:spPr>
            <a:xfrm>
              <a:off x="4395150" y="1939011"/>
              <a:ext cx="419100" cy="419400"/>
            </a:xfrm>
            <a:prstGeom prst="donut">
              <a:avLst>
                <a:gd fmla="val 24108" name="adj"/>
              </a:avLst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" name="Google Shape;118;p2"/>
            <p:cNvCxnSpPr/>
            <p:nvPr/>
          </p:nvCxnSpPr>
          <p:spPr>
            <a:xfrm>
              <a:off x="4604700" y="2108411"/>
              <a:ext cx="0" cy="876300"/>
            </a:xfrm>
            <a:prstGeom prst="straightConnector1">
              <a:avLst/>
            </a:prstGeom>
            <a:noFill/>
            <a:ln cap="flat" cmpd="sng" w="19050">
              <a:solidFill>
                <a:srgbClr val="003262"/>
              </a:solidFill>
              <a:prstDash val="solid"/>
              <a:round/>
              <a:headEnd len="med" w="med" type="oval"/>
              <a:tailEnd len="med" w="med" type="diamond"/>
            </a:ln>
          </p:spPr>
        </p:cxnSp>
      </p:grpSp>
      <p:grpSp>
        <p:nvGrpSpPr>
          <p:cNvPr id="119" name="Google Shape;119;p2"/>
          <p:cNvGrpSpPr/>
          <p:nvPr/>
        </p:nvGrpSpPr>
        <p:grpSpPr>
          <a:xfrm>
            <a:off x="4428667" y="1912896"/>
            <a:ext cx="419100" cy="1045700"/>
            <a:chOff x="6551800" y="1939007"/>
            <a:chExt cx="419100" cy="1045700"/>
          </a:xfrm>
        </p:grpSpPr>
        <p:sp>
          <p:nvSpPr>
            <p:cNvPr id="120" name="Google Shape;120;p2"/>
            <p:cNvSpPr/>
            <p:nvPr/>
          </p:nvSpPr>
          <p:spPr>
            <a:xfrm flipH="1" rot="10800000">
              <a:off x="6551800" y="1939007"/>
              <a:ext cx="419100" cy="419400"/>
            </a:xfrm>
            <a:prstGeom prst="donut">
              <a:avLst>
                <a:gd fmla="val 24108" name="adj"/>
              </a:avLst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" name="Google Shape;121;p2"/>
            <p:cNvCxnSpPr/>
            <p:nvPr/>
          </p:nvCxnSpPr>
          <p:spPr>
            <a:xfrm>
              <a:off x="6761350" y="2108407"/>
              <a:ext cx="0" cy="876300"/>
            </a:xfrm>
            <a:prstGeom prst="straightConnector1">
              <a:avLst/>
            </a:prstGeom>
            <a:noFill/>
            <a:ln cap="flat" cmpd="sng" w="19050">
              <a:solidFill>
                <a:srgbClr val="003262"/>
              </a:solidFill>
              <a:prstDash val="solid"/>
              <a:round/>
              <a:headEnd len="med" w="med" type="oval"/>
              <a:tailEnd len="med" w="med" type="diamond"/>
            </a:ln>
          </p:spPr>
        </p:cxnSp>
      </p:grpSp>
      <p:sp>
        <p:nvSpPr>
          <p:cNvPr id="122" name="Google Shape;122;p2"/>
          <p:cNvSpPr txBox="1"/>
          <p:nvPr/>
        </p:nvSpPr>
        <p:spPr>
          <a:xfrm>
            <a:off x="0" y="2958600"/>
            <a:ext cx="12477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E8D9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rgbClr val="3D49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Shazam</a:t>
            </a:r>
            <a:endParaRPr b="0" i="0" sz="1800" u="none" cap="none" strike="noStrike">
              <a:solidFill>
                <a:srgbClr val="3D496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1737475" y="2965925"/>
            <a:ext cx="17871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D49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Acoustic Positioning</a:t>
            </a:r>
            <a:endParaRPr b="0" i="0" sz="1800" u="none" cap="none" strike="noStrike">
              <a:solidFill>
                <a:srgbClr val="3D4965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3765513" y="2974050"/>
            <a:ext cx="17871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D49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Voice</a:t>
            </a:r>
            <a:endParaRPr b="0" i="0" sz="1800" u="none" cap="none" strike="noStrike">
              <a:solidFill>
                <a:srgbClr val="3D496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D49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Recognition</a:t>
            </a:r>
            <a:endParaRPr sz="1800">
              <a:solidFill>
                <a:srgbClr val="3D496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25" name="Google Shape;125;p2"/>
          <p:cNvGrpSpPr/>
          <p:nvPr/>
        </p:nvGrpSpPr>
        <p:grpSpPr>
          <a:xfrm>
            <a:off x="6435850" y="1920221"/>
            <a:ext cx="419100" cy="1045700"/>
            <a:chOff x="8194650" y="1946332"/>
            <a:chExt cx="419100" cy="1045700"/>
          </a:xfrm>
        </p:grpSpPr>
        <p:sp>
          <p:nvSpPr>
            <p:cNvPr id="126" name="Google Shape;126;p2"/>
            <p:cNvSpPr/>
            <p:nvPr/>
          </p:nvSpPr>
          <p:spPr>
            <a:xfrm flipH="1" rot="10800000">
              <a:off x="8194650" y="1946332"/>
              <a:ext cx="419100" cy="419400"/>
            </a:xfrm>
            <a:prstGeom prst="donut">
              <a:avLst>
                <a:gd fmla="val 24108" name="adj"/>
              </a:avLst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7" name="Google Shape;127;p2"/>
            <p:cNvCxnSpPr/>
            <p:nvPr/>
          </p:nvCxnSpPr>
          <p:spPr>
            <a:xfrm>
              <a:off x="8404200" y="2115732"/>
              <a:ext cx="0" cy="876300"/>
            </a:xfrm>
            <a:prstGeom prst="straightConnector1">
              <a:avLst/>
            </a:prstGeom>
            <a:noFill/>
            <a:ln cap="flat" cmpd="sng" w="19050">
              <a:solidFill>
                <a:srgbClr val="003262"/>
              </a:solidFill>
              <a:prstDash val="solid"/>
              <a:round/>
              <a:headEnd len="med" w="med" type="oval"/>
              <a:tailEnd len="med" w="med" type="diamond"/>
            </a:ln>
          </p:spPr>
        </p:cxnSp>
      </p:grpSp>
      <p:sp>
        <p:nvSpPr>
          <p:cNvPr id="128" name="Google Shape;128;p2"/>
          <p:cNvSpPr txBox="1"/>
          <p:nvPr/>
        </p:nvSpPr>
        <p:spPr>
          <a:xfrm>
            <a:off x="5639350" y="2958600"/>
            <a:ext cx="20121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3D49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Image Deconvolution</a:t>
            </a:r>
            <a:endParaRPr b="0" i="0" sz="1800" u="none" cap="none" strike="noStrike">
              <a:solidFill>
                <a:srgbClr val="3D496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29" name="Google Shape;129;p2"/>
          <p:cNvGrpSpPr/>
          <p:nvPr/>
        </p:nvGrpSpPr>
        <p:grpSpPr>
          <a:xfrm>
            <a:off x="8122050" y="1920221"/>
            <a:ext cx="419100" cy="1045700"/>
            <a:chOff x="8194650" y="1946332"/>
            <a:chExt cx="419100" cy="1045700"/>
          </a:xfrm>
        </p:grpSpPr>
        <p:sp>
          <p:nvSpPr>
            <p:cNvPr id="130" name="Google Shape;130;p2"/>
            <p:cNvSpPr/>
            <p:nvPr/>
          </p:nvSpPr>
          <p:spPr>
            <a:xfrm flipH="1" rot="10800000">
              <a:off x="8194650" y="1946332"/>
              <a:ext cx="419100" cy="419400"/>
            </a:xfrm>
            <a:prstGeom prst="donut">
              <a:avLst>
                <a:gd fmla="val 24108" name="adj"/>
              </a:avLst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" name="Google Shape;131;p2"/>
            <p:cNvCxnSpPr/>
            <p:nvPr/>
          </p:nvCxnSpPr>
          <p:spPr>
            <a:xfrm>
              <a:off x="8404200" y="2115732"/>
              <a:ext cx="0" cy="876300"/>
            </a:xfrm>
            <a:prstGeom prst="straightConnector1">
              <a:avLst/>
            </a:prstGeom>
            <a:noFill/>
            <a:ln cap="flat" cmpd="sng" w="19050">
              <a:solidFill>
                <a:srgbClr val="003262"/>
              </a:solidFill>
              <a:prstDash val="solid"/>
              <a:round/>
              <a:headEnd len="med" w="med" type="oval"/>
              <a:tailEnd len="med" w="med" type="diamond"/>
            </a:ln>
          </p:spPr>
        </p:cxnSp>
      </p:grpSp>
      <p:sp>
        <p:nvSpPr>
          <p:cNvPr id="132" name="Google Shape;132;p2"/>
          <p:cNvSpPr txBox="1"/>
          <p:nvPr/>
        </p:nvSpPr>
        <p:spPr>
          <a:xfrm>
            <a:off x="7264600" y="2958600"/>
            <a:ext cx="20121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3D49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Medical Imaging</a:t>
            </a:r>
            <a:endParaRPr b="0" i="0" sz="1800" u="none" cap="none" strike="noStrike">
              <a:solidFill>
                <a:srgbClr val="3D496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Today’s Agenda</a:t>
            </a:r>
            <a:endParaRPr/>
          </a:p>
        </p:txBody>
      </p:sp>
      <p:sp>
        <p:nvSpPr>
          <p:cNvPr id="138" name="Google Shape;138;p3"/>
          <p:cNvSpPr txBox="1"/>
          <p:nvPr>
            <p:ph idx="1" type="body"/>
          </p:nvPr>
        </p:nvSpPr>
        <p:spPr>
          <a:xfrm>
            <a:off x="311700" y="1027025"/>
            <a:ext cx="85206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Voice Classification Problem Overview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SVD / PCA Conceptual Review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Using SVD / PCA for Voice Classification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Tips for Best Performance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Voice Recognition Problem</a:t>
            </a:r>
            <a:endParaRPr/>
          </a:p>
        </p:txBody>
      </p:sp>
      <p:sp>
        <p:nvSpPr>
          <p:cNvPr id="144" name="Google Shape;144;p4"/>
          <p:cNvSpPr txBox="1"/>
          <p:nvPr>
            <p:ph idx="1" type="body"/>
          </p:nvPr>
        </p:nvSpPr>
        <p:spPr>
          <a:xfrm>
            <a:off x="311700" y="1000025"/>
            <a:ext cx="8367300" cy="3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Have: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Set of words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40 recordings of someone speaking each word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Want: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A model that can be given a </a:t>
            </a: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new </a:t>
            </a:r>
            <a:r>
              <a:rPr lang="en" sz="1900"/>
              <a:t>recording (audio signal) of the spoken word and predict which word it is!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In other words, given a training dataset, “train” a classifier model that takes audio signals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Machine Learning!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Voice Classification Solution</a:t>
            </a:r>
            <a:endParaRPr/>
          </a:p>
        </p:txBody>
      </p:sp>
      <p:sp>
        <p:nvSpPr>
          <p:cNvPr id="150" name="Google Shape;150;p5"/>
          <p:cNvSpPr txBox="1"/>
          <p:nvPr>
            <p:ph idx="1" type="body"/>
          </p:nvPr>
        </p:nvSpPr>
        <p:spPr>
          <a:xfrm>
            <a:off x="311700" y="1000025"/>
            <a:ext cx="4794900" cy="3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900"/>
              <a:t>Our voice classification system: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Data Pre-Processing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SVD and PCA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Centroid Classification 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Validation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Voice Classification Solution</a:t>
            </a:r>
            <a:endParaRPr/>
          </a:p>
        </p:txBody>
      </p:sp>
      <p:sp>
        <p:nvSpPr>
          <p:cNvPr id="156" name="Google Shape;156;p6"/>
          <p:cNvSpPr txBox="1"/>
          <p:nvPr>
            <p:ph idx="1" type="body"/>
          </p:nvPr>
        </p:nvSpPr>
        <p:spPr>
          <a:xfrm>
            <a:off x="311700" y="1000025"/>
            <a:ext cx="4794900" cy="3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900"/>
              <a:t>Our voice classification system: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Montserrat"/>
              <a:buAutoNum type="arabicPeriod"/>
            </a:pP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Data Pre-Processing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SVD and PCA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Centroid Classification 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Validation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Data Preprocessing/Word Alignment</a:t>
            </a:r>
            <a:endParaRPr/>
          </a:p>
        </p:txBody>
      </p:sp>
      <p:sp>
        <p:nvSpPr>
          <p:cNvPr id="162" name="Google Shape;162;p7"/>
          <p:cNvSpPr txBox="1"/>
          <p:nvPr>
            <p:ph idx="1" type="body"/>
          </p:nvPr>
        </p:nvSpPr>
        <p:spPr>
          <a:xfrm>
            <a:off x="311700" y="1027025"/>
            <a:ext cx="44613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Trim and align each recording to locate and isolate the spoken word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Char char="○"/>
            </a:pPr>
            <a:r>
              <a:rPr b="1" i="1" lang="en" sz="1500"/>
              <a:t>Threshold</a:t>
            </a:r>
            <a:r>
              <a:rPr i="1" lang="en" sz="1500"/>
              <a:t> </a:t>
            </a:r>
            <a:r>
              <a:rPr lang="en" sz="1500"/>
              <a:t>- percentage of the max value needed to trigger a word start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Char char="○"/>
            </a:pPr>
            <a:r>
              <a:rPr b="1" i="1" lang="en" sz="1500"/>
              <a:t>Pre-length</a:t>
            </a:r>
            <a:r>
              <a:rPr b="1" lang="en" sz="1500"/>
              <a:t> - </a:t>
            </a:r>
            <a:r>
              <a:rPr lang="en" sz="1500"/>
              <a:t>how many samples before we hit the threshold did we start speaking the word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Char char="○"/>
            </a:pPr>
            <a:r>
              <a:rPr b="1" i="1" lang="en" sz="1500"/>
              <a:t>Length - </a:t>
            </a:r>
            <a:r>
              <a:rPr lang="en" sz="1500"/>
              <a:t>how many samples long the recording is</a:t>
            </a:r>
            <a:endParaRPr sz="1900"/>
          </a:p>
        </p:txBody>
      </p:sp>
      <p:pic>
        <p:nvPicPr>
          <p:cNvPr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9505" y="1800974"/>
            <a:ext cx="2149824" cy="137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8650" y="1800975"/>
            <a:ext cx="2126849" cy="137817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/>
          <p:cNvSpPr txBox="1"/>
          <p:nvPr/>
        </p:nvSpPr>
        <p:spPr>
          <a:xfrm>
            <a:off x="4881675" y="3237275"/>
            <a:ext cx="397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Word example: “meat”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693950" y="2341721"/>
            <a:ext cx="224700" cy="193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Voice Classification Solution</a:t>
            </a:r>
            <a:endParaRPr/>
          </a:p>
        </p:txBody>
      </p:sp>
      <p:sp>
        <p:nvSpPr>
          <p:cNvPr id="172" name="Google Shape;172;p8"/>
          <p:cNvSpPr txBox="1"/>
          <p:nvPr>
            <p:ph idx="1" type="body"/>
          </p:nvPr>
        </p:nvSpPr>
        <p:spPr>
          <a:xfrm>
            <a:off x="311700" y="1000025"/>
            <a:ext cx="4794900" cy="3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900"/>
              <a:t>Our voice classification system: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Data Pre-Processing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AutoNum type="arabicPeriod"/>
            </a:pP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SVD and PCA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Centroid Classification 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Validation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1650" y="2936827"/>
            <a:ext cx="4843975" cy="145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7000" y="1182275"/>
            <a:ext cx="4378625" cy="165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Singular Value Decomposition (SVD)</a:t>
            </a:r>
            <a:endParaRPr/>
          </a:p>
        </p:txBody>
      </p:sp>
      <p:sp>
        <p:nvSpPr>
          <p:cNvPr id="180" name="Google Shape;180;p9"/>
          <p:cNvSpPr txBox="1"/>
          <p:nvPr>
            <p:ph idx="1" type="body"/>
          </p:nvPr>
        </p:nvSpPr>
        <p:spPr>
          <a:xfrm>
            <a:off x="311700" y="1000025"/>
            <a:ext cx="4335300" cy="3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What is SVD?</a:t>
            </a:r>
            <a:endParaRPr sz="19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Decompose a matrix</a:t>
            </a:r>
            <a:r>
              <a:rPr lang="en" sz="1700"/>
              <a:t> into 3 separate matrices with unique properties</a:t>
            </a:r>
            <a:endParaRPr sz="17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U</a:t>
            </a:r>
            <a:endParaRPr sz="19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Orthonormal eigenvectors of AA</a:t>
            </a:r>
            <a:r>
              <a:rPr baseline="30000" lang="en" sz="1400"/>
              <a:t>T</a:t>
            </a:r>
            <a:endParaRPr baseline="30000"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 rotation matrix!</a:t>
            </a:r>
            <a:endParaRPr sz="14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</a:t>
            </a:r>
            <a:endParaRPr sz="19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Diagonal matrix of singular values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Think of as a scaling matrix!</a:t>
            </a:r>
            <a:endParaRPr sz="14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V</a:t>
            </a:r>
            <a:endParaRPr sz="19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Orthonormal eigenvectors of A</a:t>
            </a:r>
            <a:r>
              <a:rPr baseline="30000" lang="en" sz="1400"/>
              <a:t>T</a:t>
            </a:r>
            <a:r>
              <a:rPr lang="en" sz="1400"/>
              <a:t>A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Another rotation matrix!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3754" y="685900"/>
            <a:ext cx="2387551" cy="228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"/>
          <p:cNvSpPr txBox="1"/>
          <p:nvPr/>
        </p:nvSpPr>
        <p:spPr>
          <a:xfrm>
            <a:off x="6223674" y="2787962"/>
            <a:ext cx="214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Principal Components of Data Example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10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Principal Components Analysis (PCA)</a:t>
            </a:r>
            <a:endParaRPr/>
          </a:p>
        </p:txBody>
      </p:sp>
      <p:sp>
        <p:nvSpPr>
          <p:cNvPr id="188" name="Google Shape;188;p10"/>
          <p:cNvSpPr txBox="1"/>
          <p:nvPr>
            <p:ph idx="1" type="body"/>
          </p:nvPr>
        </p:nvSpPr>
        <p:spPr>
          <a:xfrm>
            <a:off x="356175" y="910325"/>
            <a:ext cx="5017200" cy="40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PCA</a:t>
            </a:r>
            <a:r>
              <a:rPr lang="en" sz="1400"/>
              <a:t> = </a:t>
            </a:r>
            <a:r>
              <a:rPr lang="en" sz="1400" u="sng"/>
              <a:t>P</a:t>
            </a:r>
            <a:r>
              <a:rPr lang="en" sz="1400"/>
              <a:t>rincipal </a:t>
            </a:r>
            <a:r>
              <a:rPr lang="en" sz="1400" u="sng"/>
              <a:t>C</a:t>
            </a:r>
            <a:r>
              <a:rPr lang="en" sz="1400"/>
              <a:t>omponent </a:t>
            </a:r>
            <a:r>
              <a:rPr lang="en" sz="1400" u="sng"/>
              <a:t>A</a:t>
            </a:r>
            <a:r>
              <a:rPr lang="en" sz="1400"/>
              <a:t>nalysis</a:t>
            </a:r>
            <a:endParaRPr sz="14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600"/>
              <a:t>Principal components: </a:t>
            </a:r>
            <a:r>
              <a:rPr lang="en" sz="1600"/>
              <a:t>basis vectors that maximize variance in our data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Oftentimes, we can capture most of the data’s behavior with just a few principal components!</a:t>
            </a:r>
            <a:endParaRPr sz="16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■"/>
            </a:pPr>
            <a:r>
              <a:rPr b="1" lang="en" sz="1300">
                <a:latin typeface="Montserrat"/>
                <a:ea typeface="Montserrat"/>
                <a:cs typeface="Montserrat"/>
                <a:sym typeface="Montserrat"/>
              </a:rPr>
              <a:t>Fewer dimensions is easier to work with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How do we compute PCA?</a:t>
            </a:r>
            <a:endParaRPr sz="17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Let’s use SVD!!!!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Take the vectors that correspond with the highest singular values since those are the “most important” transformations of a matrix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The principal components of our setup are the column vectors from V</a:t>
            </a:r>
            <a:endParaRPr sz="1300"/>
          </a:p>
        </p:txBody>
      </p:sp>
      <p:pic>
        <p:nvPicPr>
          <p:cNvPr id="189" name="Google Shape;18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3753" y="3209800"/>
            <a:ext cx="2387550" cy="158024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0"/>
          <p:cNvSpPr txBox="1"/>
          <p:nvPr/>
        </p:nvSpPr>
        <p:spPr>
          <a:xfrm>
            <a:off x="6492775" y="4711850"/>
            <a:ext cx="182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Sigma Values Example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Organization of our Data</a:t>
            </a:r>
            <a:endParaRPr/>
          </a:p>
        </p:txBody>
      </p:sp>
      <p:sp>
        <p:nvSpPr>
          <p:cNvPr id="196" name="Google Shape;196;p11"/>
          <p:cNvSpPr txBox="1"/>
          <p:nvPr>
            <p:ph idx="1" type="body"/>
          </p:nvPr>
        </p:nvSpPr>
        <p:spPr>
          <a:xfrm>
            <a:off x="311700" y="1000025"/>
            <a:ext cx="8402100" cy="13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Each recording is a vector of some numbers that represent our sampled audio signal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Given our data, what can we do to classify a new recording? What are some features that we can compare?</a:t>
            </a:r>
            <a:endParaRPr sz="1900"/>
          </a:p>
        </p:txBody>
      </p:sp>
      <p:sp>
        <p:nvSpPr>
          <p:cNvPr id="197" name="Google Shape;197;p11"/>
          <p:cNvSpPr txBox="1"/>
          <p:nvPr/>
        </p:nvSpPr>
        <p:spPr>
          <a:xfrm>
            <a:off x="2369550" y="2641450"/>
            <a:ext cx="4404900" cy="415500"/>
          </a:xfrm>
          <a:prstGeom prst="rect">
            <a:avLst/>
          </a:prstGeom>
          <a:noFill/>
          <a:ln cap="flat" cmpd="sng" w="9525">
            <a:solidFill>
              <a:srgbClr val="003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3262"/>
                </a:solidFill>
                <a:latin typeface="Courier New"/>
                <a:ea typeface="Courier New"/>
                <a:cs typeface="Courier New"/>
                <a:sym typeface="Courier New"/>
              </a:rPr>
              <a:t>Recording 0 =  [-64, 30, 24, 52, …]</a:t>
            </a:r>
            <a:endParaRPr b="0" i="0" sz="1500" u="none" cap="none" strike="noStrike">
              <a:solidFill>
                <a:srgbClr val="00326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2369550" y="3125050"/>
            <a:ext cx="4404900" cy="415500"/>
          </a:xfrm>
          <a:prstGeom prst="rect">
            <a:avLst/>
          </a:prstGeom>
          <a:noFill/>
          <a:ln cap="flat" cmpd="sng" w="9525">
            <a:solidFill>
              <a:srgbClr val="003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3262"/>
                </a:solidFill>
                <a:latin typeface="Courier New"/>
                <a:ea typeface="Courier New"/>
                <a:cs typeface="Courier New"/>
                <a:sym typeface="Courier New"/>
              </a:rPr>
              <a:t>Recording 1 =  [-54, 86, 78, 64, …]</a:t>
            </a:r>
            <a:endParaRPr b="0" i="0" sz="1500" u="none" cap="none" strike="noStrike">
              <a:solidFill>
                <a:srgbClr val="00326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2369550" y="3608650"/>
            <a:ext cx="4404900" cy="415500"/>
          </a:xfrm>
          <a:prstGeom prst="rect">
            <a:avLst/>
          </a:prstGeom>
          <a:noFill/>
          <a:ln cap="flat" cmpd="sng" w="9525">
            <a:solidFill>
              <a:srgbClr val="003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3262"/>
                </a:solidFill>
                <a:latin typeface="Courier New"/>
                <a:ea typeface="Courier New"/>
                <a:cs typeface="Courier New"/>
                <a:sym typeface="Courier New"/>
              </a:rPr>
              <a:t>Recording 2 =  [32, 64, 50, -110 …]</a:t>
            </a:r>
            <a:endParaRPr b="0" i="0" sz="1500" u="none" cap="none" strike="noStrike">
              <a:solidFill>
                <a:srgbClr val="00326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2369550" y="4092250"/>
            <a:ext cx="4404900" cy="415500"/>
          </a:xfrm>
          <a:prstGeom prst="rect">
            <a:avLst/>
          </a:prstGeom>
          <a:noFill/>
          <a:ln cap="flat" cmpd="sng" w="9525">
            <a:solidFill>
              <a:srgbClr val="003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3262"/>
                </a:solidFill>
                <a:latin typeface="Courier New"/>
                <a:ea typeface="Courier New"/>
                <a:cs typeface="Courier New"/>
                <a:sym typeface="Courier New"/>
              </a:rPr>
              <a:t>Recording 3 =  [-40, 70, 4, -36, …]</a:t>
            </a:r>
            <a:endParaRPr b="0" i="0" sz="1500" u="none" cap="none" strike="noStrike">
              <a:solidFill>
                <a:srgbClr val="00326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 rot="5400000">
            <a:off x="4568750" y="4680775"/>
            <a:ext cx="5163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…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Features</a:t>
            </a:r>
            <a:endParaRPr/>
          </a:p>
        </p:txBody>
      </p:sp>
      <p:sp>
        <p:nvSpPr>
          <p:cNvPr id="207" name="Google Shape;207;p12"/>
          <p:cNvSpPr txBox="1"/>
          <p:nvPr>
            <p:ph idx="1" type="body"/>
          </p:nvPr>
        </p:nvSpPr>
        <p:spPr>
          <a:xfrm>
            <a:off x="370950" y="802925"/>
            <a:ext cx="8402100" cy="13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Stack all the recordings into a matrix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Each row is a recording 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Each column is an audio sample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Audio samples are used as features - how to distinguish one datapoint from another</a:t>
            </a:r>
            <a:endParaRPr sz="1800"/>
          </a:p>
        </p:txBody>
      </p:sp>
      <p:sp>
        <p:nvSpPr>
          <p:cNvPr id="208" name="Google Shape;208;p12"/>
          <p:cNvSpPr txBox="1"/>
          <p:nvPr/>
        </p:nvSpPr>
        <p:spPr>
          <a:xfrm>
            <a:off x="2369550" y="2843725"/>
            <a:ext cx="4404900" cy="415500"/>
          </a:xfrm>
          <a:prstGeom prst="rect">
            <a:avLst/>
          </a:prstGeom>
          <a:noFill/>
          <a:ln cap="flat" cmpd="sng" w="9525">
            <a:solidFill>
              <a:srgbClr val="003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3262"/>
                </a:solidFill>
                <a:latin typeface="Courier New"/>
                <a:ea typeface="Courier New"/>
                <a:cs typeface="Courier New"/>
                <a:sym typeface="Courier New"/>
              </a:rPr>
              <a:t>Recording 0 =  [-64, 30, 24, 52, …]</a:t>
            </a:r>
            <a:endParaRPr b="0" i="0" sz="1500" u="none" cap="none" strike="noStrike">
              <a:solidFill>
                <a:srgbClr val="00326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2369550" y="3327325"/>
            <a:ext cx="4404900" cy="415500"/>
          </a:xfrm>
          <a:prstGeom prst="rect">
            <a:avLst/>
          </a:prstGeom>
          <a:noFill/>
          <a:ln cap="flat" cmpd="sng" w="9525">
            <a:solidFill>
              <a:srgbClr val="003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3262"/>
                </a:solidFill>
                <a:latin typeface="Courier New"/>
                <a:ea typeface="Courier New"/>
                <a:cs typeface="Courier New"/>
                <a:sym typeface="Courier New"/>
              </a:rPr>
              <a:t>Recording 1 =  [-54, 86, 78, 64, …]</a:t>
            </a:r>
            <a:endParaRPr b="0" i="0" sz="1500" u="none" cap="none" strike="noStrike">
              <a:solidFill>
                <a:srgbClr val="00326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2369550" y="3810925"/>
            <a:ext cx="4404900" cy="415500"/>
          </a:xfrm>
          <a:prstGeom prst="rect">
            <a:avLst/>
          </a:prstGeom>
          <a:noFill/>
          <a:ln cap="flat" cmpd="sng" w="9525">
            <a:solidFill>
              <a:srgbClr val="003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3262"/>
                </a:solidFill>
                <a:latin typeface="Courier New"/>
                <a:ea typeface="Courier New"/>
                <a:cs typeface="Courier New"/>
                <a:sym typeface="Courier New"/>
              </a:rPr>
              <a:t>Recording 2 =  [ 32, 64, 50, -110 …]</a:t>
            </a:r>
            <a:endParaRPr b="0" i="0" sz="1500" u="none" cap="none" strike="noStrike">
              <a:solidFill>
                <a:srgbClr val="00326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2369550" y="4294525"/>
            <a:ext cx="4404900" cy="415500"/>
          </a:xfrm>
          <a:prstGeom prst="rect">
            <a:avLst/>
          </a:prstGeom>
          <a:noFill/>
          <a:ln cap="flat" cmpd="sng" w="9525">
            <a:solidFill>
              <a:srgbClr val="003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3262"/>
                </a:solidFill>
                <a:latin typeface="Courier New"/>
                <a:ea typeface="Courier New"/>
                <a:cs typeface="Courier New"/>
                <a:sym typeface="Courier New"/>
              </a:rPr>
              <a:t>Recording 3 =  [-40, 70, 4,  -36, …]</a:t>
            </a:r>
            <a:endParaRPr b="0" i="0" sz="1500" u="none" cap="none" strike="noStrike">
              <a:solidFill>
                <a:srgbClr val="00326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 rot="5400000">
            <a:off x="4568750" y="4836625"/>
            <a:ext cx="5163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…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4266775" y="2843725"/>
            <a:ext cx="428700" cy="1866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4803975" y="2843725"/>
            <a:ext cx="365400" cy="1866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5272963" y="2843725"/>
            <a:ext cx="365400" cy="1866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5741950" y="2843725"/>
            <a:ext cx="507300" cy="1866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3225775" y="2387325"/>
            <a:ext cx="104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feature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4328425" y="2387325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4831525" y="2387325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5302963" y="2387325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5842888" y="2387325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 b="0" i="0" sz="18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Computing PCA via SVD</a:t>
            </a:r>
            <a:endParaRPr/>
          </a:p>
        </p:txBody>
      </p:sp>
      <p:sp>
        <p:nvSpPr>
          <p:cNvPr id="227" name="Google Shape;227;p13"/>
          <p:cNvSpPr txBox="1"/>
          <p:nvPr>
            <p:ph idx="1" type="body"/>
          </p:nvPr>
        </p:nvSpPr>
        <p:spPr>
          <a:xfrm>
            <a:off x="460950" y="92382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Split our data into (70%) training and (30%) testing data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training data for the steps below, save testing data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Stack the aligned words in a data matrix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Zero-mean (“demean”) the data using the mean of each timestep (each “feature”) in preparation for SVD</a:t>
            </a:r>
            <a:endParaRPr/>
          </a:p>
        </p:txBody>
      </p:sp>
      <p:grpSp>
        <p:nvGrpSpPr>
          <p:cNvPr id="228" name="Google Shape;228;p13"/>
          <p:cNvGrpSpPr/>
          <p:nvPr/>
        </p:nvGrpSpPr>
        <p:grpSpPr>
          <a:xfrm>
            <a:off x="1860009" y="3164211"/>
            <a:ext cx="6238164" cy="1826879"/>
            <a:chOff x="1108954" y="2345975"/>
            <a:chExt cx="6241285" cy="2473100"/>
          </a:xfrm>
        </p:grpSpPr>
        <p:sp>
          <p:nvSpPr>
            <p:cNvPr id="229" name="Google Shape;229;p13"/>
            <p:cNvSpPr/>
            <p:nvPr/>
          </p:nvSpPr>
          <p:spPr>
            <a:xfrm>
              <a:off x="2569950" y="2345975"/>
              <a:ext cx="2501700" cy="3912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word1_processed_train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2569950" y="2828800"/>
              <a:ext cx="2501700" cy="391200"/>
            </a:xfrm>
            <a:prstGeom prst="rect">
              <a:avLst/>
            </a:prstGeom>
            <a:solidFill>
              <a:srgbClr val="B4A7D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word2_processed_train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2569950" y="3311625"/>
              <a:ext cx="2501700" cy="391200"/>
            </a:xfrm>
            <a:prstGeom prst="rect">
              <a:avLst/>
            </a:prstGeom>
            <a:solidFill>
              <a:srgbClr val="D5A6B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word3_processed_train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2569950" y="3794450"/>
              <a:ext cx="2501700" cy="3912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word4_processed_train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3"/>
            <p:cNvSpPr txBox="1"/>
            <p:nvPr/>
          </p:nvSpPr>
          <p:spPr>
            <a:xfrm>
              <a:off x="1108954" y="3065725"/>
              <a:ext cx="1461000" cy="54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demeaned_A =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3"/>
            <p:cNvSpPr txBox="1"/>
            <p:nvPr/>
          </p:nvSpPr>
          <p:spPr>
            <a:xfrm>
              <a:off x="4995539" y="3065738"/>
              <a:ext cx="2354700" cy="54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75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-"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mean(processed_A)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3"/>
            <p:cNvSpPr txBox="1"/>
            <p:nvPr/>
          </p:nvSpPr>
          <p:spPr>
            <a:xfrm>
              <a:off x="3200700" y="4277275"/>
              <a:ext cx="1240200" cy="54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processed_A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Voice Classification Solution</a:t>
            </a:r>
            <a:endParaRPr/>
          </a:p>
        </p:txBody>
      </p:sp>
      <p:sp>
        <p:nvSpPr>
          <p:cNvPr id="241" name="Google Shape;241;p14"/>
          <p:cNvSpPr txBox="1"/>
          <p:nvPr>
            <p:ph idx="1" type="body"/>
          </p:nvPr>
        </p:nvSpPr>
        <p:spPr>
          <a:xfrm>
            <a:off x="311700" y="1000025"/>
            <a:ext cx="4794900" cy="3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900"/>
              <a:t>Our voice classification system: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Data Pre-Processing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SVD and PCA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AutoNum type="arabicPeriod"/>
            </a:pP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Centroid Classification 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Validation</a:t>
            </a:r>
            <a:endParaRPr sz="1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15"/>
          <p:cNvGrpSpPr/>
          <p:nvPr/>
        </p:nvGrpSpPr>
        <p:grpSpPr>
          <a:xfrm>
            <a:off x="6550672" y="2939026"/>
            <a:ext cx="2539942" cy="1140736"/>
            <a:chOff x="5132550" y="3557775"/>
            <a:chExt cx="3272700" cy="1653001"/>
          </a:xfrm>
        </p:grpSpPr>
        <p:pic>
          <p:nvPicPr>
            <p:cNvPr descr="Screen Shot 2016-11-06 at 10.36.25 PM.png" id="248" name="Google Shape;248;p15"/>
            <p:cNvPicPr preferRelativeResize="0"/>
            <p:nvPr/>
          </p:nvPicPr>
          <p:blipFill rotWithShape="1">
            <a:blip r:embed="rId3">
              <a:alphaModFix/>
            </a:blip>
            <a:srcRect b="5448" l="12389" r="8645" t="56101"/>
            <a:stretch/>
          </p:blipFill>
          <p:spPr>
            <a:xfrm>
              <a:off x="5132550" y="3557775"/>
              <a:ext cx="3272700" cy="1653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15"/>
            <p:cNvSpPr/>
            <p:nvPr/>
          </p:nvSpPr>
          <p:spPr>
            <a:xfrm>
              <a:off x="5975025" y="4241213"/>
              <a:ext cx="345300" cy="222000"/>
            </a:xfrm>
            <a:prstGeom prst="diamond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7162800" y="4273163"/>
              <a:ext cx="345300" cy="222000"/>
            </a:xfrm>
            <a:prstGeom prst="diamond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" name="Google Shape;251;p15"/>
          <p:cNvSpPr txBox="1"/>
          <p:nvPr>
            <p:ph idx="1" type="body"/>
          </p:nvPr>
        </p:nvSpPr>
        <p:spPr>
          <a:xfrm>
            <a:off x="241675" y="1063750"/>
            <a:ext cx="6596100" cy="28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now have: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Labelled training data </a:t>
            </a:r>
            <a:r>
              <a:rPr lang="en" sz="1200"/>
              <a:t>(70% of Original Data)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800"/>
              <a:t>Axes of most variation (PCA basis vectors)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data onto basis vectors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projected centroid (mean) for each word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To classify new points (unlabelled data), project it onto these basis vectors and finding which centroid it is closest to</a:t>
            </a:r>
            <a:endParaRPr sz="1500"/>
          </a:p>
        </p:txBody>
      </p:sp>
      <p:sp>
        <p:nvSpPr>
          <p:cNvPr id="252" name="Google Shape;252;p15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Centroid Classification</a:t>
            </a:r>
            <a:endParaRPr/>
          </a:p>
        </p:txBody>
      </p:sp>
      <p:pic>
        <p:nvPicPr>
          <p:cNvPr descr="Screen Shot 2016-11-06 at 10.36.25 PM.png" id="253" name="Google Shape;253;p15"/>
          <p:cNvPicPr preferRelativeResize="0"/>
          <p:nvPr/>
        </p:nvPicPr>
        <p:blipFill rotWithShape="1">
          <a:blip r:embed="rId3">
            <a:alphaModFix/>
          </a:blip>
          <a:srcRect b="5448" l="12389" r="8645" t="56101"/>
          <a:stretch/>
        </p:blipFill>
        <p:spPr>
          <a:xfrm>
            <a:off x="6550750" y="1063739"/>
            <a:ext cx="2539800" cy="12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5"/>
          <p:cNvSpPr/>
          <p:nvPr/>
        </p:nvSpPr>
        <p:spPr>
          <a:xfrm rot="5400000">
            <a:off x="7483600" y="2458687"/>
            <a:ext cx="674100" cy="350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0025C4"/>
              </a:gs>
              <a:gs pos="34000">
                <a:srgbClr val="0028BC"/>
              </a:gs>
              <a:gs pos="70000">
                <a:srgbClr val="002DD4"/>
              </a:gs>
              <a:gs pos="100000">
                <a:srgbClr val="1240BD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r" dir="2700000" dist="254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Voice Classification Solution</a:t>
            </a:r>
            <a:endParaRPr/>
          </a:p>
        </p:txBody>
      </p:sp>
      <p:sp>
        <p:nvSpPr>
          <p:cNvPr id="260" name="Google Shape;260;p16"/>
          <p:cNvSpPr txBox="1"/>
          <p:nvPr>
            <p:ph idx="1" type="body"/>
          </p:nvPr>
        </p:nvSpPr>
        <p:spPr>
          <a:xfrm>
            <a:off x="311700" y="1000025"/>
            <a:ext cx="4794900" cy="3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900"/>
              <a:t>Our voice classification system: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Data Pre-Processing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SVD and PCA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Centroid Classification 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AutoNum type="arabicPeriod"/>
            </a:pP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"/>
          <p:cNvSpPr txBox="1"/>
          <p:nvPr>
            <p:ph idx="1" type="body"/>
          </p:nvPr>
        </p:nvSpPr>
        <p:spPr>
          <a:xfrm>
            <a:off x="-60200" y="934100"/>
            <a:ext cx="4891500" cy="2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900"/>
              <a:t>Using the 30% of data set aside, verify the accuracy of our classifier</a:t>
            </a:r>
            <a:endParaRPr sz="19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Project test data onto our PCA vectors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Subtract projected mean vector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Assign to closest centroid in 3D space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Check if classified centroid is the same as the data label</a:t>
            </a:r>
            <a:endParaRPr sz="1400"/>
          </a:p>
        </p:txBody>
      </p:sp>
      <p:sp>
        <p:nvSpPr>
          <p:cNvPr id="267" name="Google Shape;267;p17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Verify your Classifier</a:t>
            </a:r>
            <a:endParaRPr/>
          </a:p>
        </p:txBody>
      </p:sp>
      <p:pic>
        <p:nvPicPr>
          <p:cNvPr id="268" name="Google Shape;2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49" y="2991224"/>
            <a:ext cx="3404675" cy="200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7"/>
          <p:cNvPicPr preferRelativeResize="0"/>
          <p:nvPr/>
        </p:nvPicPr>
        <p:blipFill rotWithShape="1">
          <a:blip r:embed="rId4">
            <a:alphaModFix/>
          </a:blip>
          <a:srcRect b="47677" l="23098" r="5259" t="0"/>
          <a:stretch/>
        </p:blipFill>
        <p:spPr>
          <a:xfrm>
            <a:off x="5004375" y="2872200"/>
            <a:ext cx="4139626" cy="159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7"/>
          <p:cNvSpPr txBox="1"/>
          <p:nvPr/>
        </p:nvSpPr>
        <p:spPr>
          <a:xfrm>
            <a:off x="4589200" y="934100"/>
            <a:ext cx="4595400" cy="22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Aim for at least 80% accuracy on all words with the test data!</a:t>
            </a:r>
            <a:endParaRPr b="0" i="0" sz="19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400"/>
              <a:buFont typeface="Montserrat Medium"/>
              <a:buChar char="○"/>
            </a:pPr>
            <a:r>
              <a:rPr b="0" i="0" lang="en" sz="1400" u="none" cap="none" strike="noStrike">
                <a:solidFill>
                  <a:srgbClr val="00326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machine learning, it is standard practice to follow this “set aside” method to verify that the classification works and isn’t overfitting</a:t>
            </a:r>
            <a:endParaRPr b="0" i="0" sz="12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326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Word Dataset Guidelines</a:t>
            </a:r>
            <a:endParaRPr/>
          </a:p>
        </p:txBody>
      </p:sp>
      <p:sp>
        <p:nvSpPr>
          <p:cNvPr id="276" name="Google Shape;276;p18"/>
          <p:cNvSpPr txBox="1"/>
          <p:nvPr>
            <p:ph idx="1" type="body"/>
          </p:nvPr>
        </p:nvSpPr>
        <p:spPr>
          <a:xfrm>
            <a:off x="311700" y="1027025"/>
            <a:ext cx="85206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Speech pattern recognition, not word recognition</a:t>
            </a:r>
            <a:endParaRPr/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600"/>
              <a:t>Actual word doesn’t matter, but the speech pattern for the word does!</a:t>
            </a:r>
            <a:endParaRPr sz="1600"/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600"/>
              <a:t>Enunciate syllables well to make clear distinctions</a:t>
            </a:r>
            <a:endParaRPr sz="16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Generally, we try to use words with: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Different syllables (e.g. pear, apple, banana, watermelon)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Different endings (hard vs. soft, , e.g back vs. shoe)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Data Collection Guidelines</a:t>
            </a:r>
            <a:endParaRPr/>
          </a:p>
        </p:txBody>
      </p:sp>
      <p:sp>
        <p:nvSpPr>
          <p:cNvPr id="282" name="Google Shape;282;p19"/>
          <p:cNvSpPr txBox="1"/>
          <p:nvPr>
            <p:ph idx="1" type="body"/>
          </p:nvPr>
        </p:nvSpPr>
        <p:spPr>
          <a:xfrm>
            <a:off x="439200" y="1000025"/>
            <a:ext cx="8265600" cy="3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provide 4 word datasets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[Optional] You can collect 40 recordings of one word of your choosing, making the total 5 words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PLEASE SAVE YOUR NOTEBOOK AND RECORDINGS WHEN YOU’RE DONE! YOU WILL NEED IT FOR NEXT WEEK (save entire folder as .zip and send to yourself / save to Google Drive)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"/>
          <p:cNvSpPr txBox="1"/>
          <p:nvPr>
            <p:ph type="title"/>
          </p:nvPr>
        </p:nvSpPr>
        <p:spPr>
          <a:xfrm>
            <a:off x="366925" y="301225"/>
            <a:ext cx="4142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Checking-off Today</a:t>
            </a:r>
            <a:endParaRPr/>
          </a:p>
        </p:txBody>
      </p:sp>
      <p:sp>
        <p:nvSpPr>
          <p:cNvPr id="288" name="Google Shape;288;p20"/>
          <p:cNvSpPr txBox="1"/>
          <p:nvPr>
            <p:ph idx="1" type="body"/>
          </p:nvPr>
        </p:nvSpPr>
        <p:spPr>
          <a:xfrm>
            <a:off x="363400" y="1013875"/>
            <a:ext cx="80607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You must test your voice classifier in Cory 111 (Task 6)</a:t>
            </a:r>
            <a:endParaRPr sz="1900"/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Follow the directions linked at bottom of the lab</a:t>
            </a:r>
            <a:endParaRPr sz="1900"/>
          </a:p>
          <a:p>
            <a:pPr indent="-3492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Fill out Google form</a:t>
            </a:r>
            <a:endParaRPr sz="1900"/>
          </a:p>
          <a:p>
            <a:pPr indent="-3492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Station number: Sit at a lab computer and enter the number ## on the monitor (c111-##)</a:t>
            </a:r>
            <a:endParaRPr sz="1900"/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During checkoff:</a:t>
            </a:r>
            <a:endParaRPr sz="1900"/>
          </a:p>
          <a:p>
            <a:pPr indent="-3492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You will be asked a series of conceptual questions. Make sure you fully understand what is going on.</a:t>
            </a:r>
            <a:endParaRPr sz="1900"/>
          </a:p>
          <a:p>
            <a:pPr indent="-3492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If you want to add songs to our playlist: </a:t>
            </a:r>
            <a:r>
              <a:rPr lang="en" sz="1900" u="sng">
                <a:solidFill>
                  <a:schemeClr val="hlink"/>
                </a:solidFill>
                <a:hlinkClick r:id="rId3"/>
              </a:rPr>
              <a:t>tinyurl.com/66-playlist</a:t>
            </a:r>
            <a:endParaRPr sz="1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 txBox="1"/>
          <p:nvPr>
            <p:ph type="title"/>
          </p:nvPr>
        </p:nvSpPr>
        <p:spPr>
          <a:xfrm>
            <a:off x="311700" y="2926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Lab Computer Setup</a:t>
            </a:r>
            <a:endParaRPr/>
          </a:p>
        </p:txBody>
      </p:sp>
      <p:sp>
        <p:nvSpPr>
          <p:cNvPr id="294" name="Google Shape;294;p21"/>
          <p:cNvSpPr txBox="1"/>
          <p:nvPr>
            <p:ph idx="1" type="body"/>
          </p:nvPr>
        </p:nvSpPr>
        <p:spPr>
          <a:xfrm>
            <a:off x="311700" y="1027025"/>
            <a:ext cx="85206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800"/>
              <a:t>CAN WORK IN PARTNERS.</a:t>
            </a:r>
            <a:endParaRPr sz="18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Download the “Zip” file on the EE 66 website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Extract the files from the zip folder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Open the “Launch Marimo” script inside the vr1 folder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ECS16a - Lab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