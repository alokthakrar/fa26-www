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5143500" cx="9144000"/>
  <p:notesSz cx="6858000" cy="9144000"/>
  <p:embeddedFontLst>
    <p:embeddedFont>
      <p:font typeface="Dosis"/>
      <p:regular r:id="rId34"/>
      <p:bold r:id="rId35"/>
    </p:embeddedFont>
    <p:embeddedFont>
      <p:font typeface="Roboto"/>
      <p:regular r:id="rId36"/>
      <p:bold r:id="rId37"/>
      <p:italic r:id="rId38"/>
      <p:boldItalic r:id="rId39"/>
    </p:embeddedFont>
    <p:embeddedFont>
      <p:font typeface="Montserrat"/>
      <p:regular r:id="rId40"/>
      <p:bold r:id="rId41"/>
      <p:italic r:id="rId42"/>
      <p:boldItalic r:id="rId43"/>
    </p:embeddedFont>
    <p:embeddedFont>
      <p:font typeface="PT Sans Narrow"/>
      <p:regular r:id="rId44"/>
      <p:bold r:id="rId45"/>
    </p:embeddedFont>
    <p:embeddedFont>
      <p:font typeface="Montserrat Medium"/>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iKNLtLM8Kp9A9eAlLZE0Kmgrjt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PTSansNarrow-regular.fntdata"/><Relationship Id="rId43" Type="http://schemas.openxmlformats.org/officeDocument/2006/relationships/font" Target="fonts/Montserrat-boldItalic.fntdata"/><Relationship Id="rId46" Type="http://schemas.openxmlformats.org/officeDocument/2006/relationships/font" Target="fonts/MontserratMedium-regular.fntdata"/><Relationship Id="rId45" Type="http://schemas.openxmlformats.org/officeDocument/2006/relationships/font" Target="fonts/PTSansNarrow-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MontserratMedium-italic.fntdata"/><Relationship Id="rId47" Type="http://schemas.openxmlformats.org/officeDocument/2006/relationships/font" Target="fonts/MontserratMedium-bold.fntdata"/><Relationship Id="rId49" Type="http://schemas.openxmlformats.org/officeDocument/2006/relationships/font" Target="fonts/Montserrat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font" Target="fonts/Dosis-bold.fntdata"/><Relationship Id="rId34" Type="http://schemas.openxmlformats.org/officeDocument/2006/relationships/font" Target="fonts/Dosis-regular.fntdata"/><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7.xml"/><Relationship Id="rId10" Type="http://schemas.openxmlformats.org/officeDocument/2006/relationships/slide" Target="slides/slide6.xml"/><Relationship Id="rId54"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704c0b4b91e99d5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h704c0b4b91e99d5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704c0b4b91e99d5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h704c0b4b91e99d5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704c0b4b91e99d5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h704c0b4b91e99d5f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h704c0b4b91e99d5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h704c0b4b91e99d5f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704c0b4b91e99d5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h704c0b4b91e99d5f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704c0b4b91e99d5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h704c0b4b91e99d5f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704c0b4b91e99d5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h704c0b4b91e99d5f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32"/>
          <p:cNvGrpSpPr/>
          <p:nvPr/>
        </p:nvGrpSpPr>
        <p:grpSpPr>
          <a:xfrm>
            <a:off x="1004144" y="1022025"/>
            <a:ext cx="7136668" cy="152400"/>
            <a:chOff x="1346429" y="1011300"/>
            <a:chExt cx="6452100" cy="152400"/>
          </a:xfrm>
        </p:grpSpPr>
        <p:cxnSp>
          <p:nvCxnSpPr>
            <p:cNvPr id="11" name="Google Shape;11;p32"/>
            <p:cNvCxnSpPr/>
            <p:nvPr/>
          </p:nvCxnSpPr>
          <p:spPr>
            <a:xfrm rot="10800000">
              <a:off x="1346429" y="1011300"/>
              <a:ext cx="6452100" cy="0"/>
            </a:xfrm>
            <a:prstGeom prst="straightConnector1">
              <a:avLst/>
            </a:prstGeom>
            <a:noFill/>
            <a:ln cap="flat" cmpd="sng" w="76200">
              <a:solidFill>
                <a:srgbClr val="C4820E"/>
              </a:solidFill>
              <a:prstDash val="solid"/>
              <a:round/>
              <a:headEnd len="sm" w="sm" type="none"/>
              <a:tailEnd len="sm" w="sm" type="none"/>
            </a:ln>
          </p:spPr>
        </p:cxnSp>
        <p:cxnSp>
          <p:nvCxnSpPr>
            <p:cNvPr id="12" name="Google Shape;12;p32"/>
            <p:cNvCxnSpPr/>
            <p:nvPr/>
          </p:nvCxnSpPr>
          <p:spPr>
            <a:xfrm rot="10800000">
              <a:off x="1346429" y="1163700"/>
              <a:ext cx="6452100" cy="0"/>
            </a:xfrm>
            <a:prstGeom prst="straightConnector1">
              <a:avLst/>
            </a:prstGeom>
            <a:noFill/>
            <a:ln cap="flat" cmpd="sng" w="9525">
              <a:solidFill>
                <a:srgbClr val="C4820E"/>
              </a:solidFill>
              <a:prstDash val="solid"/>
              <a:round/>
              <a:headEnd len="sm" w="sm" type="none"/>
              <a:tailEnd len="sm" w="sm" type="none"/>
            </a:ln>
          </p:spPr>
        </p:cxnSp>
      </p:grpSp>
      <p:grpSp>
        <p:nvGrpSpPr>
          <p:cNvPr id="13" name="Google Shape;13;p32"/>
          <p:cNvGrpSpPr/>
          <p:nvPr/>
        </p:nvGrpSpPr>
        <p:grpSpPr>
          <a:xfrm>
            <a:off x="1004151" y="3969100"/>
            <a:ext cx="7136668" cy="152400"/>
            <a:chOff x="1346435" y="3969088"/>
            <a:chExt cx="6452100" cy="152400"/>
          </a:xfrm>
        </p:grpSpPr>
        <p:cxnSp>
          <p:nvCxnSpPr>
            <p:cNvPr id="14" name="Google Shape;14;p32"/>
            <p:cNvCxnSpPr/>
            <p:nvPr/>
          </p:nvCxnSpPr>
          <p:spPr>
            <a:xfrm>
              <a:off x="1346435" y="4121488"/>
              <a:ext cx="6452100" cy="0"/>
            </a:xfrm>
            <a:prstGeom prst="straightConnector1">
              <a:avLst/>
            </a:prstGeom>
            <a:noFill/>
            <a:ln cap="flat" cmpd="sng" w="76200">
              <a:solidFill>
                <a:srgbClr val="C4820E"/>
              </a:solidFill>
              <a:prstDash val="solid"/>
              <a:round/>
              <a:headEnd len="sm" w="sm" type="none"/>
              <a:tailEnd len="sm" w="sm" type="none"/>
            </a:ln>
          </p:spPr>
        </p:cxnSp>
        <p:cxnSp>
          <p:nvCxnSpPr>
            <p:cNvPr id="15" name="Google Shape;15;p32"/>
            <p:cNvCxnSpPr/>
            <p:nvPr/>
          </p:nvCxnSpPr>
          <p:spPr>
            <a:xfrm>
              <a:off x="1346435" y="3969088"/>
              <a:ext cx="6452100" cy="0"/>
            </a:xfrm>
            <a:prstGeom prst="straightConnector1">
              <a:avLst/>
            </a:prstGeom>
            <a:noFill/>
            <a:ln cap="flat" cmpd="sng" w="9525">
              <a:solidFill>
                <a:srgbClr val="C4820E"/>
              </a:solidFill>
              <a:prstDash val="solid"/>
              <a:round/>
              <a:headEnd len="sm" w="sm" type="none"/>
              <a:tailEnd len="sm" w="sm" type="none"/>
            </a:ln>
          </p:spPr>
        </p:cxnSp>
      </p:grpSp>
      <p:sp>
        <p:nvSpPr>
          <p:cNvPr id="16" name="Google Shape;16;p32"/>
          <p:cNvSpPr txBox="1"/>
          <p:nvPr>
            <p:ph type="ctrTitle"/>
          </p:nvPr>
        </p:nvSpPr>
        <p:spPr>
          <a:xfrm>
            <a:off x="1004150" y="15231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003262"/>
              </a:buClr>
              <a:buSzPts val="5400"/>
              <a:buFont typeface="Montserrat"/>
              <a:buNone/>
              <a:defRPr sz="5400">
                <a:solidFill>
                  <a:srgbClr val="003262"/>
                </a:solidFill>
                <a:latin typeface="Montserrat"/>
                <a:ea typeface="Montserrat"/>
                <a:cs typeface="Montserrat"/>
                <a:sym typeface="Montserrat"/>
              </a:defRPr>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7" name="Google Shape;17;p32"/>
          <p:cNvSpPr txBox="1"/>
          <p:nvPr>
            <p:ph idx="1" type="subTitle"/>
          </p:nvPr>
        </p:nvSpPr>
        <p:spPr>
          <a:xfrm>
            <a:off x="1547925" y="2850050"/>
            <a:ext cx="60942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003262"/>
              </a:buClr>
              <a:buSzPts val="2400"/>
              <a:buFont typeface="Montserrat Medium"/>
              <a:buNone/>
              <a:defRPr sz="2400">
                <a:solidFill>
                  <a:srgbClr val="003262"/>
                </a:solidFill>
                <a:latin typeface="Montserrat Medium"/>
                <a:ea typeface="Montserrat Medium"/>
                <a:cs typeface="Montserrat Medium"/>
                <a:sym typeface="Montserrat Medium"/>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 name="Google Shape;1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3"/>
          <p:cNvSpPr/>
          <p:nvPr/>
        </p:nvSpPr>
        <p:spPr>
          <a:xfrm>
            <a:off x="-75" y="5045700"/>
            <a:ext cx="9144000" cy="97800"/>
          </a:xfrm>
          <a:prstGeom prst="rect">
            <a:avLst/>
          </a:prstGeom>
          <a:solidFill>
            <a:srgbClr val="C4820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3"/>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4820E"/>
              </a:buClr>
              <a:buSzPts val="3000"/>
              <a:buFont typeface="Montserrat"/>
              <a:buNone/>
              <a:defRPr sz="3000">
                <a:solidFill>
                  <a:srgbClr val="C4820E"/>
                </a:solidFill>
                <a:latin typeface="Montserrat"/>
                <a:ea typeface="Montserrat"/>
                <a:cs typeface="Montserrat"/>
                <a:sym typeface="Montserrat"/>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2" name="Google Shape;22;p33"/>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lvl1pPr indent="-355600" lvl="0" marL="4572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1pPr>
            <a:lvl2pPr indent="-355600" lvl="1" marL="9144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2pPr>
            <a:lvl3pPr indent="-355600" lvl="2" marL="13716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3pPr>
            <a:lvl4pPr indent="-355600" lvl="3" marL="18288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4pPr>
            <a:lvl5pPr indent="-355600" lvl="4" marL="22860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5pPr>
            <a:lvl6pPr indent="-355600" lvl="5" marL="27432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6pPr>
            <a:lvl7pPr indent="-355600" lvl="6" marL="32004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7pPr>
            <a:lvl8pPr indent="-355600" lvl="7" marL="36576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8pPr>
            <a:lvl9pPr indent="-355600" lvl="8" marL="4114800" algn="l">
              <a:lnSpc>
                <a:spcPct val="115000"/>
              </a:lnSpc>
              <a:spcBef>
                <a:spcPts val="0"/>
              </a:spcBef>
              <a:spcAft>
                <a:spcPts val="0"/>
              </a:spcAft>
              <a:buClr>
                <a:srgbClr val="003262"/>
              </a:buClr>
              <a:buSzPts val="2000"/>
              <a:buFont typeface="Montserrat Medium"/>
              <a:buChar char="■"/>
              <a:defRPr sz="2000">
                <a:solidFill>
                  <a:srgbClr val="003262"/>
                </a:solidFill>
                <a:latin typeface="Montserrat Medium"/>
                <a:ea typeface="Montserrat Medium"/>
                <a:cs typeface="Montserrat Medium"/>
                <a:sym typeface="Montserrat Medium"/>
              </a:defRPr>
            </a:lvl9pPr>
          </a:lstStyle>
          <a:p/>
        </p:txBody>
      </p:sp>
      <p:sp>
        <p:nvSpPr>
          <p:cNvPr id="23" name="Google Shape;23;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34"/>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4820E"/>
              </a:buClr>
              <a:buSzPts val="3000"/>
              <a:buFont typeface="Montserrat"/>
              <a:buNone/>
              <a:defRPr sz="3000">
                <a:solidFill>
                  <a:srgbClr val="C4820E"/>
                </a:solidFill>
                <a:latin typeface="Montserrat"/>
                <a:ea typeface="Montserrat"/>
                <a:cs typeface="Montserrat"/>
                <a:sym typeface="Montserrat"/>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6" name="Google Shape;2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5"/>
          <p:cNvSpPr/>
          <p:nvPr/>
        </p:nvSpPr>
        <p:spPr>
          <a:xfrm>
            <a:off x="-50" y="2571900"/>
            <a:ext cx="9144000" cy="2571600"/>
          </a:xfrm>
          <a:prstGeom prst="rect">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5"/>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30" name="Google Shape;30;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36"/>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C4820E"/>
              </a:buClr>
              <a:buSzPts val="3000"/>
              <a:buFont typeface="Montserrat"/>
              <a:buNone/>
              <a:defRPr sz="3000">
                <a:solidFill>
                  <a:srgbClr val="C4820E"/>
                </a:solidFill>
                <a:latin typeface="Montserrat"/>
                <a:ea typeface="Montserrat"/>
                <a:cs typeface="Montserrat"/>
                <a:sym typeface="Montserrat"/>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3" name="Google Shape;33;p36"/>
          <p:cNvSpPr txBox="1"/>
          <p:nvPr>
            <p:ph idx="1" type="body"/>
          </p:nvPr>
        </p:nvSpPr>
        <p:spPr>
          <a:xfrm>
            <a:off x="311700" y="1145700"/>
            <a:ext cx="3999900" cy="3583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003262"/>
              </a:buClr>
              <a:buSzPts val="1400"/>
              <a:buFont typeface="Montserrat Medium"/>
              <a:buChar char="●"/>
              <a:defRPr sz="1400">
                <a:solidFill>
                  <a:srgbClr val="003262"/>
                </a:solidFill>
                <a:latin typeface="Montserrat Medium"/>
                <a:ea typeface="Montserrat Medium"/>
                <a:cs typeface="Montserrat Medium"/>
                <a:sym typeface="Montserrat Medium"/>
              </a:defRPr>
            </a:lvl1pPr>
            <a:lvl2pPr indent="-304800" lvl="1" marL="914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2pPr>
            <a:lvl3pPr indent="-304800" lvl="2" marL="1371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3pPr>
            <a:lvl4pPr indent="-304800" lvl="3" marL="1828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4pPr>
            <a:lvl5pPr indent="-304800" lvl="4" marL="22860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5pPr>
            <a:lvl6pPr indent="-304800" lvl="5" marL="27432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6pPr>
            <a:lvl7pPr indent="-304800" lvl="6" marL="3200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7pPr>
            <a:lvl8pPr indent="-304800" lvl="7" marL="3657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8pPr>
            <a:lvl9pPr indent="-304800" lvl="8" marL="4114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9pPr>
          </a:lstStyle>
          <a:p/>
        </p:txBody>
      </p:sp>
      <p:sp>
        <p:nvSpPr>
          <p:cNvPr id="34" name="Google Shape;34;p36"/>
          <p:cNvSpPr txBox="1"/>
          <p:nvPr>
            <p:ph idx="2" type="body"/>
          </p:nvPr>
        </p:nvSpPr>
        <p:spPr>
          <a:xfrm>
            <a:off x="4832400" y="1145700"/>
            <a:ext cx="3999900" cy="3583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003262"/>
              </a:buClr>
              <a:buSzPts val="1400"/>
              <a:buFont typeface="Montserrat Medium"/>
              <a:buChar char="●"/>
              <a:defRPr sz="1400">
                <a:solidFill>
                  <a:srgbClr val="003262"/>
                </a:solidFill>
                <a:latin typeface="Montserrat Medium"/>
                <a:ea typeface="Montserrat Medium"/>
                <a:cs typeface="Montserrat Medium"/>
                <a:sym typeface="Montserrat Medium"/>
              </a:defRPr>
            </a:lvl1pPr>
            <a:lvl2pPr indent="-304800" lvl="1" marL="914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2pPr>
            <a:lvl3pPr indent="-304800" lvl="2" marL="1371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3pPr>
            <a:lvl4pPr indent="-304800" lvl="3" marL="1828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4pPr>
            <a:lvl5pPr indent="-304800" lvl="4" marL="22860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5pPr>
            <a:lvl6pPr indent="-304800" lvl="5" marL="27432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6pPr>
            <a:lvl7pPr indent="-304800" lvl="6" marL="32004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7pPr>
            <a:lvl8pPr indent="-304800" lvl="7" marL="36576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8pPr>
            <a:lvl9pPr indent="-304800" lvl="8" marL="4114800" algn="l">
              <a:lnSpc>
                <a:spcPct val="115000"/>
              </a:lnSpc>
              <a:spcBef>
                <a:spcPts val="0"/>
              </a:spcBef>
              <a:spcAft>
                <a:spcPts val="0"/>
              </a:spcAft>
              <a:buClr>
                <a:srgbClr val="003262"/>
              </a:buClr>
              <a:buSzPts val="1200"/>
              <a:buFont typeface="Montserrat Medium"/>
              <a:buChar char="■"/>
              <a:defRPr sz="1200">
                <a:solidFill>
                  <a:srgbClr val="003262"/>
                </a:solidFill>
                <a:latin typeface="Montserrat Medium"/>
                <a:ea typeface="Montserrat Medium"/>
                <a:cs typeface="Montserrat Medium"/>
                <a:sym typeface="Montserrat Medium"/>
              </a:defRPr>
            </a:lvl9pPr>
          </a:lstStyle>
          <a:p/>
        </p:txBody>
      </p:sp>
      <p:sp>
        <p:nvSpPr>
          <p:cNvPr id="35" name="Google Shape;35;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37"/>
          <p:cNvSpPr txBox="1"/>
          <p:nvPr>
            <p:ph type="title"/>
          </p:nvPr>
        </p:nvSpPr>
        <p:spPr>
          <a:xfrm>
            <a:off x="311700" y="3270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37"/>
          <p:cNvSpPr txBox="1"/>
          <p:nvPr>
            <p:ph idx="1" type="body"/>
          </p:nvPr>
        </p:nvSpPr>
        <p:spPr>
          <a:xfrm>
            <a:off x="311700" y="1389600"/>
            <a:ext cx="2808000" cy="3388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38"/>
          <p:cNvSpPr/>
          <p:nvPr/>
        </p:nvSpPr>
        <p:spPr>
          <a:xfrm>
            <a:off x="4572000" y="0"/>
            <a:ext cx="4572000" cy="5143500"/>
          </a:xfrm>
          <a:prstGeom prst="rect">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2" name="Google Shape;42;p38"/>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3" name="Google Shape;43;p38"/>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38"/>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3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6" name="Google Shape;46;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39"/>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None/>
              <a:defRPr sz="2400"/>
            </a:lvl1pPr>
          </a:lstStyle>
          <a:p/>
        </p:txBody>
      </p:sp>
      <p:sp>
        <p:nvSpPr>
          <p:cNvPr id="49" name="Google Shape;4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40"/>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0"/>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C4820E"/>
              </a:buClr>
              <a:buSzPts val="13000"/>
              <a:buNone/>
              <a:defRPr sz="13000">
                <a:solidFill>
                  <a:srgbClr val="C4820E"/>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3" name="Google Shape;53;p40"/>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4" name="Google Shape;54;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57" name="Shape 57"/>
        <p:cNvGrpSpPr/>
        <p:nvPr/>
      </p:nvGrpSpPr>
      <p:grpSpPr>
        <a:xfrm>
          <a:off x="0" y="0"/>
          <a:ext cx="0" cy="0"/>
          <a:chOff x="0" y="0"/>
          <a:chExt cx="0" cy="0"/>
        </a:xfrm>
      </p:grpSpPr>
      <p:sp>
        <p:nvSpPr>
          <p:cNvPr id="58" name="Google Shape;58;p42"/>
          <p:cNvSpPr txBox="1"/>
          <p:nvPr>
            <p:ph idx="1" type="body"/>
          </p:nvPr>
        </p:nvSpPr>
        <p:spPr>
          <a:xfrm>
            <a:off x="2159325" y="2161800"/>
            <a:ext cx="4825500" cy="819900"/>
          </a:xfrm>
          <a:prstGeom prst="rect">
            <a:avLst/>
          </a:prstGeom>
          <a:noFill/>
          <a:ln>
            <a:noFill/>
          </a:ln>
        </p:spPr>
        <p:txBody>
          <a:bodyPr anchorCtr="0" anchor="ctr" bIns="91425" lIns="91425" spcFirstLastPara="1" rIns="91425" wrap="square" tIns="91425">
            <a:normAutofit/>
          </a:bodyPr>
          <a:lstStyle>
            <a:lvl1pPr indent="-387350" lvl="0" marL="4572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1pPr>
            <a:lvl2pPr indent="-387350" lvl="1" marL="9144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2pPr>
            <a:lvl3pPr indent="-387350" lvl="2" marL="13716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3pPr>
            <a:lvl4pPr indent="-387350" lvl="3" marL="18288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4pPr>
            <a:lvl5pPr indent="-387350" lvl="4" marL="22860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5pPr>
            <a:lvl6pPr indent="-387350" lvl="5" marL="27432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6pPr>
            <a:lvl7pPr indent="-387350" lvl="6" marL="32004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7pPr>
            <a:lvl8pPr indent="-387350" lvl="7" marL="36576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8pPr>
            <a:lvl9pPr indent="-387350" lvl="8" marL="4114800" algn="ctr">
              <a:lnSpc>
                <a:spcPct val="115000"/>
              </a:lnSpc>
              <a:spcBef>
                <a:spcPts val="0"/>
              </a:spcBef>
              <a:spcAft>
                <a:spcPts val="0"/>
              </a:spcAft>
              <a:buClr>
                <a:srgbClr val="1C4587"/>
              </a:buClr>
              <a:buSzPts val="2500"/>
              <a:buFont typeface="Roboto"/>
              <a:buChar char="■"/>
              <a:defRPr b="1" sz="2500">
                <a:solidFill>
                  <a:srgbClr val="1C4587"/>
                </a:solidFill>
                <a:latin typeface="Roboto"/>
                <a:ea typeface="Roboto"/>
                <a:cs typeface="Roboto"/>
                <a:sym typeface="Roboto"/>
              </a:defRPr>
            </a:lvl9pPr>
          </a:lstStyle>
          <a:p/>
        </p:txBody>
      </p:sp>
      <p:sp>
        <p:nvSpPr>
          <p:cNvPr id="59" name="Google Shape;59;p42"/>
          <p:cNvSpPr/>
          <p:nvPr/>
        </p:nvSpPr>
        <p:spPr>
          <a:xfrm>
            <a:off x="7302880" y="-294362"/>
            <a:ext cx="450550" cy="558734"/>
          </a:xfrm>
          <a:custGeom>
            <a:rect b="b" l="l" r="r" t="t"/>
            <a:pathLst>
              <a:path extrusionOk="0" h="19698" w="15884">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0" name="Google Shape;60;p42"/>
          <p:cNvSpPr/>
          <p:nvPr/>
        </p:nvSpPr>
        <p:spPr>
          <a:xfrm>
            <a:off x="-35374" y="3366963"/>
            <a:ext cx="443260" cy="504670"/>
          </a:xfrm>
          <a:custGeom>
            <a:rect b="b" l="l" r="r" t="t"/>
            <a:pathLst>
              <a:path extrusionOk="0" h="17792" w="15627">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1" name="Google Shape;61;p42"/>
          <p:cNvSpPr/>
          <p:nvPr/>
        </p:nvSpPr>
        <p:spPr>
          <a:xfrm>
            <a:off x="8817948" y="3439661"/>
            <a:ext cx="414157" cy="507762"/>
          </a:xfrm>
          <a:custGeom>
            <a:rect b="b" l="l" r="r" t="t"/>
            <a:pathLst>
              <a:path extrusionOk="0" h="17901" w="14601">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2" name="Google Shape;62;p42"/>
          <p:cNvSpPr/>
          <p:nvPr/>
        </p:nvSpPr>
        <p:spPr>
          <a:xfrm>
            <a:off x="8742973" y="4166677"/>
            <a:ext cx="495281" cy="340238"/>
          </a:xfrm>
          <a:custGeom>
            <a:rect b="b" l="l" r="r" t="t"/>
            <a:pathLst>
              <a:path extrusionOk="0" h="11995" w="17461">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3" name="Google Shape;63;p42"/>
          <p:cNvSpPr/>
          <p:nvPr/>
        </p:nvSpPr>
        <p:spPr>
          <a:xfrm>
            <a:off x="8360955" y="4506916"/>
            <a:ext cx="372518" cy="384998"/>
          </a:xfrm>
          <a:custGeom>
            <a:rect b="b" l="l" r="r" t="t"/>
            <a:pathLst>
              <a:path extrusionOk="0" h="13573" w="13133">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4" name="Google Shape;64;p42"/>
          <p:cNvSpPr/>
          <p:nvPr/>
        </p:nvSpPr>
        <p:spPr>
          <a:xfrm>
            <a:off x="-77078" y="1488018"/>
            <a:ext cx="339602" cy="400617"/>
          </a:xfrm>
          <a:custGeom>
            <a:rect b="b" l="l" r="r" t="t"/>
            <a:pathLst>
              <a:path extrusionOk="0" h="11079" w="9391">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5" name="Google Shape;65;p42"/>
          <p:cNvSpPr/>
          <p:nvPr/>
        </p:nvSpPr>
        <p:spPr>
          <a:xfrm>
            <a:off x="8052572" y="4825260"/>
            <a:ext cx="589992" cy="414129"/>
          </a:xfrm>
          <a:custGeom>
            <a:rect b="b" l="l" r="r" t="t"/>
            <a:pathLst>
              <a:path extrusionOk="0" h="14600" w="2080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6" name="Google Shape;66;p42"/>
          <p:cNvSpPr/>
          <p:nvPr/>
        </p:nvSpPr>
        <p:spPr>
          <a:xfrm>
            <a:off x="8052577" y="4132327"/>
            <a:ext cx="388118" cy="408938"/>
          </a:xfrm>
          <a:custGeom>
            <a:rect b="b" l="l" r="r" t="t"/>
            <a:pathLst>
              <a:path extrusionOk="0" h="14417" w="13683">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7" name="Google Shape;67;p42"/>
          <p:cNvSpPr/>
          <p:nvPr/>
        </p:nvSpPr>
        <p:spPr>
          <a:xfrm>
            <a:off x="7430898" y="4873171"/>
            <a:ext cx="297606" cy="211234"/>
          </a:xfrm>
          <a:custGeom>
            <a:rect b="b" l="l" r="r" t="t"/>
            <a:pathLst>
              <a:path extrusionOk="0" h="7447" w="10492">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8" name="Google Shape;68;p42"/>
          <p:cNvSpPr/>
          <p:nvPr/>
        </p:nvSpPr>
        <p:spPr>
          <a:xfrm>
            <a:off x="8749725" y="4950125"/>
            <a:ext cx="288245" cy="184202"/>
          </a:xfrm>
          <a:custGeom>
            <a:rect b="b" l="l" r="r" t="t"/>
            <a:pathLst>
              <a:path extrusionOk="0" h="6494" w="10162">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69" name="Google Shape;69;p42"/>
          <p:cNvSpPr/>
          <p:nvPr/>
        </p:nvSpPr>
        <p:spPr>
          <a:xfrm>
            <a:off x="8522444" y="4000279"/>
            <a:ext cx="306966" cy="385027"/>
          </a:xfrm>
          <a:custGeom>
            <a:rect b="b" l="l" r="r" t="t"/>
            <a:pathLst>
              <a:path extrusionOk="0" h="13574" w="10822">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0" name="Google Shape;70;p42"/>
          <p:cNvSpPr/>
          <p:nvPr/>
        </p:nvSpPr>
        <p:spPr>
          <a:xfrm>
            <a:off x="8829403" y="4583868"/>
            <a:ext cx="391238" cy="289295"/>
          </a:xfrm>
          <a:custGeom>
            <a:rect b="b" l="l" r="r" t="t"/>
            <a:pathLst>
              <a:path extrusionOk="0" h="10199" w="13793">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1" name="Google Shape;71;p42"/>
          <p:cNvSpPr/>
          <p:nvPr/>
        </p:nvSpPr>
        <p:spPr>
          <a:xfrm>
            <a:off x="8963979" y="1338718"/>
            <a:ext cx="180033" cy="373539"/>
          </a:xfrm>
          <a:custGeom>
            <a:rect b="b" l="l" r="r" t="t"/>
            <a:pathLst>
              <a:path extrusionOk="0" h="13169" w="6347">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2" name="Google Shape;72;p42"/>
          <p:cNvSpPr/>
          <p:nvPr/>
        </p:nvSpPr>
        <p:spPr>
          <a:xfrm rot="-2426120">
            <a:off x="7110132" y="4877011"/>
            <a:ext cx="279910" cy="357971"/>
          </a:xfrm>
          <a:custGeom>
            <a:rect b="b" l="l" r="r" t="t"/>
            <a:pathLst>
              <a:path extrusionOk="0" h="12620" w="9868">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3" name="Google Shape;73;p42"/>
          <p:cNvSpPr/>
          <p:nvPr/>
        </p:nvSpPr>
        <p:spPr>
          <a:xfrm>
            <a:off x="7659648" y="4370196"/>
            <a:ext cx="377708" cy="426638"/>
          </a:xfrm>
          <a:custGeom>
            <a:rect b="b" l="l" r="r" t="t"/>
            <a:pathLst>
              <a:path extrusionOk="0" h="15041" w="13316">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4" name="Google Shape;74;p42"/>
          <p:cNvSpPr/>
          <p:nvPr/>
        </p:nvSpPr>
        <p:spPr>
          <a:xfrm>
            <a:off x="8797588" y="3078732"/>
            <a:ext cx="386048" cy="258065"/>
          </a:xfrm>
          <a:custGeom>
            <a:rect b="b" l="l" r="r" t="t"/>
            <a:pathLst>
              <a:path extrusionOk="0" h="9098" w="1361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5" name="Google Shape;75;p42"/>
          <p:cNvSpPr/>
          <p:nvPr/>
        </p:nvSpPr>
        <p:spPr>
          <a:xfrm>
            <a:off x="7782420" y="4885132"/>
            <a:ext cx="174842" cy="187322"/>
          </a:xfrm>
          <a:custGeom>
            <a:rect b="b" l="l" r="r" t="t"/>
            <a:pathLst>
              <a:path extrusionOk="0" h="6604" w="6164">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6" name="Google Shape;76;p42"/>
          <p:cNvSpPr/>
          <p:nvPr/>
        </p:nvSpPr>
        <p:spPr>
          <a:xfrm>
            <a:off x="346877" y="608615"/>
            <a:ext cx="210213" cy="458889"/>
          </a:xfrm>
          <a:custGeom>
            <a:rect b="b" l="l" r="r" t="t"/>
            <a:pathLst>
              <a:path extrusionOk="0" h="16178" w="7411">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7" name="Google Shape;77;p42"/>
          <p:cNvSpPr/>
          <p:nvPr/>
        </p:nvSpPr>
        <p:spPr>
          <a:xfrm>
            <a:off x="645010" y="355961"/>
            <a:ext cx="414157" cy="507762"/>
          </a:xfrm>
          <a:custGeom>
            <a:rect b="b" l="l" r="r" t="t"/>
            <a:pathLst>
              <a:path extrusionOk="0" h="17901" w="14601">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8" name="Google Shape;78;p42"/>
          <p:cNvSpPr/>
          <p:nvPr/>
        </p:nvSpPr>
        <p:spPr>
          <a:xfrm>
            <a:off x="8318810" y="-29822"/>
            <a:ext cx="456818" cy="425588"/>
          </a:xfrm>
          <a:custGeom>
            <a:rect b="b" l="l" r="r" t="t"/>
            <a:pathLst>
              <a:path extrusionOk="0" h="15004" w="16105">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79" name="Google Shape;79;p42"/>
          <p:cNvSpPr/>
          <p:nvPr/>
        </p:nvSpPr>
        <p:spPr>
          <a:xfrm>
            <a:off x="-8" y="1013366"/>
            <a:ext cx="372518" cy="384998"/>
          </a:xfrm>
          <a:custGeom>
            <a:rect b="b" l="l" r="r" t="t"/>
            <a:pathLst>
              <a:path extrusionOk="0" h="13573" w="13133">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0" name="Google Shape;80;p42"/>
          <p:cNvSpPr/>
          <p:nvPr/>
        </p:nvSpPr>
        <p:spPr>
          <a:xfrm>
            <a:off x="8699356" y="179112"/>
            <a:ext cx="521292" cy="538992"/>
          </a:xfrm>
          <a:custGeom>
            <a:rect b="b" l="l" r="r" t="t"/>
            <a:pathLst>
              <a:path extrusionOk="0" h="19002" w="18378">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1" name="Google Shape;81;p42"/>
          <p:cNvSpPr/>
          <p:nvPr/>
        </p:nvSpPr>
        <p:spPr>
          <a:xfrm>
            <a:off x="700454" y="4557600"/>
            <a:ext cx="504670" cy="400627"/>
          </a:xfrm>
          <a:custGeom>
            <a:rect b="b" l="l" r="r" t="t"/>
            <a:pathLst>
              <a:path extrusionOk="0" h="14124" w="17792">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2" name="Google Shape;82;p42"/>
          <p:cNvSpPr/>
          <p:nvPr/>
        </p:nvSpPr>
        <p:spPr>
          <a:xfrm>
            <a:off x="258967" y="-86251"/>
            <a:ext cx="470320" cy="442210"/>
          </a:xfrm>
          <a:custGeom>
            <a:rect b="b" l="l" r="r" t="t"/>
            <a:pathLst>
              <a:path extrusionOk="0" h="15590" w="16581">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3" name="Google Shape;83;p42"/>
          <p:cNvSpPr/>
          <p:nvPr/>
        </p:nvSpPr>
        <p:spPr>
          <a:xfrm>
            <a:off x="-35016" y="4075593"/>
            <a:ext cx="339602" cy="400617"/>
          </a:xfrm>
          <a:custGeom>
            <a:rect b="b" l="l" r="r" t="t"/>
            <a:pathLst>
              <a:path extrusionOk="0" h="11079" w="9391">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4" name="Google Shape;84;p42"/>
          <p:cNvSpPr/>
          <p:nvPr/>
        </p:nvSpPr>
        <p:spPr>
          <a:xfrm>
            <a:off x="721258" y="4998019"/>
            <a:ext cx="463059" cy="177962"/>
          </a:xfrm>
          <a:custGeom>
            <a:rect b="b" l="l" r="r" t="t"/>
            <a:pathLst>
              <a:path extrusionOk="0" h="6274" w="16325">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5" name="Google Shape;85;p42"/>
          <p:cNvSpPr/>
          <p:nvPr/>
        </p:nvSpPr>
        <p:spPr>
          <a:xfrm>
            <a:off x="-243128" y="54210"/>
            <a:ext cx="589992" cy="414129"/>
          </a:xfrm>
          <a:custGeom>
            <a:rect b="b" l="l" r="r" t="t"/>
            <a:pathLst>
              <a:path extrusionOk="0" h="14600" w="2080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6" name="Google Shape;86;p42"/>
          <p:cNvSpPr/>
          <p:nvPr/>
        </p:nvSpPr>
        <p:spPr>
          <a:xfrm>
            <a:off x="7842052" y="-100873"/>
            <a:ext cx="388118" cy="408938"/>
          </a:xfrm>
          <a:custGeom>
            <a:rect b="b" l="l" r="r" t="t"/>
            <a:pathLst>
              <a:path extrusionOk="0" h="14417" w="13683">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7" name="Google Shape;87;p42"/>
          <p:cNvSpPr/>
          <p:nvPr/>
        </p:nvSpPr>
        <p:spPr>
          <a:xfrm>
            <a:off x="-38626" y="579046"/>
            <a:ext cx="297606" cy="211234"/>
          </a:xfrm>
          <a:custGeom>
            <a:rect b="b" l="l" r="r" t="t"/>
            <a:pathLst>
              <a:path extrusionOk="0" h="7447" w="10492">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8" name="Google Shape;88;p42"/>
          <p:cNvSpPr/>
          <p:nvPr/>
        </p:nvSpPr>
        <p:spPr>
          <a:xfrm>
            <a:off x="1403775" y="11500"/>
            <a:ext cx="288245" cy="184202"/>
          </a:xfrm>
          <a:custGeom>
            <a:rect b="b" l="l" r="r" t="t"/>
            <a:pathLst>
              <a:path extrusionOk="0" h="6494" w="10162">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89" name="Google Shape;89;p42"/>
          <p:cNvSpPr/>
          <p:nvPr/>
        </p:nvSpPr>
        <p:spPr>
          <a:xfrm>
            <a:off x="955990" y="-57166"/>
            <a:ext cx="323616" cy="321546"/>
          </a:xfrm>
          <a:custGeom>
            <a:rect b="b" l="l" r="r" t="t"/>
            <a:pathLst>
              <a:path extrusionOk="0" h="11336" w="11409">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0" name="Google Shape;90;p42"/>
          <p:cNvSpPr/>
          <p:nvPr/>
        </p:nvSpPr>
        <p:spPr>
          <a:xfrm>
            <a:off x="1333294" y="4678454"/>
            <a:ext cx="306966" cy="385027"/>
          </a:xfrm>
          <a:custGeom>
            <a:rect b="b" l="l" r="r" t="t"/>
            <a:pathLst>
              <a:path extrusionOk="0" h="13574" w="10822">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1" name="Google Shape;91;p42"/>
          <p:cNvSpPr/>
          <p:nvPr/>
        </p:nvSpPr>
        <p:spPr>
          <a:xfrm>
            <a:off x="91624" y="4552927"/>
            <a:ext cx="416228" cy="409988"/>
          </a:xfrm>
          <a:custGeom>
            <a:rect b="b" l="l" r="r" t="t"/>
            <a:pathLst>
              <a:path extrusionOk="0" h="14454" w="14674">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2" name="Google Shape;92;p42"/>
          <p:cNvSpPr/>
          <p:nvPr/>
        </p:nvSpPr>
        <p:spPr>
          <a:xfrm>
            <a:off x="1525678" y="4911343"/>
            <a:ext cx="391238" cy="289295"/>
          </a:xfrm>
          <a:custGeom>
            <a:rect b="b" l="l" r="r" t="t"/>
            <a:pathLst>
              <a:path extrusionOk="0" h="10199" w="13793">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3" name="Google Shape;93;p42"/>
          <p:cNvSpPr/>
          <p:nvPr/>
        </p:nvSpPr>
        <p:spPr>
          <a:xfrm>
            <a:off x="2704" y="4900231"/>
            <a:ext cx="180033" cy="373539"/>
          </a:xfrm>
          <a:custGeom>
            <a:rect b="b" l="l" r="r" t="t"/>
            <a:pathLst>
              <a:path extrusionOk="0" h="13169" w="6347">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4" name="Google Shape;94;p42"/>
          <p:cNvSpPr/>
          <p:nvPr/>
        </p:nvSpPr>
        <p:spPr>
          <a:xfrm rot="1920548">
            <a:off x="8225551" y="625274"/>
            <a:ext cx="501522" cy="425557"/>
          </a:xfrm>
          <a:custGeom>
            <a:rect b="b" l="l" r="r" t="t"/>
            <a:pathLst>
              <a:path extrusionOk="0" h="15004" w="17681">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5" name="Google Shape;95;p42"/>
          <p:cNvSpPr/>
          <p:nvPr/>
        </p:nvSpPr>
        <p:spPr>
          <a:xfrm>
            <a:off x="346867" y="4064142"/>
            <a:ext cx="479681" cy="339217"/>
          </a:xfrm>
          <a:custGeom>
            <a:rect b="b" l="l" r="r" t="t"/>
            <a:pathLst>
              <a:path extrusionOk="0" h="11959" w="16911">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6" name="Google Shape;96;p42"/>
          <p:cNvSpPr/>
          <p:nvPr/>
        </p:nvSpPr>
        <p:spPr>
          <a:xfrm rot="-5400000">
            <a:off x="7996280" y="316930"/>
            <a:ext cx="279906" cy="357966"/>
          </a:xfrm>
          <a:custGeom>
            <a:rect b="b" l="l" r="r" t="t"/>
            <a:pathLst>
              <a:path extrusionOk="0" h="12620" w="9868">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7" name="Google Shape;97;p42"/>
          <p:cNvSpPr/>
          <p:nvPr/>
        </p:nvSpPr>
        <p:spPr>
          <a:xfrm>
            <a:off x="8801760" y="790271"/>
            <a:ext cx="377708" cy="426638"/>
          </a:xfrm>
          <a:custGeom>
            <a:rect b="b" l="l" r="r" t="t"/>
            <a:pathLst>
              <a:path extrusionOk="0" h="15041" w="13316">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8" name="Google Shape;98;p42"/>
          <p:cNvSpPr/>
          <p:nvPr/>
        </p:nvSpPr>
        <p:spPr>
          <a:xfrm>
            <a:off x="258963" y="4957957"/>
            <a:ext cx="386048" cy="258065"/>
          </a:xfrm>
          <a:custGeom>
            <a:rect b="b" l="l" r="r" t="t"/>
            <a:pathLst>
              <a:path extrusionOk="0" h="9098" w="1361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
        <p:nvSpPr>
          <p:cNvPr id="99" name="Google Shape;99;p42"/>
          <p:cNvSpPr/>
          <p:nvPr/>
        </p:nvSpPr>
        <p:spPr>
          <a:xfrm>
            <a:off x="8699345" y="1151407"/>
            <a:ext cx="174842" cy="187322"/>
          </a:xfrm>
          <a:custGeom>
            <a:rect b="b" l="l" r="r" t="t"/>
            <a:pathLst>
              <a:path extrusionOk="0" h="6604" w="6164">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4C2F4"/>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C4820E"/>
              </a:buClr>
              <a:buSzPts val="3000"/>
              <a:buFont typeface="Montserrat"/>
              <a:buNone/>
              <a:defRPr b="1" i="0" sz="3000" u="none" cap="none" strike="noStrike">
                <a:solidFill>
                  <a:srgbClr val="C4820E"/>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1"/>
          <p:cNvSpPr txBox="1"/>
          <p:nvPr>
            <p:ph idx="1" type="body"/>
          </p:nvPr>
        </p:nvSpPr>
        <p:spPr>
          <a:xfrm>
            <a:off x="311700" y="1113875"/>
            <a:ext cx="8520600" cy="3676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003262"/>
              </a:buClr>
              <a:buSzPts val="1800"/>
              <a:buFont typeface="Montserrat Medium"/>
              <a:buChar char="●"/>
              <a:defRPr b="0" i="0" sz="1800" u="none" cap="none" strike="noStrike">
                <a:solidFill>
                  <a:srgbClr val="003262"/>
                </a:solidFill>
                <a:latin typeface="Montserrat Medium"/>
                <a:ea typeface="Montserrat Medium"/>
                <a:cs typeface="Montserrat Medium"/>
                <a:sym typeface="Montserrat Medium"/>
              </a:defRPr>
            </a:lvl1pPr>
            <a:lvl2pPr indent="-317500" lvl="1" marL="9144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2pPr>
            <a:lvl3pPr indent="-317500" lvl="2" marL="13716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3pPr>
            <a:lvl4pPr indent="-317500" lvl="3" marL="18288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4pPr>
            <a:lvl5pPr indent="-317500" lvl="4" marL="22860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5pPr>
            <a:lvl6pPr indent="-317500" lvl="5" marL="27432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6pPr>
            <a:lvl7pPr indent="-317500" lvl="6" marL="32004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7pPr>
            <a:lvl8pPr indent="-317500" lvl="7" marL="36576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8pPr>
            <a:lvl9pPr indent="-317500" lvl="8" marL="4114800" marR="0" rtl="0" algn="l">
              <a:lnSpc>
                <a:spcPct val="115000"/>
              </a:lnSpc>
              <a:spcBef>
                <a:spcPts val="0"/>
              </a:spcBef>
              <a:spcAft>
                <a:spcPts val="0"/>
              </a:spcAft>
              <a:buClr>
                <a:srgbClr val="003262"/>
              </a:buClr>
              <a:buSzPts val="1400"/>
              <a:buFont typeface="Montserrat Medium"/>
              <a:buChar char="■"/>
              <a:defRPr b="0" i="0" sz="1400" u="none" cap="none" strike="noStrike">
                <a:solidFill>
                  <a:srgbClr val="003262"/>
                </a:solidFill>
                <a:latin typeface="Montserrat Medium"/>
                <a:ea typeface="Montserrat Medium"/>
                <a:cs typeface="Montserrat Medium"/>
                <a:sym typeface="Montserrat Medium"/>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8.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gif"/><Relationship Id="rId4" Type="http://schemas.openxmlformats.org/officeDocument/2006/relationships/image" Target="../media/image15.gif"/><Relationship Id="rId10" Type="http://schemas.openxmlformats.org/officeDocument/2006/relationships/image" Target="../media/image7.png"/><Relationship Id="rId9" Type="http://schemas.openxmlformats.org/officeDocument/2006/relationships/image" Target="../media/image6.png"/><Relationship Id="rId5" Type="http://schemas.openxmlformats.org/officeDocument/2006/relationships/image" Target="../media/image9.gif"/><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7.png"/><Relationship Id="rId13" Type="http://schemas.openxmlformats.org/officeDocument/2006/relationships/image" Target="../media/image22.png"/><Relationship Id="rId12"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9.gif"/><Relationship Id="rId15" Type="http://schemas.openxmlformats.org/officeDocument/2006/relationships/image" Target="../media/image18.png"/><Relationship Id="rId14" Type="http://schemas.openxmlformats.org/officeDocument/2006/relationships/image" Target="../media/image14.png"/><Relationship Id="rId5" Type="http://schemas.openxmlformats.org/officeDocument/2006/relationships/image" Target="../media/image16.gif"/><Relationship Id="rId6" Type="http://schemas.openxmlformats.org/officeDocument/2006/relationships/image" Target="../media/image23.png"/><Relationship Id="rId7" Type="http://schemas.openxmlformats.org/officeDocument/2006/relationships/image" Target="../media/image15.gif"/><Relationship Id="rId8"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950550" y="2143150"/>
            <a:ext cx="7136700" cy="996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EE 66 Lab</a:t>
            </a:r>
            <a:endParaRPr/>
          </a:p>
          <a:p>
            <a:pPr indent="0" lvl="0" marL="0" rtl="0" algn="ctr">
              <a:lnSpc>
                <a:spcPct val="100000"/>
              </a:lnSpc>
              <a:spcBef>
                <a:spcPts val="0"/>
              </a:spcBef>
              <a:spcAft>
                <a:spcPts val="0"/>
              </a:spcAft>
              <a:buSzPct val="111111"/>
              <a:buNone/>
            </a:pPr>
            <a:r>
              <a:rPr lang="en"/>
              <a:t>Shazam</a:t>
            </a:r>
            <a:endParaRPr/>
          </a:p>
        </p:txBody>
      </p:sp>
      <p:sp>
        <p:nvSpPr>
          <p:cNvPr id="105" name="Google Shape;105;p1"/>
          <p:cNvSpPr txBox="1"/>
          <p:nvPr>
            <p:ph idx="1" type="subTitle"/>
          </p:nvPr>
        </p:nvSpPr>
        <p:spPr>
          <a:xfrm>
            <a:off x="1587850" y="3090450"/>
            <a:ext cx="61218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sz="2000">
                <a:solidFill>
                  <a:srgbClr val="1C4587"/>
                </a:solidFill>
                <a:latin typeface="Montserrat"/>
                <a:ea typeface="Montserrat"/>
                <a:cs typeface="Montserrat"/>
                <a:sym typeface="Montserrat"/>
              </a:rPr>
              <a:t>Welcome! We’ll be starting at Berkeley Time.</a:t>
            </a:r>
            <a:endParaRPr sz="2000">
              <a:solidFill>
                <a:srgbClr val="1C4587"/>
              </a:solidFill>
              <a:latin typeface="Roboto"/>
              <a:ea typeface="Roboto"/>
              <a:cs typeface="Roboto"/>
              <a:sym typeface="Roboto"/>
            </a:endParaRPr>
          </a:p>
          <a:p>
            <a:pPr indent="0" lvl="0" marL="0" rtl="0" algn="ctr">
              <a:lnSpc>
                <a:spcPct val="100000"/>
              </a:lnSpc>
              <a:spcBef>
                <a:spcPts val="0"/>
              </a:spcBef>
              <a:spcAft>
                <a:spcPts val="0"/>
              </a:spcAft>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Today’s Agenda</a:t>
            </a:r>
            <a:endParaRPr/>
          </a:p>
        </p:txBody>
      </p:sp>
      <p:sp>
        <p:nvSpPr>
          <p:cNvPr id="111" name="Google Shape;111;p2"/>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What is the Fourier Transform?</a:t>
            </a:r>
            <a:endParaRPr/>
          </a:p>
          <a:p>
            <a:pPr indent="-355600" lvl="0" marL="457200" rtl="0" algn="l">
              <a:lnSpc>
                <a:spcPct val="115000"/>
              </a:lnSpc>
              <a:spcBef>
                <a:spcPts val="0"/>
              </a:spcBef>
              <a:spcAft>
                <a:spcPts val="0"/>
              </a:spcAft>
              <a:buSzPts val="2000"/>
              <a:buChar char="●"/>
            </a:pPr>
            <a:r>
              <a:rPr lang="en"/>
              <a:t>DFT Overview</a:t>
            </a:r>
            <a:endParaRPr/>
          </a:p>
          <a:p>
            <a:pPr indent="-355600" lvl="0" marL="457200" rtl="0" algn="l">
              <a:lnSpc>
                <a:spcPct val="115000"/>
              </a:lnSpc>
              <a:spcBef>
                <a:spcPts val="0"/>
              </a:spcBef>
              <a:spcAft>
                <a:spcPts val="0"/>
              </a:spcAft>
              <a:buSzPts val="2000"/>
              <a:buChar char="●"/>
            </a:pPr>
            <a:r>
              <a:rPr lang="en"/>
              <a:t>How does Shazam recognize songs?</a:t>
            </a:r>
            <a:endParaRPr/>
          </a:p>
          <a:p>
            <a:pPr indent="-355600" lvl="0" marL="457200" rtl="0" algn="l">
              <a:lnSpc>
                <a:spcPct val="115000"/>
              </a:lnSpc>
              <a:spcBef>
                <a:spcPts val="0"/>
              </a:spcBef>
              <a:spcAft>
                <a:spcPts val="0"/>
              </a:spcAft>
              <a:buSzPts val="2000"/>
              <a:buChar char="●"/>
            </a:pPr>
            <a:r>
              <a:rPr lang="en"/>
              <a:t>Marimo Notebook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Semester Outline</a:t>
            </a:r>
            <a:endParaRPr/>
          </a:p>
        </p:txBody>
      </p:sp>
      <p:cxnSp>
        <p:nvCxnSpPr>
          <p:cNvPr id="117" name="Google Shape;117;p3"/>
          <p:cNvCxnSpPr/>
          <p:nvPr/>
        </p:nvCxnSpPr>
        <p:spPr>
          <a:xfrm>
            <a:off x="-4800" y="2156036"/>
            <a:ext cx="9153600" cy="0"/>
          </a:xfrm>
          <a:prstGeom prst="straightConnector1">
            <a:avLst/>
          </a:prstGeom>
          <a:noFill/>
          <a:ln cap="rnd" cmpd="sng" w="19050">
            <a:solidFill>
              <a:srgbClr val="003262"/>
            </a:solidFill>
            <a:prstDash val="dash"/>
            <a:round/>
            <a:headEnd len="sm" w="sm" type="none"/>
            <a:tailEnd len="sm" w="sm" type="none"/>
          </a:ln>
        </p:spPr>
      </p:cxnSp>
      <p:grpSp>
        <p:nvGrpSpPr>
          <p:cNvPr id="118" name="Google Shape;118;p3"/>
          <p:cNvGrpSpPr/>
          <p:nvPr/>
        </p:nvGrpSpPr>
        <p:grpSpPr>
          <a:xfrm>
            <a:off x="596000" y="1908021"/>
            <a:ext cx="419100" cy="1038375"/>
            <a:chOff x="2173100" y="1946332"/>
            <a:chExt cx="419100" cy="1038375"/>
          </a:xfrm>
        </p:grpSpPr>
        <p:sp>
          <p:nvSpPr>
            <p:cNvPr id="119" name="Google Shape;119;p3"/>
            <p:cNvSpPr/>
            <p:nvPr/>
          </p:nvSpPr>
          <p:spPr>
            <a:xfrm flipH="1" rot="10800000">
              <a:off x="217310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0" name="Google Shape;120;p3"/>
            <p:cNvCxnSpPr/>
            <p:nvPr/>
          </p:nvCxnSpPr>
          <p:spPr>
            <a:xfrm>
              <a:off x="2382650" y="2108407"/>
              <a:ext cx="0" cy="876300"/>
            </a:xfrm>
            <a:prstGeom prst="straightConnector1">
              <a:avLst/>
            </a:prstGeom>
            <a:noFill/>
            <a:ln cap="flat" cmpd="sng" w="19050">
              <a:solidFill>
                <a:srgbClr val="003262"/>
              </a:solidFill>
              <a:prstDash val="solid"/>
              <a:round/>
              <a:headEnd len="med" w="med" type="oval"/>
              <a:tailEnd len="med" w="med" type="diamond"/>
            </a:ln>
          </p:spPr>
        </p:cxnSp>
      </p:grpSp>
      <p:grpSp>
        <p:nvGrpSpPr>
          <p:cNvPr id="121" name="Google Shape;121;p3"/>
          <p:cNvGrpSpPr/>
          <p:nvPr/>
        </p:nvGrpSpPr>
        <p:grpSpPr>
          <a:xfrm>
            <a:off x="2359408" y="1900699"/>
            <a:ext cx="419100" cy="1045700"/>
            <a:chOff x="4395150" y="1939011"/>
            <a:chExt cx="419100" cy="1045700"/>
          </a:xfrm>
        </p:grpSpPr>
        <p:sp>
          <p:nvSpPr>
            <p:cNvPr id="122" name="Google Shape;122;p3"/>
            <p:cNvSpPr/>
            <p:nvPr/>
          </p:nvSpPr>
          <p:spPr>
            <a:xfrm>
              <a:off x="4395150" y="1939011"/>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3" name="Google Shape;123;p3"/>
            <p:cNvCxnSpPr/>
            <p:nvPr/>
          </p:nvCxnSpPr>
          <p:spPr>
            <a:xfrm>
              <a:off x="4604700" y="2108411"/>
              <a:ext cx="0" cy="876300"/>
            </a:xfrm>
            <a:prstGeom prst="straightConnector1">
              <a:avLst/>
            </a:prstGeom>
            <a:noFill/>
            <a:ln cap="flat" cmpd="sng" w="19050">
              <a:solidFill>
                <a:srgbClr val="003262"/>
              </a:solidFill>
              <a:prstDash val="solid"/>
              <a:round/>
              <a:headEnd len="med" w="med" type="oval"/>
              <a:tailEnd len="med" w="med" type="diamond"/>
            </a:ln>
          </p:spPr>
        </p:cxnSp>
      </p:grpSp>
      <p:grpSp>
        <p:nvGrpSpPr>
          <p:cNvPr id="124" name="Google Shape;124;p3"/>
          <p:cNvGrpSpPr/>
          <p:nvPr/>
        </p:nvGrpSpPr>
        <p:grpSpPr>
          <a:xfrm>
            <a:off x="4316767" y="1900696"/>
            <a:ext cx="419100" cy="1045700"/>
            <a:chOff x="6551800" y="1939007"/>
            <a:chExt cx="419100" cy="1045700"/>
          </a:xfrm>
        </p:grpSpPr>
        <p:sp>
          <p:nvSpPr>
            <p:cNvPr id="125" name="Google Shape;125;p3"/>
            <p:cNvSpPr/>
            <p:nvPr/>
          </p:nvSpPr>
          <p:spPr>
            <a:xfrm flipH="1" rot="10800000">
              <a:off x="6551800" y="1939007"/>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6" name="Google Shape;126;p3"/>
            <p:cNvCxnSpPr/>
            <p:nvPr/>
          </p:nvCxnSpPr>
          <p:spPr>
            <a:xfrm>
              <a:off x="6761350" y="2108407"/>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27" name="Google Shape;127;p3"/>
          <p:cNvSpPr txBox="1"/>
          <p:nvPr/>
        </p:nvSpPr>
        <p:spPr>
          <a:xfrm>
            <a:off x="181700" y="2946400"/>
            <a:ext cx="1247700" cy="424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800" u="none" cap="none" strike="noStrike">
                <a:solidFill>
                  <a:srgbClr val="3D4965"/>
                </a:solidFill>
                <a:latin typeface="Montserrat Medium"/>
                <a:ea typeface="Montserrat Medium"/>
                <a:cs typeface="Montserrat Medium"/>
                <a:sym typeface="Montserrat Medium"/>
              </a:rPr>
              <a:t>Shazam</a:t>
            </a:r>
            <a:endParaRPr b="0" i="0" sz="1800" u="none" cap="none" strike="noStrike">
              <a:solidFill>
                <a:srgbClr val="3D4965"/>
              </a:solidFill>
              <a:latin typeface="Montserrat Medium"/>
              <a:ea typeface="Montserrat Medium"/>
              <a:cs typeface="Montserrat Medium"/>
              <a:sym typeface="Montserrat Medium"/>
            </a:endParaRPr>
          </a:p>
        </p:txBody>
      </p:sp>
      <p:sp>
        <p:nvSpPr>
          <p:cNvPr id="128" name="Google Shape;128;p3"/>
          <p:cNvSpPr txBox="1"/>
          <p:nvPr/>
        </p:nvSpPr>
        <p:spPr>
          <a:xfrm>
            <a:off x="1675400" y="2946400"/>
            <a:ext cx="1787100" cy="73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3D4965"/>
                </a:solidFill>
                <a:latin typeface="Montserrat Medium"/>
                <a:ea typeface="Montserrat Medium"/>
                <a:cs typeface="Montserrat Medium"/>
                <a:sym typeface="Montserrat Medium"/>
              </a:rPr>
              <a:t>Acoustic Positioning</a:t>
            </a:r>
            <a:endParaRPr b="0" i="0" sz="1800" u="none" cap="none" strike="noStrike">
              <a:solidFill>
                <a:srgbClr val="3D4965"/>
              </a:solidFill>
              <a:latin typeface="Dosis"/>
              <a:ea typeface="Dosis"/>
              <a:cs typeface="Dosis"/>
              <a:sym typeface="Dosis"/>
            </a:endParaRPr>
          </a:p>
        </p:txBody>
      </p:sp>
      <p:sp>
        <p:nvSpPr>
          <p:cNvPr id="129" name="Google Shape;129;p3"/>
          <p:cNvSpPr txBox="1"/>
          <p:nvPr/>
        </p:nvSpPr>
        <p:spPr>
          <a:xfrm>
            <a:off x="3632763" y="2961850"/>
            <a:ext cx="1787100" cy="707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3D4965"/>
                </a:solidFill>
                <a:latin typeface="Montserrat Medium"/>
                <a:ea typeface="Montserrat Medium"/>
                <a:cs typeface="Montserrat Medium"/>
                <a:sym typeface="Montserrat Medium"/>
              </a:rPr>
              <a:t>Voice</a:t>
            </a:r>
            <a:endParaRPr b="0" i="0" sz="1800" u="none" cap="none" strike="noStrike">
              <a:solidFill>
                <a:srgbClr val="3D4965"/>
              </a:solidFill>
              <a:latin typeface="Montserrat Medium"/>
              <a:ea typeface="Montserrat Medium"/>
              <a:cs typeface="Montserrat Medium"/>
              <a:sym typeface="Montserrat Medium"/>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3D4965"/>
                </a:solidFill>
                <a:latin typeface="Montserrat Medium"/>
                <a:ea typeface="Montserrat Medium"/>
                <a:cs typeface="Montserrat Medium"/>
                <a:sym typeface="Montserrat Medium"/>
              </a:rPr>
              <a:t>Recognition</a:t>
            </a:r>
            <a:endParaRPr b="0" i="0" sz="1800" u="none" cap="none" strike="noStrike">
              <a:solidFill>
                <a:srgbClr val="3D4965"/>
              </a:solidFill>
              <a:latin typeface="Montserrat Medium"/>
              <a:ea typeface="Montserrat Medium"/>
              <a:cs typeface="Montserrat Medium"/>
              <a:sym typeface="Montserrat Medium"/>
            </a:endParaRPr>
          </a:p>
        </p:txBody>
      </p:sp>
      <p:grpSp>
        <p:nvGrpSpPr>
          <p:cNvPr id="130" name="Google Shape;130;p3"/>
          <p:cNvGrpSpPr/>
          <p:nvPr/>
        </p:nvGrpSpPr>
        <p:grpSpPr>
          <a:xfrm>
            <a:off x="6120913" y="1916159"/>
            <a:ext cx="419100" cy="1045700"/>
            <a:chOff x="8194650" y="1946332"/>
            <a:chExt cx="419100" cy="1045700"/>
          </a:xfrm>
        </p:grpSpPr>
        <p:sp>
          <p:nvSpPr>
            <p:cNvPr id="131" name="Google Shape;131;p3"/>
            <p:cNvSpPr/>
            <p:nvPr/>
          </p:nvSpPr>
          <p:spPr>
            <a:xfrm flipH="1" rot="10800000">
              <a:off x="819465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2" name="Google Shape;132;p3"/>
            <p:cNvCxnSpPr/>
            <p:nvPr/>
          </p:nvCxnSpPr>
          <p:spPr>
            <a:xfrm>
              <a:off x="8404200" y="2115732"/>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33" name="Google Shape;133;p3"/>
          <p:cNvSpPr txBox="1"/>
          <p:nvPr/>
        </p:nvSpPr>
        <p:spPr>
          <a:xfrm>
            <a:off x="5314275" y="2946400"/>
            <a:ext cx="2012100" cy="73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rgbClr val="3D4965"/>
                </a:solidFill>
                <a:latin typeface="Montserrat Medium"/>
                <a:ea typeface="Montserrat Medium"/>
                <a:cs typeface="Montserrat Medium"/>
                <a:sym typeface="Montserrat Medium"/>
              </a:rPr>
              <a:t>Image Deconvolution</a:t>
            </a:r>
            <a:endParaRPr b="0" i="0" sz="1800" u="none" cap="none" strike="noStrike">
              <a:solidFill>
                <a:srgbClr val="3D4965"/>
              </a:solidFill>
              <a:latin typeface="Montserrat Medium"/>
              <a:ea typeface="Montserrat Medium"/>
              <a:cs typeface="Montserrat Medium"/>
              <a:sym typeface="Montserrat Medium"/>
            </a:endParaRPr>
          </a:p>
        </p:txBody>
      </p:sp>
      <p:sp>
        <p:nvSpPr>
          <p:cNvPr id="134" name="Google Shape;134;p3"/>
          <p:cNvSpPr/>
          <p:nvPr/>
        </p:nvSpPr>
        <p:spPr>
          <a:xfrm>
            <a:off x="91825" y="1663325"/>
            <a:ext cx="1402800" cy="18606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grpSp>
        <p:nvGrpSpPr>
          <p:cNvPr id="135" name="Google Shape;135;p3"/>
          <p:cNvGrpSpPr/>
          <p:nvPr/>
        </p:nvGrpSpPr>
        <p:grpSpPr>
          <a:xfrm>
            <a:off x="8037550" y="1916146"/>
            <a:ext cx="419100" cy="1045700"/>
            <a:chOff x="8194650" y="1946332"/>
            <a:chExt cx="419100" cy="1045700"/>
          </a:xfrm>
        </p:grpSpPr>
        <p:sp>
          <p:nvSpPr>
            <p:cNvPr id="136" name="Google Shape;136;p3"/>
            <p:cNvSpPr/>
            <p:nvPr/>
          </p:nvSpPr>
          <p:spPr>
            <a:xfrm flipH="1" rot="10800000">
              <a:off x="8194650" y="1946332"/>
              <a:ext cx="419100" cy="419400"/>
            </a:xfrm>
            <a:prstGeom prst="donut">
              <a:avLst>
                <a:gd fmla="val 24108" name="adj"/>
              </a:avLst>
            </a:prstGeom>
            <a:solidFill>
              <a:srgbClr val="0032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7" name="Google Shape;137;p3"/>
            <p:cNvCxnSpPr/>
            <p:nvPr/>
          </p:nvCxnSpPr>
          <p:spPr>
            <a:xfrm>
              <a:off x="8404200" y="2115732"/>
              <a:ext cx="0" cy="876300"/>
            </a:xfrm>
            <a:prstGeom prst="straightConnector1">
              <a:avLst/>
            </a:prstGeom>
            <a:noFill/>
            <a:ln cap="flat" cmpd="sng" w="19050">
              <a:solidFill>
                <a:srgbClr val="003262"/>
              </a:solidFill>
              <a:prstDash val="solid"/>
              <a:round/>
              <a:headEnd len="med" w="med" type="oval"/>
              <a:tailEnd len="med" w="med" type="diamond"/>
            </a:ln>
          </p:spPr>
        </p:cxnSp>
      </p:grpSp>
      <p:sp>
        <p:nvSpPr>
          <p:cNvPr id="138" name="Google Shape;138;p3"/>
          <p:cNvSpPr txBox="1"/>
          <p:nvPr/>
        </p:nvSpPr>
        <p:spPr>
          <a:xfrm>
            <a:off x="7241050" y="2946400"/>
            <a:ext cx="2012100" cy="73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rgbClr val="3D4965"/>
                </a:solidFill>
                <a:latin typeface="Montserrat Medium"/>
                <a:ea typeface="Montserrat Medium"/>
                <a:cs typeface="Montserrat Medium"/>
                <a:sym typeface="Montserrat Medium"/>
              </a:rPr>
              <a:t>Medical Imaging</a:t>
            </a:r>
            <a:endParaRPr b="0" i="0" sz="1800" u="none" cap="none" strike="noStrike">
              <a:solidFill>
                <a:srgbClr val="3D4965"/>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 is the Fourier Transform?</a:t>
            </a:r>
            <a:endParaRPr/>
          </a:p>
        </p:txBody>
      </p:sp>
      <p:sp>
        <p:nvSpPr>
          <p:cNvPr id="144" name="Google Shape;144;p4"/>
          <p:cNvSpPr txBox="1"/>
          <p:nvPr>
            <p:ph idx="1" type="body"/>
          </p:nvPr>
        </p:nvSpPr>
        <p:spPr>
          <a:xfrm>
            <a:off x="311700" y="1027025"/>
            <a:ext cx="8520600" cy="1517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Many interpretations and many uses—but for us, it’s a way to decompose a signal into its frequency components!</a:t>
            </a:r>
            <a:endParaRPr/>
          </a:p>
          <a:p>
            <a:pPr indent="-355600" lvl="0" marL="457200" rtl="0" algn="l">
              <a:lnSpc>
                <a:spcPct val="115000"/>
              </a:lnSpc>
              <a:spcBef>
                <a:spcPts val="0"/>
              </a:spcBef>
              <a:spcAft>
                <a:spcPts val="0"/>
              </a:spcAft>
              <a:buSzPts val="2000"/>
              <a:buChar char="●"/>
            </a:pPr>
            <a:r>
              <a:rPr lang="en"/>
              <a:t>This is because we can decompose any arbitrary signal into a combination of sinusoids (sines and cosines).</a:t>
            </a:r>
            <a:endParaRPr/>
          </a:p>
        </p:txBody>
      </p:sp>
      <p:pic>
        <p:nvPicPr>
          <p:cNvPr id="145" name="Google Shape;145;p4"/>
          <p:cNvPicPr preferRelativeResize="0"/>
          <p:nvPr/>
        </p:nvPicPr>
        <p:blipFill rotWithShape="1">
          <a:blip r:embed="rId3">
            <a:alphaModFix/>
          </a:blip>
          <a:srcRect b="0" l="0" r="0" t="0"/>
          <a:stretch/>
        </p:blipFill>
        <p:spPr>
          <a:xfrm>
            <a:off x="2472198" y="2544450"/>
            <a:ext cx="4199600" cy="2435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DFT (Discrete Fourier Transform) Cont.</a:t>
            </a:r>
            <a:endParaRPr/>
          </a:p>
        </p:txBody>
      </p:sp>
      <p:sp>
        <p:nvSpPr>
          <p:cNvPr id="151" name="Google Shape;151;p5"/>
          <p:cNvSpPr txBox="1"/>
          <p:nvPr>
            <p:ph idx="1" type="body"/>
          </p:nvPr>
        </p:nvSpPr>
        <p:spPr>
          <a:xfrm>
            <a:off x="311700" y="2462275"/>
            <a:ext cx="8520600" cy="13017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X(k): the Fourier coefficients</a:t>
            </a:r>
            <a:endParaRPr/>
          </a:p>
          <a:p>
            <a:pPr indent="-355600" lvl="0" marL="457200" rtl="0" algn="l">
              <a:lnSpc>
                <a:spcPct val="115000"/>
              </a:lnSpc>
              <a:spcBef>
                <a:spcPts val="0"/>
              </a:spcBef>
              <a:spcAft>
                <a:spcPts val="0"/>
              </a:spcAft>
              <a:buSzPts val="2000"/>
              <a:buChar char="●"/>
            </a:pPr>
            <a:r>
              <a:rPr lang="en"/>
              <a:t>x(n): our discrete signal at timestep n</a:t>
            </a:r>
            <a:endParaRPr/>
          </a:p>
          <a:p>
            <a:pPr indent="-355600" lvl="0" marL="457200" rtl="0" algn="l">
              <a:lnSpc>
                <a:spcPct val="115000"/>
              </a:lnSpc>
              <a:spcBef>
                <a:spcPts val="0"/>
              </a:spcBef>
              <a:spcAft>
                <a:spcPts val="0"/>
              </a:spcAft>
              <a:buSzPts val="2000"/>
              <a:buChar char="●"/>
            </a:pPr>
            <a:r>
              <a:rPr lang="en"/>
              <a:t>N: number of points in the signal</a:t>
            </a:r>
            <a:endParaRPr/>
          </a:p>
          <a:p>
            <a:pPr indent="-355600" lvl="0" marL="457200" rtl="0" algn="l">
              <a:lnSpc>
                <a:spcPct val="115000"/>
              </a:lnSpc>
              <a:spcBef>
                <a:spcPts val="0"/>
              </a:spcBef>
              <a:spcAft>
                <a:spcPts val="0"/>
              </a:spcAft>
              <a:buSzPts val="2000"/>
              <a:buChar char="●"/>
            </a:pPr>
            <a:r>
              <a:rPr lang="en"/>
              <a:t>Let’s break this down!</a:t>
            </a:r>
            <a:endParaRPr/>
          </a:p>
        </p:txBody>
      </p:sp>
      <p:pic>
        <p:nvPicPr>
          <p:cNvPr descr="\displaystyle X(k) = \sum_{n=0}^{N-1} x(n) \cdot e^{-j \frac{2\pi}{N} kn}, \quad k = 0, 1, \dots, N-1&#10;%8a31f6ae-803a-40c3-956b-eacb1d2754a4" id="152" name="Google Shape;152;p5"/>
          <p:cNvPicPr preferRelativeResize="0"/>
          <p:nvPr/>
        </p:nvPicPr>
        <p:blipFill rotWithShape="1">
          <a:blip r:embed="rId3">
            <a:alphaModFix/>
          </a:blip>
          <a:srcRect b="0" l="0" r="0" t="0"/>
          <a:stretch/>
        </p:blipFill>
        <p:spPr>
          <a:xfrm>
            <a:off x="566738" y="1027025"/>
            <a:ext cx="8010525" cy="1171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displaystyle X(k) = \sum_{n=0}^{3} x(n) \cdot e^{-j \frac{2\pi}{4} kn}, \quad k = 0, 1, 2, 3&#10;%72335575-f8da-47d3-9b1e-33a503115d45" id="157" name="Google Shape;157;p6"/>
          <p:cNvPicPr preferRelativeResize="0"/>
          <p:nvPr/>
        </p:nvPicPr>
        <p:blipFill rotWithShape="1">
          <a:blip r:embed="rId3">
            <a:alphaModFix/>
          </a:blip>
          <a:srcRect b="0" l="0" r="0" t="0"/>
          <a:stretch/>
        </p:blipFill>
        <p:spPr>
          <a:xfrm>
            <a:off x="413975" y="902700"/>
            <a:ext cx="8108841" cy="1381675"/>
          </a:xfrm>
          <a:prstGeom prst="rect">
            <a:avLst/>
          </a:prstGeom>
          <a:noFill/>
          <a:ln>
            <a:noFill/>
          </a:ln>
        </p:spPr>
      </p:pic>
      <p:sp>
        <p:nvSpPr>
          <p:cNvPr id="158" name="Google Shape;158;p6"/>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DFT Example (N=4)</a:t>
            </a:r>
            <a:endParaRPr/>
          </a:p>
        </p:txBody>
      </p:sp>
      <p:sp>
        <p:nvSpPr>
          <p:cNvPr id="159" name="Google Shape;159;p6"/>
          <p:cNvSpPr/>
          <p:nvPr/>
        </p:nvSpPr>
        <p:spPr>
          <a:xfrm>
            <a:off x="3944449" y="1173950"/>
            <a:ext cx="1603200" cy="6813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60" name="Google Shape;160;p6"/>
          <p:cNvSpPr txBox="1"/>
          <p:nvPr>
            <p:ph idx="1" type="body"/>
          </p:nvPr>
        </p:nvSpPr>
        <p:spPr>
          <a:xfrm>
            <a:off x="311700" y="2462275"/>
            <a:ext cx="8520600" cy="11715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For each k, we have the following complex exponentials:</a:t>
            </a:r>
            <a:br>
              <a:rPr lang="en"/>
            </a:br>
            <a:endParaRPr/>
          </a:p>
        </p:txBody>
      </p:sp>
      <p:pic>
        <p:nvPicPr>
          <p:cNvPr descr="[1,1,1,1] (k=0)&#10;&#10;%862d669e-2c5c-459c-ac00-f37120ce3b5e" id="161" name="Google Shape;161;p6"/>
          <p:cNvPicPr preferRelativeResize="0"/>
          <p:nvPr/>
        </p:nvPicPr>
        <p:blipFill rotWithShape="1">
          <a:blip r:embed="rId4">
            <a:alphaModFix/>
          </a:blip>
          <a:srcRect b="0" l="0" r="0" t="0"/>
          <a:stretch/>
        </p:blipFill>
        <p:spPr>
          <a:xfrm>
            <a:off x="633225" y="3000350"/>
            <a:ext cx="2627515" cy="346636"/>
          </a:xfrm>
          <a:prstGeom prst="rect">
            <a:avLst/>
          </a:prstGeom>
          <a:noFill/>
          <a:ln>
            <a:noFill/>
          </a:ln>
        </p:spPr>
      </p:pic>
      <p:pic>
        <p:nvPicPr>
          <p:cNvPr descr="[1,e^{-j\frac{2\pi}{4}},e^{-j\frac{2\pi}{4}*2}e^{-j\frac{2\pi}{4}*3}] (k=1)&#10;%30e6ba61-a7df-4a58-9cb3-97a1ec346584" id="162" name="Google Shape;162;p6"/>
          <p:cNvPicPr preferRelativeResize="0"/>
          <p:nvPr/>
        </p:nvPicPr>
        <p:blipFill rotWithShape="1">
          <a:blip r:embed="rId5">
            <a:alphaModFix/>
          </a:blip>
          <a:srcRect b="0" l="0" r="0" t="0"/>
          <a:stretch/>
        </p:blipFill>
        <p:spPr>
          <a:xfrm>
            <a:off x="633225" y="3396094"/>
            <a:ext cx="4936544" cy="435310"/>
          </a:xfrm>
          <a:prstGeom prst="rect">
            <a:avLst/>
          </a:prstGeom>
          <a:noFill/>
          <a:ln>
            <a:noFill/>
          </a:ln>
        </p:spPr>
      </p:pic>
      <p:pic>
        <p:nvPicPr>
          <p:cNvPr descr="[1,e^{-j\frac{2\pi}{4}*2},e^{-j\frac{2\pi}{4}*4}e^{-j\frac{2\pi}{4}*6}] (k=2)&#10;%a63c6b27-016e-49ea-ae67-1eff9d5f8db5" id="163" name="Google Shape;163;p6"/>
          <p:cNvPicPr preferRelativeResize="0"/>
          <p:nvPr/>
        </p:nvPicPr>
        <p:blipFill rotWithShape="1">
          <a:blip r:embed="rId6">
            <a:alphaModFix/>
          </a:blip>
          <a:srcRect b="0" l="0" r="0" t="0"/>
          <a:stretch/>
        </p:blipFill>
        <p:spPr>
          <a:xfrm>
            <a:off x="633225" y="3901142"/>
            <a:ext cx="5201949" cy="435310"/>
          </a:xfrm>
          <a:prstGeom prst="rect">
            <a:avLst/>
          </a:prstGeom>
          <a:noFill/>
          <a:ln>
            <a:noFill/>
          </a:ln>
        </p:spPr>
      </p:pic>
      <p:pic>
        <p:nvPicPr>
          <p:cNvPr descr="[1,e^{-j\frac{2\pi}{4}*3},e^{-j\frac{2\pi}{4}*6}e^{-j\frac{2\pi}{4}*9}] (k=3) \\&#10;%47bd2665-2193-4363-aa7a-6afbd8a71f2c" id="164" name="Google Shape;164;p6"/>
          <p:cNvPicPr preferRelativeResize="0"/>
          <p:nvPr/>
        </p:nvPicPr>
        <p:blipFill rotWithShape="1">
          <a:blip r:embed="rId7">
            <a:alphaModFix/>
          </a:blip>
          <a:srcRect b="0" l="0" r="0" t="0"/>
          <a:stretch/>
        </p:blipFill>
        <p:spPr>
          <a:xfrm>
            <a:off x="633225" y="4406190"/>
            <a:ext cx="5201949" cy="4353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DFT Example (N=4)</a:t>
            </a:r>
            <a:endParaRPr/>
          </a:p>
          <a:p>
            <a:pPr indent="0" lvl="0" marL="0" rtl="0" algn="l">
              <a:lnSpc>
                <a:spcPct val="100000"/>
              </a:lnSpc>
              <a:spcBef>
                <a:spcPts val="0"/>
              </a:spcBef>
              <a:spcAft>
                <a:spcPts val="0"/>
              </a:spcAft>
              <a:buSzPct val="111111"/>
              <a:buNone/>
            </a:pPr>
            <a:r>
              <a:t/>
            </a:r>
            <a:endParaRPr/>
          </a:p>
        </p:txBody>
      </p:sp>
      <p:sp>
        <p:nvSpPr>
          <p:cNvPr id="170" name="Google Shape;170;p7"/>
          <p:cNvSpPr txBox="1"/>
          <p:nvPr>
            <p:ph idx="1" type="body"/>
          </p:nvPr>
        </p:nvSpPr>
        <p:spPr>
          <a:xfrm>
            <a:off x="311700" y="1036750"/>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Simplifying the fractions, we get this:</a:t>
            </a:r>
            <a:endParaRPr/>
          </a:p>
        </p:txBody>
      </p:sp>
      <p:pic>
        <p:nvPicPr>
          <p:cNvPr descr="[1,1,1,1] (k=0)&#10;&#10;%862d669e-2c5c-459c-ac00-f37120ce3b5e" id="171" name="Google Shape;171;p7"/>
          <p:cNvPicPr preferRelativeResize="0"/>
          <p:nvPr/>
        </p:nvPicPr>
        <p:blipFill rotWithShape="1">
          <a:blip r:embed="rId3">
            <a:alphaModFix/>
          </a:blip>
          <a:srcRect b="0" l="0" r="0" t="0"/>
          <a:stretch/>
        </p:blipFill>
        <p:spPr>
          <a:xfrm>
            <a:off x="477777" y="1634575"/>
            <a:ext cx="3044430" cy="481674"/>
          </a:xfrm>
          <a:prstGeom prst="rect">
            <a:avLst/>
          </a:prstGeom>
          <a:noFill/>
          <a:ln>
            <a:noFill/>
          </a:ln>
        </p:spPr>
      </p:pic>
      <p:pic>
        <p:nvPicPr>
          <p:cNvPr descr="[1,e^{-j\frac{\pi}{2}},e^{-j\pi},e^{-j\frac{3\pi}{2}}](k=1)&#10;%18c97c73-5458-4a83-a495-d984e0478529" id="172" name="Google Shape;172;p7"/>
          <p:cNvPicPr preferRelativeResize="0"/>
          <p:nvPr/>
        </p:nvPicPr>
        <p:blipFill rotWithShape="1">
          <a:blip r:embed="rId4">
            <a:alphaModFix/>
          </a:blip>
          <a:srcRect b="0" l="0" r="0" t="0"/>
          <a:stretch/>
        </p:blipFill>
        <p:spPr>
          <a:xfrm>
            <a:off x="477777" y="2236690"/>
            <a:ext cx="5258692" cy="612899"/>
          </a:xfrm>
          <a:prstGeom prst="rect">
            <a:avLst/>
          </a:prstGeom>
          <a:noFill/>
          <a:ln>
            <a:noFill/>
          </a:ln>
        </p:spPr>
      </p:pic>
      <p:pic>
        <p:nvPicPr>
          <p:cNvPr descr="[1,e^{-j\pi},e^{-j2\pi},e^{-j3\pi}](k=2)&#10;%d7a70d4d-389a-468b-ac23-31c748a4c962" id="173" name="Google Shape;173;p7"/>
          <p:cNvPicPr preferRelativeResize="0"/>
          <p:nvPr/>
        </p:nvPicPr>
        <p:blipFill rotWithShape="1">
          <a:blip r:embed="rId5">
            <a:alphaModFix/>
          </a:blip>
          <a:srcRect b="0" l="0" r="0" t="0"/>
          <a:stretch/>
        </p:blipFill>
        <p:spPr>
          <a:xfrm>
            <a:off x="477775" y="3033375"/>
            <a:ext cx="4973026" cy="530305"/>
          </a:xfrm>
          <a:prstGeom prst="rect">
            <a:avLst/>
          </a:prstGeom>
          <a:noFill/>
          <a:ln>
            <a:noFill/>
          </a:ln>
        </p:spPr>
      </p:pic>
      <p:pic>
        <p:nvPicPr>
          <p:cNvPr descr="[1,e^{-j\frac{3\pi}{2}},e^{-j 3 \pi},e^{-j\frac{9\pi}{2}}] (k=3) \\&#10;%b599dcb4-1bed-4dd9-8ee5-869ae9c97fb9" id="174" name="Google Shape;174;p7"/>
          <p:cNvPicPr preferRelativeResize="0"/>
          <p:nvPr/>
        </p:nvPicPr>
        <p:blipFill rotWithShape="1">
          <a:blip r:embed="rId6">
            <a:alphaModFix/>
          </a:blip>
          <a:srcRect b="0" l="0" r="0" t="0"/>
          <a:stretch/>
        </p:blipFill>
        <p:spPr>
          <a:xfrm>
            <a:off x="477775" y="3715806"/>
            <a:ext cx="5195850" cy="5965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8"/>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DFT Example (N=4)</a:t>
            </a:r>
            <a:endParaRPr/>
          </a:p>
          <a:p>
            <a:pPr indent="0" lvl="0" marL="0" rtl="0" algn="l">
              <a:lnSpc>
                <a:spcPct val="100000"/>
              </a:lnSpc>
              <a:spcBef>
                <a:spcPts val="0"/>
              </a:spcBef>
              <a:spcAft>
                <a:spcPts val="0"/>
              </a:spcAft>
              <a:buSzPct val="111111"/>
              <a:buNone/>
            </a:pPr>
            <a:r>
              <a:t/>
            </a:r>
            <a:endParaRPr/>
          </a:p>
        </p:txBody>
      </p:sp>
      <p:sp>
        <p:nvSpPr>
          <p:cNvPr id="180" name="Google Shape;180;p8"/>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We can also simplify further by using </a:t>
            </a:r>
            <a:endParaRPr/>
          </a:p>
        </p:txBody>
      </p:sp>
      <p:pic>
        <p:nvPicPr>
          <p:cNvPr descr="[1,1,1,1] (k=0)&#10;&#10;%862d669e-2c5c-459c-ac00-f37120ce3b5e" id="181" name="Google Shape;181;p8"/>
          <p:cNvPicPr preferRelativeResize="0"/>
          <p:nvPr/>
        </p:nvPicPr>
        <p:blipFill rotWithShape="1">
          <a:blip r:embed="rId3">
            <a:alphaModFix/>
          </a:blip>
          <a:srcRect b="0" l="0" r="0" t="0"/>
          <a:stretch/>
        </p:blipFill>
        <p:spPr>
          <a:xfrm>
            <a:off x="477777" y="1634575"/>
            <a:ext cx="3044430" cy="481674"/>
          </a:xfrm>
          <a:prstGeom prst="rect">
            <a:avLst/>
          </a:prstGeom>
          <a:noFill/>
          <a:ln>
            <a:noFill/>
          </a:ln>
        </p:spPr>
      </p:pic>
      <p:pic>
        <p:nvPicPr>
          <p:cNvPr descr="[1,e^{-j\frac{\pi}{2}},e^{-j\pi},e^{-j\frac{3\pi}{2}}](k=1)&#10;%18c97c73-5458-4a83-a495-d984e0478529" id="182" name="Google Shape;182;p8"/>
          <p:cNvPicPr preferRelativeResize="0"/>
          <p:nvPr/>
        </p:nvPicPr>
        <p:blipFill rotWithShape="1">
          <a:blip r:embed="rId4">
            <a:alphaModFix/>
          </a:blip>
          <a:srcRect b="0" l="0" r="0" t="0"/>
          <a:stretch/>
        </p:blipFill>
        <p:spPr>
          <a:xfrm>
            <a:off x="477777" y="2236690"/>
            <a:ext cx="5258692" cy="612899"/>
          </a:xfrm>
          <a:prstGeom prst="rect">
            <a:avLst/>
          </a:prstGeom>
          <a:noFill/>
          <a:ln>
            <a:noFill/>
          </a:ln>
        </p:spPr>
      </p:pic>
      <p:pic>
        <p:nvPicPr>
          <p:cNvPr descr="e^{-j2\pi} = e^0 = 1&#10;%4e9bd6fc-879c-49e8-a8ac-1147d8a976d6" id="183" name="Google Shape;183;p8"/>
          <p:cNvPicPr preferRelativeResize="0"/>
          <p:nvPr/>
        </p:nvPicPr>
        <p:blipFill rotWithShape="1">
          <a:blip r:embed="rId5">
            <a:alphaModFix/>
          </a:blip>
          <a:srcRect b="0" l="0" r="0" t="0"/>
          <a:stretch/>
        </p:blipFill>
        <p:spPr>
          <a:xfrm>
            <a:off x="5736475" y="1103575"/>
            <a:ext cx="1797300" cy="280175"/>
          </a:xfrm>
          <a:prstGeom prst="rect">
            <a:avLst/>
          </a:prstGeom>
          <a:noFill/>
          <a:ln>
            <a:noFill/>
          </a:ln>
        </p:spPr>
      </p:pic>
      <p:pic>
        <p:nvPicPr>
          <p:cNvPr descr="[1,e^{-j\pi},1,e^{-j\pi}](k=2)&#10;%c2d015a1-3283-45a5-b5b8-f755140e2c64" id="184" name="Google Shape;184;p8"/>
          <p:cNvPicPr preferRelativeResize="0"/>
          <p:nvPr/>
        </p:nvPicPr>
        <p:blipFill rotWithShape="1">
          <a:blip r:embed="rId6">
            <a:alphaModFix/>
          </a:blip>
          <a:srcRect b="0" l="0" r="0" t="0"/>
          <a:stretch/>
        </p:blipFill>
        <p:spPr>
          <a:xfrm>
            <a:off x="476675" y="3076575"/>
            <a:ext cx="4577333" cy="541163"/>
          </a:xfrm>
          <a:prstGeom prst="rect">
            <a:avLst/>
          </a:prstGeom>
          <a:noFill/>
          <a:ln>
            <a:noFill/>
          </a:ln>
        </p:spPr>
      </p:pic>
      <p:pic>
        <p:nvPicPr>
          <p:cNvPr descr="[1,e^{-j\frac{3\pi}{2}},e^{-j \pi},e^{-j\frac{\pi}{2}}] (k=3) \\&#10;%bbe0147b-0800-49a7-b1d5-09dfce8d001f" id="185" name="Google Shape;185;p8"/>
          <p:cNvPicPr preferRelativeResize="0"/>
          <p:nvPr/>
        </p:nvPicPr>
        <p:blipFill rotWithShape="1">
          <a:blip r:embed="rId7">
            <a:alphaModFix/>
          </a:blip>
          <a:srcRect b="0" l="0" r="0" t="0"/>
          <a:stretch/>
        </p:blipFill>
        <p:spPr>
          <a:xfrm>
            <a:off x="476675" y="3844725"/>
            <a:ext cx="5538802" cy="61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DFT Example (N=4)</a:t>
            </a:r>
            <a:endParaRPr/>
          </a:p>
        </p:txBody>
      </p:sp>
      <p:sp>
        <p:nvSpPr>
          <p:cNvPr id="191" name="Google Shape;191;p9"/>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What do these vectors look like for each timestep?</a:t>
            </a:r>
            <a:endParaRPr/>
          </a:p>
          <a:p>
            <a:pPr indent="-355600" lvl="0" marL="457200" rtl="0" algn="l">
              <a:lnSpc>
                <a:spcPct val="115000"/>
              </a:lnSpc>
              <a:spcBef>
                <a:spcPts val="0"/>
              </a:spcBef>
              <a:spcAft>
                <a:spcPts val="0"/>
              </a:spcAft>
              <a:buSzPts val="2000"/>
              <a:buChar char="●"/>
            </a:pPr>
            <a:r>
              <a:rPr lang="en"/>
              <a:t>We can see that k is our “frequency”.</a:t>
            </a:r>
            <a:endParaRPr/>
          </a:p>
        </p:txBody>
      </p:sp>
      <p:grpSp>
        <p:nvGrpSpPr>
          <p:cNvPr id="192" name="Google Shape;192;p9"/>
          <p:cNvGrpSpPr/>
          <p:nvPr/>
        </p:nvGrpSpPr>
        <p:grpSpPr>
          <a:xfrm>
            <a:off x="311680" y="2266747"/>
            <a:ext cx="8520638" cy="2130168"/>
            <a:chOff x="767950" y="1526995"/>
            <a:chExt cx="6179301" cy="1544831"/>
          </a:xfrm>
        </p:grpSpPr>
        <p:pic>
          <p:nvPicPr>
            <p:cNvPr id="193" name="Google Shape;193;p9"/>
            <p:cNvPicPr preferRelativeResize="0"/>
            <p:nvPr/>
          </p:nvPicPr>
          <p:blipFill rotWithShape="1">
            <a:blip r:embed="rId3">
              <a:alphaModFix/>
            </a:blip>
            <a:srcRect b="0" l="0" r="0" t="0"/>
            <a:stretch/>
          </p:blipFill>
          <p:spPr>
            <a:xfrm>
              <a:off x="2312775" y="1527000"/>
              <a:ext cx="1544826" cy="1544826"/>
            </a:xfrm>
            <a:prstGeom prst="rect">
              <a:avLst/>
            </a:prstGeom>
            <a:noFill/>
            <a:ln>
              <a:noFill/>
            </a:ln>
          </p:spPr>
        </p:pic>
        <p:pic>
          <p:nvPicPr>
            <p:cNvPr id="194" name="Google Shape;194;p9"/>
            <p:cNvPicPr preferRelativeResize="0"/>
            <p:nvPr/>
          </p:nvPicPr>
          <p:blipFill rotWithShape="1">
            <a:blip r:embed="rId4">
              <a:alphaModFix/>
            </a:blip>
            <a:srcRect b="0" l="0" r="0" t="0"/>
            <a:stretch/>
          </p:blipFill>
          <p:spPr>
            <a:xfrm>
              <a:off x="3857600" y="1526995"/>
              <a:ext cx="1544826" cy="1544826"/>
            </a:xfrm>
            <a:prstGeom prst="rect">
              <a:avLst/>
            </a:prstGeom>
            <a:noFill/>
            <a:ln>
              <a:noFill/>
            </a:ln>
          </p:spPr>
        </p:pic>
        <p:pic>
          <p:nvPicPr>
            <p:cNvPr id="195" name="Google Shape;195;p9"/>
            <p:cNvPicPr preferRelativeResize="0"/>
            <p:nvPr/>
          </p:nvPicPr>
          <p:blipFill rotWithShape="1">
            <a:blip r:embed="rId5">
              <a:alphaModFix/>
            </a:blip>
            <a:srcRect b="0" l="0" r="0" t="0"/>
            <a:stretch/>
          </p:blipFill>
          <p:spPr>
            <a:xfrm>
              <a:off x="5402425" y="1527000"/>
              <a:ext cx="1544826" cy="1544826"/>
            </a:xfrm>
            <a:prstGeom prst="rect">
              <a:avLst/>
            </a:prstGeom>
            <a:noFill/>
            <a:ln>
              <a:noFill/>
            </a:ln>
          </p:spPr>
        </p:pic>
        <p:pic>
          <p:nvPicPr>
            <p:cNvPr id="196" name="Google Shape;196;p9"/>
            <p:cNvPicPr preferRelativeResize="0"/>
            <p:nvPr/>
          </p:nvPicPr>
          <p:blipFill rotWithShape="1">
            <a:blip r:embed="rId6">
              <a:alphaModFix/>
            </a:blip>
            <a:srcRect b="3223" l="0" r="0" t="0"/>
            <a:stretch/>
          </p:blipFill>
          <p:spPr>
            <a:xfrm>
              <a:off x="767950" y="1527000"/>
              <a:ext cx="1544827" cy="1491225"/>
            </a:xfrm>
            <a:prstGeom prst="rect">
              <a:avLst/>
            </a:prstGeom>
            <a:noFill/>
            <a:ln>
              <a:noFill/>
            </a:ln>
          </p:spPr>
        </p:pic>
      </p:grpSp>
      <p:pic>
        <p:nvPicPr>
          <p:cNvPr descr="[1,1,1,1] (k=0)&#10;&#10;%862d669e-2c5c-459c-ac00-f37120ce3b5e" id="197" name="Google Shape;197;p9"/>
          <p:cNvPicPr preferRelativeResize="0"/>
          <p:nvPr/>
        </p:nvPicPr>
        <p:blipFill rotWithShape="1">
          <a:blip r:embed="rId7">
            <a:alphaModFix/>
          </a:blip>
          <a:srcRect b="0" l="0" r="0" t="0"/>
          <a:stretch/>
        </p:blipFill>
        <p:spPr>
          <a:xfrm>
            <a:off x="818525" y="2073717"/>
            <a:ext cx="1197950" cy="171775"/>
          </a:xfrm>
          <a:prstGeom prst="rect">
            <a:avLst/>
          </a:prstGeom>
          <a:noFill/>
          <a:ln>
            <a:noFill/>
          </a:ln>
        </p:spPr>
      </p:pic>
      <p:pic>
        <p:nvPicPr>
          <p:cNvPr descr="[1,e^{-j\frac{\pi}{2}},e^{-j\pi},e^{-j\frac{3\pi}{2}}](k=1)&#10;%18c97c73-5458-4a83-a495-d984e0478529" id="198" name="Google Shape;198;p9"/>
          <p:cNvPicPr preferRelativeResize="0"/>
          <p:nvPr/>
        </p:nvPicPr>
        <p:blipFill rotWithShape="1">
          <a:blip r:embed="rId8">
            <a:alphaModFix/>
          </a:blip>
          <a:srcRect b="0" l="0" r="0" t="0"/>
          <a:stretch/>
        </p:blipFill>
        <p:spPr>
          <a:xfrm>
            <a:off x="2640400" y="2052691"/>
            <a:ext cx="1834560" cy="213825"/>
          </a:xfrm>
          <a:prstGeom prst="rect">
            <a:avLst/>
          </a:prstGeom>
          <a:noFill/>
          <a:ln>
            <a:noFill/>
          </a:ln>
        </p:spPr>
      </p:pic>
      <p:pic>
        <p:nvPicPr>
          <p:cNvPr descr="[1,e^{-j\pi},1,e^{-j\pi}](k=2)&#10;%c2d015a1-3283-45a5-b5b8-f755140e2c64" id="199" name="Google Shape;199;p9"/>
          <p:cNvPicPr preferRelativeResize="0"/>
          <p:nvPr/>
        </p:nvPicPr>
        <p:blipFill rotWithShape="1">
          <a:blip r:embed="rId9">
            <a:alphaModFix/>
          </a:blip>
          <a:srcRect b="0" l="0" r="0" t="0"/>
          <a:stretch/>
        </p:blipFill>
        <p:spPr>
          <a:xfrm>
            <a:off x="4909050" y="2073716"/>
            <a:ext cx="1452908" cy="171775"/>
          </a:xfrm>
          <a:prstGeom prst="rect">
            <a:avLst/>
          </a:prstGeom>
          <a:noFill/>
          <a:ln>
            <a:noFill/>
          </a:ln>
        </p:spPr>
      </p:pic>
      <p:pic>
        <p:nvPicPr>
          <p:cNvPr descr="[1,e^{-j\frac{3\pi}{2}},e^{-j \pi},e^{-j\frac{\pi}{2}}] (k=3) \\&#10;%bbe0147b-0800-49a7-b1d5-09dfce8d001f" id="200" name="Google Shape;200;p9"/>
          <p:cNvPicPr preferRelativeResize="0"/>
          <p:nvPr/>
        </p:nvPicPr>
        <p:blipFill rotWithShape="1">
          <a:blip r:embed="rId10">
            <a:alphaModFix/>
          </a:blip>
          <a:srcRect b="0" l="0" r="0" t="0"/>
          <a:stretch/>
        </p:blipFill>
        <p:spPr>
          <a:xfrm>
            <a:off x="6881700" y="2058100"/>
            <a:ext cx="1834551" cy="2030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0"/>
          <p:cNvSpPr txBox="1"/>
          <p:nvPr>
            <p:ph type="title"/>
          </p:nvPr>
        </p:nvSpPr>
        <p:spPr>
          <a:xfrm>
            <a:off x="311700" y="103950"/>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DFT Example (N=4)</a:t>
            </a:r>
            <a:endParaRPr/>
          </a:p>
        </p:txBody>
      </p:sp>
      <p:sp>
        <p:nvSpPr>
          <p:cNvPr id="206" name="Google Shape;206;p10"/>
          <p:cNvSpPr txBox="1"/>
          <p:nvPr>
            <p:ph idx="1" type="body"/>
          </p:nvPr>
        </p:nvSpPr>
        <p:spPr>
          <a:xfrm>
            <a:off x="-102725" y="2259850"/>
            <a:ext cx="4567200" cy="2286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Taking a look at the equation, we find that we’re doing a dot product between x, our signal, and each of the four vectors we just derived.</a:t>
            </a:r>
            <a:endParaRPr/>
          </a:p>
        </p:txBody>
      </p:sp>
      <p:pic>
        <p:nvPicPr>
          <p:cNvPr descr="\displaystyle X(k) = \sum_{n=0}^{3} x(n) \cdot e^{-j \frac{2\pi}{4} kn}, \quad k = 0, 1, 2, 3&#10;%72335575-f8da-47d3-9b1e-33a503115d45" id="207" name="Google Shape;207;p10"/>
          <p:cNvPicPr preferRelativeResize="0"/>
          <p:nvPr/>
        </p:nvPicPr>
        <p:blipFill rotWithShape="1">
          <a:blip r:embed="rId3">
            <a:alphaModFix/>
          </a:blip>
          <a:srcRect b="0" l="0" r="0" t="0"/>
          <a:stretch/>
        </p:blipFill>
        <p:spPr>
          <a:xfrm>
            <a:off x="517575" y="732050"/>
            <a:ext cx="8108841" cy="1381675"/>
          </a:xfrm>
          <a:prstGeom prst="rect">
            <a:avLst/>
          </a:prstGeom>
          <a:noFill/>
          <a:ln>
            <a:noFill/>
          </a:ln>
        </p:spPr>
      </p:pic>
      <p:pic>
        <p:nvPicPr>
          <p:cNvPr id="208" name="Google Shape;208;p10"/>
          <p:cNvPicPr preferRelativeResize="0"/>
          <p:nvPr/>
        </p:nvPicPr>
        <p:blipFill rotWithShape="1">
          <a:blip r:embed="rId4">
            <a:alphaModFix/>
          </a:blip>
          <a:srcRect b="80774" l="31972" r="12162" t="0"/>
          <a:stretch/>
        </p:blipFill>
        <p:spPr>
          <a:xfrm>
            <a:off x="4464475" y="2408025"/>
            <a:ext cx="4679525" cy="117562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1"/>
          <p:cNvSpPr txBox="1"/>
          <p:nvPr>
            <p:ph type="title"/>
          </p:nvPr>
        </p:nvSpPr>
        <p:spPr>
          <a:xfrm>
            <a:off x="311700" y="292625"/>
            <a:ext cx="8742900" cy="71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DFT Example (N=4)</a:t>
            </a:r>
            <a:endParaRPr/>
          </a:p>
        </p:txBody>
      </p:sp>
      <p:grpSp>
        <p:nvGrpSpPr>
          <p:cNvPr id="214" name="Google Shape;214;p11"/>
          <p:cNvGrpSpPr/>
          <p:nvPr/>
        </p:nvGrpSpPr>
        <p:grpSpPr>
          <a:xfrm>
            <a:off x="411664" y="917543"/>
            <a:ext cx="953247" cy="991711"/>
            <a:chOff x="311680" y="1911575"/>
            <a:chExt cx="2130162" cy="2249288"/>
          </a:xfrm>
        </p:grpSpPr>
        <p:pic>
          <p:nvPicPr>
            <p:cNvPr id="215" name="Google Shape;215;p11"/>
            <p:cNvPicPr preferRelativeResize="0"/>
            <p:nvPr/>
          </p:nvPicPr>
          <p:blipFill rotWithShape="1">
            <a:blip r:embed="rId3">
              <a:alphaModFix/>
            </a:blip>
            <a:srcRect b="3223" l="0" r="0" t="0"/>
            <a:stretch/>
          </p:blipFill>
          <p:spPr>
            <a:xfrm>
              <a:off x="311680" y="2104613"/>
              <a:ext cx="2130162" cy="2056250"/>
            </a:xfrm>
            <a:prstGeom prst="rect">
              <a:avLst/>
            </a:prstGeom>
            <a:noFill/>
            <a:ln>
              <a:noFill/>
            </a:ln>
          </p:spPr>
        </p:pic>
        <p:pic>
          <p:nvPicPr>
            <p:cNvPr descr="[1,1,1,1] (k=0)&#10;&#10;%862d669e-2c5c-459c-ac00-f37120ce3b5e" id="216" name="Google Shape;216;p11"/>
            <p:cNvPicPr preferRelativeResize="0"/>
            <p:nvPr/>
          </p:nvPicPr>
          <p:blipFill rotWithShape="1">
            <a:blip r:embed="rId4">
              <a:alphaModFix/>
            </a:blip>
            <a:srcRect b="0" l="0" r="0" t="0"/>
            <a:stretch/>
          </p:blipFill>
          <p:spPr>
            <a:xfrm>
              <a:off x="818525" y="1911575"/>
              <a:ext cx="1197950" cy="171775"/>
            </a:xfrm>
            <a:prstGeom prst="rect">
              <a:avLst/>
            </a:prstGeom>
            <a:noFill/>
            <a:ln>
              <a:noFill/>
            </a:ln>
          </p:spPr>
        </p:pic>
      </p:grpSp>
      <p:grpSp>
        <p:nvGrpSpPr>
          <p:cNvPr id="217" name="Google Shape;217;p11"/>
          <p:cNvGrpSpPr/>
          <p:nvPr/>
        </p:nvGrpSpPr>
        <p:grpSpPr>
          <a:xfrm>
            <a:off x="411594" y="1941996"/>
            <a:ext cx="953247" cy="1033569"/>
            <a:chOff x="2441839" y="1890549"/>
            <a:chExt cx="2130162" cy="2344226"/>
          </a:xfrm>
        </p:grpSpPr>
        <p:pic>
          <p:nvPicPr>
            <p:cNvPr id="218" name="Google Shape;218;p11"/>
            <p:cNvPicPr preferRelativeResize="0"/>
            <p:nvPr/>
          </p:nvPicPr>
          <p:blipFill rotWithShape="1">
            <a:blip r:embed="rId5">
              <a:alphaModFix/>
            </a:blip>
            <a:srcRect b="0" l="0" r="0" t="0"/>
            <a:stretch/>
          </p:blipFill>
          <p:spPr>
            <a:xfrm>
              <a:off x="2441839" y="2104613"/>
              <a:ext cx="2130162" cy="2130162"/>
            </a:xfrm>
            <a:prstGeom prst="rect">
              <a:avLst/>
            </a:prstGeom>
            <a:noFill/>
            <a:ln>
              <a:noFill/>
            </a:ln>
          </p:spPr>
        </p:pic>
        <p:pic>
          <p:nvPicPr>
            <p:cNvPr descr="[1,e^{-j\frac{\pi}{2}},e^{-j\pi},e^{-j\frac{3\pi}{2}}](k=1)&#10;%18c97c73-5458-4a83-a495-d984e0478529" id="219" name="Google Shape;219;p11"/>
            <p:cNvPicPr preferRelativeResize="0"/>
            <p:nvPr/>
          </p:nvPicPr>
          <p:blipFill rotWithShape="1">
            <a:blip r:embed="rId6">
              <a:alphaModFix/>
            </a:blip>
            <a:srcRect b="0" l="0" r="0" t="0"/>
            <a:stretch/>
          </p:blipFill>
          <p:spPr>
            <a:xfrm>
              <a:off x="2640400" y="1890549"/>
              <a:ext cx="1834560" cy="213825"/>
            </a:xfrm>
            <a:prstGeom prst="rect">
              <a:avLst/>
            </a:prstGeom>
            <a:noFill/>
            <a:ln>
              <a:noFill/>
            </a:ln>
          </p:spPr>
        </p:pic>
      </p:grpSp>
      <p:grpSp>
        <p:nvGrpSpPr>
          <p:cNvPr id="220" name="Google Shape;220;p11"/>
          <p:cNvGrpSpPr/>
          <p:nvPr/>
        </p:nvGrpSpPr>
        <p:grpSpPr>
          <a:xfrm>
            <a:off x="411524" y="2975750"/>
            <a:ext cx="953247" cy="1024295"/>
            <a:chOff x="4571998" y="1911575"/>
            <a:chExt cx="2130161" cy="2323192"/>
          </a:xfrm>
        </p:grpSpPr>
        <p:pic>
          <p:nvPicPr>
            <p:cNvPr id="221" name="Google Shape;221;p11"/>
            <p:cNvPicPr preferRelativeResize="0"/>
            <p:nvPr/>
          </p:nvPicPr>
          <p:blipFill rotWithShape="1">
            <a:blip r:embed="rId7">
              <a:alphaModFix/>
            </a:blip>
            <a:srcRect b="0" l="0" r="0" t="0"/>
            <a:stretch/>
          </p:blipFill>
          <p:spPr>
            <a:xfrm>
              <a:off x="4571998" y="2104606"/>
              <a:ext cx="2130161" cy="2130161"/>
            </a:xfrm>
            <a:prstGeom prst="rect">
              <a:avLst/>
            </a:prstGeom>
            <a:noFill/>
            <a:ln>
              <a:noFill/>
            </a:ln>
          </p:spPr>
        </p:pic>
        <p:pic>
          <p:nvPicPr>
            <p:cNvPr descr="[1,e^{-j\pi},1,e^{-j\pi}](k=2)&#10;%c2d015a1-3283-45a5-b5b8-f755140e2c64" id="222" name="Google Shape;222;p11"/>
            <p:cNvPicPr preferRelativeResize="0"/>
            <p:nvPr/>
          </p:nvPicPr>
          <p:blipFill rotWithShape="1">
            <a:blip r:embed="rId8">
              <a:alphaModFix/>
            </a:blip>
            <a:srcRect b="0" l="0" r="0" t="0"/>
            <a:stretch/>
          </p:blipFill>
          <p:spPr>
            <a:xfrm>
              <a:off x="4909050" y="1911575"/>
              <a:ext cx="1452908" cy="171775"/>
            </a:xfrm>
            <a:prstGeom prst="rect">
              <a:avLst/>
            </a:prstGeom>
            <a:noFill/>
            <a:ln>
              <a:noFill/>
            </a:ln>
          </p:spPr>
        </p:pic>
      </p:grpSp>
      <p:grpSp>
        <p:nvGrpSpPr>
          <p:cNvPr id="223" name="Google Shape;223;p11"/>
          <p:cNvGrpSpPr/>
          <p:nvPr/>
        </p:nvGrpSpPr>
        <p:grpSpPr>
          <a:xfrm>
            <a:off x="411454" y="4000212"/>
            <a:ext cx="953247" cy="1031184"/>
            <a:chOff x="6702157" y="1895959"/>
            <a:chExt cx="2130161" cy="2338815"/>
          </a:xfrm>
        </p:grpSpPr>
        <p:pic>
          <p:nvPicPr>
            <p:cNvPr id="224" name="Google Shape;224;p11"/>
            <p:cNvPicPr preferRelativeResize="0"/>
            <p:nvPr/>
          </p:nvPicPr>
          <p:blipFill rotWithShape="1">
            <a:blip r:embed="rId9">
              <a:alphaModFix/>
            </a:blip>
            <a:srcRect b="0" l="0" r="0" t="0"/>
            <a:stretch/>
          </p:blipFill>
          <p:spPr>
            <a:xfrm>
              <a:off x="6702157" y="2104613"/>
              <a:ext cx="2130161" cy="2130161"/>
            </a:xfrm>
            <a:prstGeom prst="rect">
              <a:avLst/>
            </a:prstGeom>
            <a:noFill/>
            <a:ln>
              <a:noFill/>
            </a:ln>
          </p:spPr>
        </p:pic>
        <p:pic>
          <p:nvPicPr>
            <p:cNvPr descr="[1,e^{-j\frac{3\pi}{2}},e^{-j \pi},e^{-j\frac{\pi}{2}}] (k=3) \\&#10;%bbe0147b-0800-49a7-b1d5-09dfce8d001f" id="225" name="Google Shape;225;p11"/>
            <p:cNvPicPr preferRelativeResize="0"/>
            <p:nvPr/>
          </p:nvPicPr>
          <p:blipFill rotWithShape="1">
            <a:blip r:embed="rId10">
              <a:alphaModFix/>
            </a:blip>
            <a:srcRect b="0" l="0" r="0" t="0"/>
            <a:stretch/>
          </p:blipFill>
          <p:spPr>
            <a:xfrm>
              <a:off x="6881700" y="1895959"/>
              <a:ext cx="1834551" cy="203004"/>
            </a:xfrm>
            <a:prstGeom prst="rect">
              <a:avLst/>
            </a:prstGeom>
            <a:noFill/>
            <a:ln>
              <a:noFill/>
            </a:ln>
          </p:spPr>
        </p:pic>
      </p:grpSp>
      <p:pic>
        <p:nvPicPr>
          <p:cNvPr descr="\rightarrow X(0)&#10;%91cae130-ed85-41b1-8a66-176ddabb7607" id="226" name="Google Shape;226;p11"/>
          <p:cNvPicPr preferRelativeResize="0"/>
          <p:nvPr/>
        </p:nvPicPr>
        <p:blipFill rotWithShape="1">
          <a:blip r:embed="rId11">
            <a:alphaModFix/>
          </a:blip>
          <a:srcRect b="0" l="0" r="0" t="0"/>
          <a:stretch/>
        </p:blipFill>
        <p:spPr>
          <a:xfrm>
            <a:off x="6182013" y="1290012"/>
            <a:ext cx="1407401" cy="414101"/>
          </a:xfrm>
          <a:prstGeom prst="rect">
            <a:avLst/>
          </a:prstGeom>
          <a:noFill/>
          <a:ln>
            <a:noFill/>
          </a:ln>
        </p:spPr>
      </p:pic>
      <p:pic>
        <p:nvPicPr>
          <p:cNvPr descr="\rightarrow X(1)&#10;%bbb0516e-a997-4a03-9c7d-983a87ddd5a0" id="227" name="Google Shape;227;p11"/>
          <p:cNvPicPr preferRelativeResize="0"/>
          <p:nvPr/>
        </p:nvPicPr>
        <p:blipFill rotWithShape="1">
          <a:blip r:embed="rId12">
            <a:alphaModFix/>
          </a:blip>
          <a:srcRect b="0" l="0" r="0" t="0"/>
          <a:stretch/>
        </p:blipFill>
        <p:spPr>
          <a:xfrm>
            <a:off x="6182013" y="2303842"/>
            <a:ext cx="1407401" cy="414101"/>
          </a:xfrm>
          <a:prstGeom prst="rect">
            <a:avLst/>
          </a:prstGeom>
          <a:noFill/>
          <a:ln>
            <a:noFill/>
          </a:ln>
        </p:spPr>
      </p:pic>
      <p:pic>
        <p:nvPicPr>
          <p:cNvPr descr="\rightarrow X(2)&#10;%5fe892c9-3538-4dba-b3ee-837fa09ae7d6" id="228" name="Google Shape;228;p11"/>
          <p:cNvPicPr preferRelativeResize="0"/>
          <p:nvPr/>
        </p:nvPicPr>
        <p:blipFill rotWithShape="1">
          <a:blip r:embed="rId13">
            <a:alphaModFix/>
          </a:blip>
          <a:srcRect b="0" l="0" r="0" t="0"/>
          <a:stretch/>
        </p:blipFill>
        <p:spPr>
          <a:xfrm>
            <a:off x="6182013" y="3338550"/>
            <a:ext cx="1407401" cy="414101"/>
          </a:xfrm>
          <a:prstGeom prst="rect">
            <a:avLst/>
          </a:prstGeom>
          <a:noFill/>
          <a:ln>
            <a:noFill/>
          </a:ln>
        </p:spPr>
      </p:pic>
      <p:pic>
        <p:nvPicPr>
          <p:cNvPr descr="\rightarrow X(3)&#10;%50fe1ed3-727c-49f0-99a7-22dbc3209b1b" id="229" name="Google Shape;229;p11"/>
          <p:cNvPicPr preferRelativeResize="0"/>
          <p:nvPr/>
        </p:nvPicPr>
        <p:blipFill rotWithShape="1">
          <a:blip r:embed="rId14">
            <a:alphaModFix/>
          </a:blip>
          <a:srcRect b="0" l="0" r="0" t="0"/>
          <a:stretch/>
        </p:blipFill>
        <p:spPr>
          <a:xfrm>
            <a:off x="6182013" y="4373258"/>
            <a:ext cx="1407401" cy="414101"/>
          </a:xfrm>
          <a:prstGeom prst="rect">
            <a:avLst/>
          </a:prstGeom>
          <a:noFill/>
          <a:ln>
            <a:noFill/>
          </a:ln>
        </p:spPr>
      </p:pic>
      <p:sp>
        <p:nvSpPr>
          <p:cNvPr id="230" name="Google Shape;230;p11"/>
          <p:cNvSpPr txBox="1"/>
          <p:nvPr/>
        </p:nvSpPr>
        <p:spPr>
          <a:xfrm rot="5400000">
            <a:off x="6599875" y="2805550"/>
            <a:ext cx="3122100" cy="46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3262"/>
                </a:solidFill>
                <a:latin typeface="Montserrat Medium"/>
                <a:ea typeface="Montserrat Medium"/>
                <a:cs typeface="Montserrat Medium"/>
                <a:sym typeface="Montserrat Medium"/>
              </a:rPr>
              <a:t>Our Fourier coefficients!</a:t>
            </a:r>
            <a:endParaRPr b="0" i="0" sz="1800" u="none" cap="none" strike="noStrike">
              <a:solidFill>
                <a:srgbClr val="003262"/>
              </a:solidFill>
              <a:latin typeface="Montserrat Medium"/>
              <a:ea typeface="Montserrat Medium"/>
              <a:cs typeface="Montserrat Medium"/>
              <a:sym typeface="Montserrat Medium"/>
            </a:endParaRPr>
          </a:p>
        </p:txBody>
      </p:sp>
      <p:pic>
        <p:nvPicPr>
          <p:cNvPr descr="\cdot\ \ x(n) (=[x(0),x(1),x(2),x(3)])&#10;%a95a24a4-7c0f-4e4b-90f1-ef7cb3bbaee6" id="231" name="Google Shape;231;p11"/>
          <p:cNvPicPr preferRelativeResize="0"/>
          <p:nvPr/>
        </p:nvPicPr>
        <p:blipFill rotWithShape="1">
          <a:blip r:embed="rId15">
            <a:alphaModFix/>
          </a:blip>
          <a:srcRect b="0" l="0" r="0" t="0"/>
          <a:stretch/>
        </p:blipFill>
        <p:spPr>
          <a:xfrm>
            <a:off x="1394313" y="1319450"/>
            <a:ext cx="4310166" cy="316275"/>
          </a:xfrm>
          <a:prstGeom prst="rect">
            <a:avLst/>
          </a:prstGeom>
          <a:noFill/>
          <a:ln>
            <a:noFill/>
          </a:ln>
        </p:spPr>
      </p:pic>
      <p:pic>
        <p:nvPicPr>
          <p:cNvPr descr="\cdot\ \ x(n) (=[x(0),x(1),x(2),x(3)])&#10;%a95a24a4-7c0f-4e4b-90f1-ef7cb3bbaee6" id="232" name="Google Shape;232;p11"/>
          <p:cNvPicPr preferRelativeResize="0"/>
          <p:nvPr/>
        </p:nvPicPr>
        <p:blipFill rotWithShape="1">
          <a:blip r:embed="rId15">
            <a:alphaModFix/>
          </a:blip>
          <a:srcRect b="0" l="0" r="0" t="0"/>
          <a:stretch/>
        </p:blipFill>
        <p:spPr>
          <a:xfrm>
            <a:off x="1394313" y="2413613"/>
            <a:ext cx="4310166" cy="316275"/>
          </a:xfrm>
          <a:prstGeom prst="rect">
            <a:avLst/>
          </a:prstGeom>
          <a:noFill/>
          <a:ln>
            <a:noFill/>
          </a:ln>
        </p:spPr>
      </p:pic>
      <p:pic>
        <p:nvPicPr>
          <p:cNvPr descr="\cdot\ \ x(n) (=[x(0),x(1),x(2),x(3)])&#10;%a95a24a4-7c0f-4e4b-90f1-ef7cb3bbaee6" id="233" name="Google Shape;233;p11"/>
          <p:cNvPicPr preferRelativeResize="0"/>
          <p:nvPr/>
        </p:nvPicPr>
        <p:blipFill rotWithShape="1">
          <a:blip r:embed="rId15">
            <a:alphaModFix/>
          </a:blip>
          <a:srcRect b="0" l="0" r="0" t="0"/>
          <a:stretch/>
        </p:blipFill>
        <p:spPr>
          <a:xfrm>
            <a:off x="1444338" y="3367988"/>
            <a:ext cx="4310166" cy="316275"/>
          </a:xfrm>
          <a:prstGeom prst="rect">
            <a:avLst/>
          </a:prstGeom>
          <a:noFill/>
          <a:ln>
            <a:noFill/>
          </a:ln>
        </p:spPr>
      </p:pic>
      <p:pic>
        <p:nvPicPr>
          <p:cNvPr descr="\cdot\ \ x(n) (=[x(0),x(1),x(2),x(3)])&#10;%a95a24a4-7c0f-4e4b-90f1-ef7cb3bbaee6" id="234" name="Google Shape;234;p11"/>
          <p:cNvPicPr preferRelativeResize="0"/>
          <p:nvPr/>
        </p:nvPicPr>
        <p:blipFill rotWithShape="1">
          <a:blip r:embed="rId15">
            <a:alphaModFix/>
          </a:blip>
          <a:srcRect b="0" l="0" r="0" t="0"/>
          <a:stretch/>
        </p:blipFill>
        <p:spPr>
          <a:xfrm>
            <a:off x="1444338" y="4402688"/>
            <a:ext cx="4310166" cy="316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 do the Fourier Coefficients Tell Us?</a:t>
            </a:r>
            <a:endParaRPr/>
          </a:p>
        </p:txBody>
      </p:sp>
      <p:sp>
        <p:nvSpPr>
          <p:cNvPr id="240" name="Google Shape;240;p12"/>
          <p:cNvSpPr txBox="1"/>
          <p:nvPr>
            <p:ph idx="1" type="body"/>
          </p:nvPr>
        </p:nvSpPr>
        <p:spPr>
          <a:xfrm>
            <a:off x="311700" y="1000025"/>
            <a:ext cx="8520600" cy="37413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Char char="●"/>
            </a:pPr>
            <a:r>
              <a:rPr lang="en" sz="1900"/>
              <a:t>Intuitively, we’re using the dot product to calculate the “similarity” between our signal and the vectors of each frequency.</a:t>
            </a:r>
            <a:endParaRPr sz="1900"/>
          </a:p>
          <a:p>
            <a:pPr indent="-349250" lvl="0" marL="457200" rtl="0" algn="l">
              <a:lnSpc>
                <a:spcPct val="115000"/>
              </a:lnSpc>
              <a:spcBef>
                <a:spcPts val="0"/>
              </a:spcBef>
              <a:spcAft>
                <a:spcPts val="0"/>
              </a:spcAft>
              <a:buSzPts val="1900"/>
              <a:buChar char="●"/>
            </a:pPr>
            <a:r>
              <a:rPr lang="en" sz="1900"/>
              <a:t>Thus, we can say that the Fourier coefficients are telling us how much contribution each frequency component has in our signal.</a:t>
            </a:r>
            <a:endParaRPr sz="1900"/>
          </a:p>
          <a:p>
            <a:pPr indent="-349250" lvl="0" marL="457200" rtl="0" algn="l">
              <a:lnSpc>
                <a:spcPct val="115000"/>
              </a:lnSpc>
              <a:spcBef>
                <a:spcPts val="0"/>
              </a:spcBef>
              <a:spcAft>
                <a:spcPts val="0"/>
              </a:spcAft>
              <a:buSzPts val="1900"/>
              <a:buChar char="●"/>
            </a:pPr>
            <a:r>
              <a:rPr lang="en" sz="1900"/>
              <a:t>Another way to look at this is that it’s “pulling” out the sinusoidal components in our signal (remember, we said that all signals can be decomposed into combinations of sinusoids.)</a:t>
            </a:r>
            <a:endParaRPr sz="1900"/>
          </a:p>
          <a:p>
            <a:pPr indent="-349250" lvl="0" marL="457200" rtl="0" algn="l">
              <a:lnSpc>
                <a:spcPct val="115000"/>
              </a:lnSpc>
              <a:spcBef>
                <a:spcPts val="0"/>
              </a:spcBef>
              <a:spcAft>
                <a:spcPts val="0"/>
              </a:spcAft>
              <a:buSzPts val="1900"/>
              <a:buChar char="●"/>
            </a:pPr>
            <a:r>
              <a:rPr lang="en" sz="1900"/>
              <a:t>Notably, by way of how the DFT is set up, the vector of Fourier coefficients is the same length as our signal.</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3"/>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Terminology</a:t>
            </a:r>
            <a:endParaRPr/>
          </a:p>
        </p:txBody>
      </p:sp>
      <p:sp>
        <p:nvSpPr>
          <p:cNvPr id="246" name="Google Shape;246;p13"/>
          <p:cNvSpPr txBox="1"/>
          <p:nvPr>
            <p:ph idx="1" type="body"/>
          </p:nvPr>
        </p:nvSpPr>
        <p:spPr>
          <a:xfrm>
            <a:off x="311700" y="1000025"/>
            <a:ext cx="8520600" cy="3741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We call the vector of Fourier coefficients the “DFT of our signal x.”</a:t>
            </a:r>
            <a:endParaRPr sz="1800"/>
          </a:p>
          <a:p>
            <a:pPr indent="-342900" lvl="0" marL="457200" rtl="0" algn="l">
              <a:lnSpc>
                <a:spcPct val="115000"/>
              </a:lnSpc>
              <a:spcBef>
                <a:spcPts val="0"/>
              </a:spcBef>
              <a:spcAft>
                <a:spcPts val="0"/>
              </a:spcAft>
              <a:buSzPts val="1800"/>
              <a:buChar char="●"/>
            </a:pPr>
            <a:r>
              <a:rPr lang="en" sz="1800"/>
              <a:t>We also call the Fourier transform of a signal the “spectrum” of a signal.</a:t>
            </a:r>
            <a:endParaRPr sz="1800"/>
          </a:p>
          <a:p>
            <a:pPr indent="-342900" lvl="0" marL="457200" rtl="0" algn="l">
              <a:lnSpc>
                <a:spcPct val="115000"/>
              </a:lnSpc>
              <a:spcBef>
                <a:spcPts val="0"/>
              </a:spcBef>
              <a:spcAft>
                <a:spcPts val="0"/>
              </a:spcAft>
              <a:buSzPts val="1800"/>
              <a:buChar char="●"/>
            </a:pPr>
            <a:r>
              <a:rPr lang="en" sz="1800"/>
              <a:t>e.g.) ever seen these spectrum analyzers / plots for songs? They’re performing the Fourier transform on your songs in real-time.</a:t>
            </a:r>
            <a:endParaRPr sz="1800"/>
          </a:p>
        </p:txBody>
      </p:sp>
      <p:pic>
        <p:nvPicPr>
          <p:cNvPr id="247" name="Google Shape;247;p13"/>
          <p:cNvPicPr preferRelativeResize="0"/>
          <p:nvPr/>
        </p:nvPicPr>
        <p:blipFill rotWithShape="1">
          <a:blip r:embed="rId3">
            <a:alphaModFix/>
          </a:blip>
          <a:srcRect b="13547" l="0" r="0" t="0"/>
          <a:stretch/>
        </p:blipFill>
        <p:spPr>
          <a:xfrm>
            <a:off x="2590475" y="2924800"/>
            <a:ext cx="3963050" cy="1928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4"/>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 Makes the DFT “Discrete?”</a:t>
            </a:r>
            <a:endParaRPr/>
          </a:p>
        </p:txBody>
      </p:sp>
      <p:sp>
        <p:nvSpPr>
          <p:cNvPr id="253" name="Google Shape;253;p14"/>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The data types that we have been working with is discrete, meaning that there are separate values for each discretized timestep.</a:t>
            </a:r>
            <a:endParaRPr/>
          </a:p>
          <a:p>
            <a:pPr indent="-355600" lvl="0" marL="457200" rtl="0" algn="l">
              <a:lnSpc>
                <a:spcPct val="115000"/>
              </a:lnSpc>
              <a:spcBef>
                <a:spcPts val="0"/>
              </a:spcBef>
              <a:spcAft>
                <a:spcPts val="0"/>
              </a:spcAft>
              <a:buSzPts val="2000"/>
              <a:buChar char="●"/>
            </a:pPr>
            <a:r>
              <a:rPr lang="en"/>
              <a:t>The DFT is discrete in both the frequency and time domain.</a:t>
            </a:r>
            <a:endParaRPr/>
          </a:p>
        </p:txBody>
      </p:sp>
      <p:pic>
        <p:nvPicPr>
          <p:cNvPr id="254" name="Google Shape;254;p14"/>
          <p:cNvPicPr preferRelativeResize="0"/>
          <p:nvPr/>
        </p:nvPicPr>
        <p:blipFill rotWithShape="1">
          <a:blip r:embed="rId3">
            <a:alphaModFix/>
          </a:blip>
          <a:srcRect b="9437" l="0" r="0" t="0"/>
          <a:stretch/>
        </p:blipFill>
        <p:spPr>
          <a:xfrm>
            <a:off x="2133600" y="2976799"/>
            <a:ext cx="4876800" cy="1889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5"/>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Why is the DFT Useful for Us?</a:t>
            </a:r>
            <a:endParaRPr/>
          </a:p>
        </p:txBody>
      </p:sp>
      <p:sp>
        <p:nvSpPr>
          <p:cNvPr id="260" name="Google Shape;260;p15"/>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All the data we work with on computers is digital (discrete)</a:t>
            </a:r>
            <a:endParaRPr/>
          </a:p>
          <a:p>
            <a:pPr indent="-355600" lvl="0" marL="457200" rtl="0" algn="l">
              <a:lnSpc>
                <a:spcPct val="115000"/>
              </a:lnSpc>
              <a:spcBef>
                <a:spcPts val="0"/>
              </a:spcBef>
              <a:spcAft>
                <a:spcPts val="0"/>
              </a:spcAft>
              <a:buSzPts val="2000"/>
              <a:buChar char="●"/>
            </a:pPr>
            <a:r>
              <a:rPr lang="en"/>
              <a:t>That means the time series data in question can be represented as a 1-d vector, which is what the DFT uses.</a:t>
            </a:r>
            <a:endParaRPr/>
          </a:p>
          <a:p>
            <a:pPr indent="-355600" lvl="1" marL="914400" rtl="0" algn="l">
              <a:lnSpc>
                <a:spcPct val="115000"/>
              </a:lnSpc>
              <a:spcBef>
                <a:spcPts val="0"/>
              </a:spcBef>
              <a:spcAft>
                <a:spcPts val="0"/>
              </a:spcAft>
              <a:buSzPts val="2000"/>
              <a:buChar char="○"/>
            </a:pPr>
            <a:r>
              <a:rPr lang="en"/>
              <a:t>e.g.) mono channel audio data:</a:t>
            </a:r>
            <a:endParaRPr/>
          </a:p>
        </p:txBody>
      </p:sp>
      <p:pic>
        <p:nvPicPr>
          <p:cNvPr id="261" name="Google Shape;261;p15"/>
          <p:cNvPicPr preferRelativeResize="0"/>
          <p:nvPr/>
        </p:nvPicPr>
        <p:blipFill rotWithShape="1">
          <a:blip r:embed="rId3">
            <a:alphaModFix/>
          </a:blip>
          <a:srcRect b="0" l="0" r="0" t="0"/>
          <a:stretch/>
        </p:blipFill>
        <p:spPr>
          <a:xfrm>
            <a:off x="2585150" y="2652125"/>
            <a:ext cx="3973700" cy="2143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6"/>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 does Shazam do?</a:t>
            </a:r>
            <a:endParaRPr/>
          </a:p>
        </p:txBody>
      </p:sp>
      <p:sp>
        <p:nvSpPr>
          <p:cNvPr id="267" name="Google Shape;267;p16"/>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“Audio fingerprinting”</a:t>
            </a:r>
            <a:endParaRPr/>
          </a:p>
          <a:p>
            <a:pPr indent="-355600" lvl="1" marL="914400" rtl="0" algn="l">
              <a:lnSpc>
                <a:spcPct val="115000"/>
              </a:lnSpc>
              <a:spcBef>
                <a:spcPts val="0"/>
              </a:spcBef>
              <a:spcAft>
                <a:spcPts val="0"/>
              </a:spcAft>
              <a:buSzPts val="2000"/>
              <a:buChar char="○"/>
            </a:pPr>
            <a:r>
              <a:rPr lang="en"/>
              <a:t>Q: how do we analyze songs so that we can give them a “fingerprint” that is unique to a song?</a:t>
            </a:r>
            <a:endParaRPr/>
          </a:p>
          <a:p>
            <a:pPr indent="-355600" lvl="1" marL="914400" rtl="0" algn="l">
              <a:lnSpc>
                <a:spcPct val="115000"/>
              </a:lnSpc>
              <a:spcBef>
                <a:spcPts val="0"/>
              </a:spcBef>
              <a:spcAft>
                <a:spcPts val="0"/>
              </a:spcAft>
              <a:buSzPts val="2000"/>
              <a:buChar char="○"/>
            </a:pPr>
            <a:r>
              <a:rPr lang="en"/>
              <a:t>A: use spectral analysis! (i.e. analyze the spectrum / DFT of the song)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DFT in Shazam</a:t>
            </a:r>
            <a:endParaRPr/>
          </a:p>
        </p:txBody>
      </p:sp>
      <p:sp>
        <p:nvSpPr>
          <p:cNvPr id="273" name="Google Shape;273;p17"/>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DFT is a powerful tool here</a:t>
            </a:r>
            <a:endParaRPr/>
          </a:p>
          <a:p>
            <a:pPr indent="-355600" lvl="0" marL="457200" rtl="0" algn="l">
              <a:lnSpc>
                <a:spcPct val="115000"/>
              </a:lnSpc>
              <a:spcBef>
                <a:spcPts val="0"/>
              </a:spcBef>
              <a:spcAft>
                <a:spcPts val="0"/>
              </a:spcAft>
              <a:buSzPts val="2000"/>
              <a:buChar char="●"/>
            </a:pPr>
            <a:r>
              <a:rPr lang="en"/>
              <a:t>Problem: there’s zero temporal information</a:t>
            </a:r>
            <a:endParaRPr/>
          </a:p>
          <a:p>
            <a:pPr indent="-355600" lvl="1" marL="914400" rtl="0" algn="l">
              <a:lnSpc>
                <a:spcPct val="115000"/>
              </a:lnSpc>
              <a:spcBef>
                <a:spcPts val="0"/>
              </a:spcBef>
              <a:spcAft>
                <a:spcPts val="0"/>
              </a:spcAft>
              <a:buSzPts val="2000"/>
              <a:buChar char="○"/>
            </a:pPr>
            <a:r>
              <a:rPr lang="en"/>
              <a:t>If you do DFT on the entire song, it gives you the frequency contents of the entire song. It doesn’t tell us about how those contents change throughout the duration of the song.</a:t>
            </a:r>
            <a:endParaRPr/>
          </a:p>
          <a:p>
            <a:pPr indent="-355600" lvl="1" marL="914400" rtl="0" algn="l">
              <a:lnSpc>
                <a:spcPct val="115000"/>
              </a:lnSpc>
              <a:spcBef>
                <a:spcPts val="0"/>
              </a:spcBef>
              <a:spcAft>
                <a:spcPts val="0"/>
              </a:spcAft>
              <a:buSzPts val="2000"/>
              <a:buChar char="○"/>
            </a:pPr>
            <a:r>
              <a:rPr lang="en"/>
              <a:t>e.g.) a song might be more bass-heavy in certain parts of the song.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8"/>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Spectrograms</a:t>
            </a:r>
            <a:endParaRPr/>
          </a:p>
        </p:txBody>
      </p:sp>
      <p:pic>
        <p:nvPicPr>
          <p:cNvPr id="279" name="Google Shape;279;p18"/>
          <p:cNvPicPr preferRelativeResize="0"/>
          <p:nvPr/>
        </p:nvPicPr>
        <p:blipFill rotWithShape="1">
          <a:blip r:embed="rId3">
            <a:alphaModFix/>
          </a:blip>
          <a:srcRect b="0" l="0" r="0" t="0"/>
          <a:stretch/>
        </p:blipFill>
        <p:spPr>
          <a:xfrm>
            <a:off x="986185" y="1481225"/>
            <a:ext cx="7384714" cy="2739696"/>
          </a:xfrm>
          <a:prstGeom prst="rect">
            <a:avLst/>
          </a:prstGeom>
          <a:noFill/>
          <a:ln>
            <a:noFill/>
          </a:ln>
        </p:spPr>
      </p:pic>
      <p:cxnSp>
        <p:nvCxnSpPr>
          <p:cNvPr id="280" name="Google Shape;280;p18"/>
          <p:cNvCxnSpPr/>
          <p:nvPr/>
        </p:nvCxnSpPr>
        <p:spPr>
          <a:xfrm rot="10800000">
            <a:off x="818866" y="1604102"/>
            <a:ext cx="0" cy="2245200"/>
          </a:xfrm>
          <a:prstGeom prst="straightConnector1">
            <a:avLst/>
          </a:prstGeom>
          <a:noFill/>
          <a:ln cap="flat" cmpd="sng" w="28575">
            <a:solidFill>
              <a:schemeClr val="dk2"/>
            </a:solidFill>
            <a:prstDash val="solid"/>
            <a:round/>
            <a:headEnd len="sm" w="sm" type="none"/>
            <a:tailEnd len="med" w="med" type="triangle"/>
          </a:ln>
        </p:spPr>
      </p:cxnSp>
      <p:cxnSp>
        <p:nvCxnSpPr>
          <p:cNvPr id="281" name="Google Shape;281;p18"/>
          <p:cNvCxnSpPr/>
          <p:nvPr/>
        </p:nvCxnSpPr>
        <p:spPr>
          <a:xfrm>
            <a:off x="986185" y="4395825"/>
            <a:ext cx="7396500" cy="0"/>
          </a:xfrm>
          <a:prstGeom prst="straightConnector1">
            <a:avLst/>
          </a:prstGeom>
          <a:noFill/>
          <a:ln cap="flat" cmpd="sng" w="28575">
            <a:solidFill>
              <a:schemeClr val="dk2"/>
            </a:solidFill>
            <a:prstDash val="solid"/>
            <a:round/>
            <a:headEnd len="sm" w="sm" type="none"/>
            <a:tailEnd len="med" w="med" type="triangle"/>
          </a:ln>
        </p:spPr>
      </p:cxnSp>
      <p:sp>
        <p:nvSpPr>
          <p:cNvPr id="282" name="Google Shape;282;p18"/>
          <p:cNvSpPr txBox="1"/>
          <p:nvPr/>
        </p:nvSpPr>
        <p:spPr>
          <a:xfrm rot="-5400000">
            <a:off x="-549450" y="2501725"/>
            <a:ext cx="2172300" cy="45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3262"/>
                </a:solidFill>
                <a:latin typeface="Montserrat Medium"/>
                <a:ea typeface="Montserrat Medium"/>
                <a:cs typeface="Montserrat Medium"/>
                <a:sym typeface="Montserrat Medium"/>
              </a:rPr>
              <a:t>Frequency axis (y)</a:t>
            </a:r>
            <a:endParaRPr b="0" i="0" sz="1600" u="none" cap="none" strike="noStrike">
              <a:solidFill>
                <a:srgbClr val="003262"/>
              </a:solidFill>
              <a:latin typeface="Montserrat Medium"/>
              <a:ea typeface="Montserrat Medium"/>
              <a:cs typeface="Montserrat Medium"/>
              <a:sym typeface="Montserrat Medium"/>
            </a:endParaRPr>
          </a:p>
        </p:txBody>
      </p:sp>
      <p:sp>
        <p:nvSpPr>
          <p:cNvPr id="283" name="Google Shape;283;p18"/>
          <p:cNvSpPr txBox="1"/>
          <p:nvPr/>
        </p:nvSpPr>
        <p:spPr>
          <a:xfrm>
            <a:off x="3461954" y="4395825"/>
            <a:ext cx="2444700" cy="39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3262"/>
                </a:solidFill>
                <a:latin typeface="Montserrat Medium"/>
                <a:ea typeface="Montserrat Medium"/>
                <a:cs typeface="Montserrat Medium"/>
                <a:sym typeface="Montserrat Medium"/>
              </a:rPr>
              <a:t>Time axis (x)</a:t>
            </a:r>
            <a:endParaRPr b="0" i="0" sz="1600" u="none" cap="none" strike="noStrike">
              <a:solidFill>
                <a:srgbClr val="003262"/>
              </a:solidFill>
              <a:latin typeface="Montserrat Medium"/>
              <a:ea typeface="Montserrat Medium"/>
              <a:cs typeface="Montserrat Medium"/>
              <a:sym typeface="Montserrat Medium"/>
            </a:endParaRPr>
          </a:p>
        </p:txBody>
      </p:sp>
      <p:sp>
        <p:nvSpPr>
          <p:cNvPr id="284" name="Google Shape;284;p18"/>
          <p:cNvSpPr txBox="1"/>
          <p:nvPr>
            <p:ph idx="1" type="body"/>
          </p:nvPr>
        </p:nvSpPr>
        <p:spPr>
          <a:xfrm>
            <a:off x="311700" y="950825"/>
            <a:ext cx="8520600" cy="3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2000"/>
              <a:buNone/>
            </a:pPr>
            <a:r>
              <a:rPr lang="en"/>
              <a:t>Many DFTs on short snippets of audio!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Audio Fingerprinting Scheme</a:t>
            </a:r>
            <a:endParaRPr/>
          </a:p>
        </p:txBody>
      </p:sp>
      <p:sp>
        <p:nvSpPr>
          <p:cNvPr id="290" name="Google Shape;290;p19"/>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Char char="●"/>
            </a:pPr>
            <a:r>
              <a:rPr lang="en" sz="1900"/>
              <a:t>We have a spectrogram - a 2D plot that contains values</a:t>
            </a:r>
            <a:endParaRPr sz="1900"/>
          </a:p>
          <a:p>
            <a:pPr indent="-349250" lvl="1" marL="914400" rtl="0" algn="l">
              <a:lnSpc>
                <a:spcPct val="115000"/>
              </a:lnSpc>
              <a:spcBef>
                <a:spcPts val="0"/>
              </a:spcBef>
              <a:spcAft>
                <a:spcPts val="0"/>
              </a:spcAft>
              <a:buSzPts val="1900"/>
              <a:buChar char="○"/>
            </a:pPr>
            <a:r>
              <a:rPr lang="en" sz="1900"/>
              <a:t>Each value tells us the “intensity” of that frequency component at that time</a:t>
            </a:r>
            <a:endParaRPr sz="1900"/>
          </a:p>
          <a:p>
            <a:pPr indent="-349250" lvl="2" marL="1371600" rtl="0" algn="l">
              <a:lnSpc>
                <a:spcPct val="115000"/>
              </a:lnSpc>
              <a:spcBef>
                <a:spcPts val="0"/>
              </a:spcBef>
              <a:spcAft>
                <a:spcPts val="0"/>
              </a:spcAft>
              <a:buSzPts val="1900"/>
              <a:buChar char="■"/>
            </a:pPr>
            <a:r>
              <a:rPr lang="en" sz="1900"/>
              <a:t>Coordinates: (time, frequency)</a:t>
            </a:r>
            <a:endParaRPr sz="1900"/>
          </a:p>
          <a:p>
            <a:pPr indent="-349250" lvl="0" marL="457200" rtl="0" algn="l">
              <a:lnSpc>
                <a:spcPct val="115000"/>
              </a:lnSpc>
              <a:spcBef>
                <a:spcPts val="0"/>
              </a:spcBef>
              <a:spcAft>
                <a:spcPts val="0"/>
              </a:spcAft>
              <a:buSzPts val="1900"/>
              <a:buAutoNum type="arabicPeriod"/>
            </a:pPr>
            <a:r>
              <a:rPr lang="en" sz="1900"/>
              <a:t>We calculate a threshold value to find the “peaks” in our spectrogram.</a:t>
            </a:r>
            <a:endParaRPr sz="1900"/>
          </a:p>
          <a:p>
            <a:pPr indent="-349250" lvl="0" marL="457200" rtl="0" algn="l">
              <a:lnSpc>
                <a:spcPct val="115000"/>
              </a:lnSpc>
              <a:spcBef>
                <a:spcPts val="0"/>
              </a:spcBef>
              <a:spcAft>
                <a:spcPts val="0"/>
              </a:spcAft>
              <a:buSzPts val="1900"/>
              <a:buAutoNum type="arabicPeriod"/>
            </a:pPr>
            <a:r>
              <a:rPr lang="en" sz="1900"/>
              <a:t>We only highlight the peaks in our spectrogram and set everything else to zero.</a:t>
            </a:r>
            <a:endParaRPr sz="1900"/>
          </a:p>
          <a:p>
            <a:pPr indent="-349250" lvl="0" marL="457200" rtl="0" algn="l">
              <a:lnSpc>
                <a:spcPct val="115000"/>
              </a:lnSpc>
              <a:spcBef>
                <a:spcPts val="0"/>
              </a:spcBef>
              <a:spcAft>
                <a:spcPts val="0"/>
              </a:spcAft>
              <a:buSzPts val="1900"/>
              <a:buAutoNum type="arabicPeriod"/>
            </a:pPr>
            <a:r>
              <a:rPr lang="en" sz="1900"/>
              <a:t>We turn that image into a value that can be used easily by a computer with a hashing algorithm.</a:t>
            </a:r>
            <a:endParaRPr sz="1900"/>
          </a:p>
          <a:p>
            <a:pPr indent="-349250" lvl="0" marL="457200" rtl="0" algn="l">
              <a:lnSpc>
                <a:spcPct val="115000"/>
              </a:lnSpc>
              <a:spcBef>
                <a:spcPts val="0"/>
              </a:spcBef>
              <a:spcAft>
                <a:spcPts val="0"/>
              </a:spcAft>
              <a:buSzPts val="1900"/>
              <a:buAutoNum type="arabicPeriod"/>
            </a:pPr>
            <a:r>
              <a:rPr lang="en" sz="1900"/>
              <a:t>We have an audio fingerprint!</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0"/>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Audio Fingerprinting Scheme</a:t>
            </a:r>
            <a:endParaRPr/>
          </a:p>
        </p:txBody>
      </p:sp>
      <p:sp>
        <p:nvSpPr>
          <p:cNvPr id="296" name="Google Shape;296;p20"/>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en" sz="1900"/>
              <a:t>We can run the same fingerprinting algorithm on a snippet of a song we would like to identify.</a:t>
            </a:r>
            <a:endParaRPr sz="1900"/>
          </a:p>
          <a:p>
            <a:pPr indent="-349250" lvl="0" marL="457200" rtl="0" algn="l">
              <a:lnSpc>
                <a:spcPct val="115000"/>
              </a:lnSpc>
              <a:spcBef>
                <a:spcPts val="0"/>
              </a:spcBef>
              <a:spcAft>
                <a:spcPts val="0"/>
              </a:spcAft>
              <a:buSzPts val="1900"/>
              <a:buChar char="●"/>
            </a:pPr>
            <a:r>
              <a:rPr lang="en" sz="1900"/>
              <a:t>We can then compare the value we get, and compare it with a pre-existing saved value from all the songs we’ve analyzed, and find a match!</a:t>
            </a:r>
            <a:endParaRPr sz="1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1"/>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n"/>
              <a:t>Marimo Notebook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h704c0b4b91e99d5f_0_10"/>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307" name="Google Shape;307;h704c0b4b91e99d5f_0_10"/>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000"/>
              <a:buNone/>
            </a:pPr>
            <a:r>
              <a:rPr lang="en"/>
              <a:t>A web-based interactive computational environment similar to Jupyter Notebook</a:t>
            </a:r>
            <a:endParaRPr/>
          </a:p>
          <a:p>
            <a:pPr indent="-355600" lvl="0" marL="914400" rtl="0" algn="l">
              <a:lnSpc>
                <a:spcPct val="115000"/>
              </a:lnSpc>
              <a:spcBef>
                <a:spcPts val="1000"/>
              </a:spcBef>
              <a:spcAft>
                <a:spcPts val="0"/>
              </a:spcAft>
              <a:buSzPts val="2000"/>
              <a:buChar char="●"/>
            </a:pPr>
            <a:r>
              <a:rPr lang="en"/>
              <a:t>Document containing a list</a:t>
            </a:r>
            <a:r>
              <a:rPr b="1" lang="en"/>
              <a:t> </a:t>
            </a:r>
            <a:r>
              <a:rPr lang="en"/>
              <a:t>of input/output cells </a:t>
            </a:r>
            <a:endParaRPr/>
          </a:p>
          <a:p>
            <a:pPr indent="-355600" lvl="0" marL="914400" rtl="0" algn="l">
              <a:lnSpc>
                <a:spcPct val="115000"/>
              </a:lnSpc>
              <a:spcBef>
                <a:spcPts val="0"/>
              </a:spcBef>
              <a:spcAft>
                <a:spcPts val="0"/>
              </a:spcAft>
              <a:buSzPts val="2000"/>
              <a:buChar char="●"/>
            </a:pPr>
            <a:r>
              <a:rPr lang="en"/>
              <a:t>Can contain code, text, mathematics, plots and rich media</a:t>
            </a:r>
            <a:endParaRPr/>
          </a:p>
          <a:p>
            <a:pPr indent="-355600" lvl="0" marL="914400" rtl="0" algn="l">
              <a:lnSpc>
                <a:spcPct val="115000"/>
              </a:lnSpc>
              <a:spcBef>
                <a:spcPts val="0"/>
              </a:spcBef>
              <a:spcAft>
                <a:spcPts val="0"/>
              </a:spcAft>
              <a:buSzPts val="2000"/>
              <a:buChar char="●"/>
            </a:pPr>
            <a:r>
              <a:rPr lang="en"/>
              <a:t>.py file extension</a:t>
            </a:r>
            <a:endParaRPr/>
          </a:p>
          <a:p>
            <a:pPr indent="-355600" lvl="0" marL="914400" rtl="0" algn="l">
              <a:lnSpc>
                <a:spcPct val="115000"/>
              </a:lnSpc>
              <a:spcBef>
                <a:spcPts val="0"/>
              </a:spcBef>
              <a:spcAft>
                <a:spcPts val="0"/>
              </a:spcAft>
              <a:buSzPts val="2000"/>
              <a:buChar char="●"/>
            </a:pPr>
            <a:r>
              <a:rPr lang="en"/>
              <a:t>But what does this look like?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h704c0b4b91e99d5f_0_15"/>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313" name="Google Shape;313;h704c0b4b91e99d5f_0_15"/>
          <p:cNvSpPr txBox="1"/>
          <p:nvPr>
            <p:ph idx="1" type="body"/>
          </p:nvPr>
        </p:nvSpPr>
        <p:spPr>
          <a:xfrm>
            <a:off x="311700" y="1027025"/>
            <a:ext cx="49296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b="1" lang="en"/>
              <a:t>Stateless </a:t>
            </a:r>
            <a:r>
              <a:rPr lang="en"/>
              <a:t>list of </a:t>
            </a:r>
            <a:r>
              <a:rPr b="1" lang="en"/>
              <a:t>input &amp; output</a:t>
            </a:r>
            <a:endParaRPr b="1"/>
          </a:p>
          <a:p>
            <a:pPr indent="-330200" lvl="1" marL="914400" rtl="0" algn="l">
              <a:lnSpc>
                <a:spcPct val="115000"/>
              </a:lnSpc>
              <a:spcBef>
                <a:spcPts val="0"/>
              </a:spcBef>
              <a:spcAft>
                <a:spcPts val="0"/>
              </a:spcAft>
              <a:buSzPts val="1600"/>
              <a:buFont typeface="Montserrat"/>
              <a:buChar char="○"/>
            </a:pPr>
            <a:r>
              <a:rPr lang="en" sz="1600">
                <a:latin typeface="Montserrat"/>
                <a:ea typeface="Montserrat"/>
                <a:cs typeface="Montserrat"/>
                <a:sym typeface="Montserrat"/>
              </a:rPr>
              <a:t>The order you run these cells does not matter!</a:t>
            </a:r>
            <a:endParaRPr sz="1600">
              <a:latin typeface="Montserrat"/>
              <a:ea typeface="Montserrat"/>
              <a:cs typeface="Montserrat"/>
              <a:sym typeface="Montserrat"/>
            </a:endParaRPr>
          </a:p>
          <a:p>
            <a:pPr indent="-355600" lvl="0" marL="457200" rtl="0" algn="l">
              <a:lnSpc>
                <a:spcPct val="115000"/>
              </a:lnSpc>
              <a:spcBef>
                <a:spcPts val="0"/>
              </a:spcBef>
              <a:spcAft>
                <a:spcPts val="0"/>
              </a:spcAft>
              <a:buSzPts val="2000"/>
              <a:buChar char="●"/>
            </a:pPr>
            <a:r>
              <a:rPr lang="en"/>
              <a:t>Control/Command + Enter to run current block</a:t>
            </a:r>
            <a:endParaRPr/>
          </a:p>
          <a:p>
            <a:pPr indent="-355600" lvl="0" marL="457200" rtl="0" algn="l">
              <a:lnSpc>
                <a:spcPct val="115000"/>
              </a:lnSpc>
              <a:spcBef>
                <a:spcPts val="0"/>
              </a:spcBef>
              <a:spcAft>
                <a:spcPts val="0"/>
              </a:spcAft>
              <a:buSzPts val="2000"/>
              <a:buChar char="●"/>
            </a:pPr>
            <a:r>
              <a:rPr lang="en"/>
              <a:t>Shift + Enter to run and move forward</a:t>
            </a:r>
            <a:endParaRPr b="1"/>
          </a:p>
        </p:txBody>
      </p:sp>
      <p:pic>
        <p:nvPicPr>
          <p:cNvPr id="314" name="Google Shape;314;h704c0b4b91e99d5f_0_15"/>
          <p:cNvPicPr preferRelativeResize="0"/>
          <p:nvPr/>
        </p:nvPicPr>
        <p:blipFill rotWithShape="1">
          <a:blip r:embed="rId3">
            <a:alphaModFix/>
          </a:blip>
          <a:srcRect b="0" l="0" r="0" t="0"/>
          <a:stretch/>
        </p:blipFill>
        <p:spPr>
          <a:xfrm>
            <a:off x="5847974" y="332500"/>
            <a:ext cx="2612772" cy="4232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h704c0b4b91e99d5f_0_2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320" name="Google Shape;320;h704c0b4b91e99d5f_0_21"/>
          <p:cNvSpPr txBox="1"/>
          <p:nvPr>
            <p:ph idx="1" type="body"/>
          </p:nvPr>
        </p:nvSpPr>
        <p:spPr>
          <a:xfrm>
            <a:off x="311700" y="1027025"/>
            <a:ext cx="33783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Montserrat"/>
              <a:buChar char="●"/>
            </a:pPr>
            <a:r>
              <a:rPr lang="en">
                <a:latin typeface="Montserrat"/>
                <a:ea typeface="Montserrat"/>
                <a:cs typeface="Montserrat"/>
                <a:sym typeface="Montserrat"/>
              </a:rPr>
              <a:t>Running / changing one cell executes downstream cells</a:t>
            </a:r>
            <a:endParaRPr>
              <a:latin typeface="Montserrat"/>
              <a:ea typeface="Montserrat"/>
              <a:cs typeface="Montserrat"/>
              <a:sym typeface="Montserrat"/>
            </a:endParaRPr>
          </a:p>
          <a:p>
            <a:pPr indent="-355600" lvl="0" marL="457200" rtl="0" algn="l">
              <a:lnSpc>
                <a:spcPct val="115000"/>
              </a:lnSpc>
              <a:spcBef>
                <a:spcPts val="1000"/>
              </a:spcBef>
              <a:spcAft>
                <a:spcPts val="1000"/>
              </a:spcAft>
              <a:buSzPts val="2000"/>
              <a:buFont typeface="Montserrat"/>
              <a:buChar char="●"/>
            </a:pPr>
            <a:r>
              <a:rPr lang="en">
                <a:latin typeface="Montserrat"/>
                <a:ea typeface="Montserrat"/>
                <a:cs typeface="Montserrat"/>
                <a:sym typeface="Montserrat"/>
              </a:rPr>
              <a:t>If I change variable v, the next two cells are automatically affected</a:t>
            </a:r>
            <a:endParaRPr>
              <a:latin typeface="Montserrat"/>
              <a:ea typeface="Montserrat"/>
              <a:cs typeface="Montserrat"/>
              <a:sym typeface="Montserrat"/>
            </a:endParaRPr>
          </a:p>
        </p:txBody>
      </p:sp>
      <p:pic>
        <p:nvPicPr>
          <p:cNvPr id="321" name="Google Shape;321;h704c0b4b91e99d5f_0_21"/>
          <p:cNvPicPr preferRelativeResize="0"/>
          <p:nvPr/>
        </p:nvPicPr>
        <p:blipFill rotWithShape="1">
          <a:blip r:embed="rId3">
            <a:alphaModFix/>
          </a:blip>
          <a:srcRect b="0" l="0" r="0" t="0"/>
          <a:stretch/>
        </p:blipFill>
        <p:spPr>
          <a:xfrm>
            <a:off x="3973250" y="931000"/>
            <a:ext cx="2273727" cy="3232450"/>
          </a:xfrm>
          <a:prstGeom prst="rect">
            <a:avLst/>
          </a:prstGeom>
          <a:noFill/>
          <a:ln>
            <a:noFill/>
          </a:ln>
        </p:spPr>
      </p:pic>
      <p:pic>
        <p:nvPicPr>
          <p:cNvPr id="322" name="Google Shape;322;h704c0b4b91e99d5f_0_21"/>
          <p:cNvPicPr preferRelativeResize="0"/>
          <p:nvPr/>
        </p:nvPicPr>
        <p:blipFill rotWithShape="1">
          <a:blip r:embed="rId4">
            <a:alphaModFix/>
          </a:blip>
          <a:srcRect b="0" l="0" r="0" t="0"/>
          <a:stretch/>
        </p:blipFill>
        <p:spPr>
          <a:xfrm>
            <a:off x="6403050" y="924533"/>
            <a:ext cx="2165800" cy="323244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h704c0b4b91e99d5f_0_28"/>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328" name="Google Shape;328;h704c0b4b91e99d5f_0_28"/>
          <p:cNvSpPr txBox="1"/>
          <p:nvPr>
            <p:ph idx="1" type="body"/>
          </p:nvPr>
        </p:nvSpPr>
        <p:spPr>
          <a:xfrm>
            <a:off x="311700" y="1006750"/>
            <a:ext cx="33783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Montserrat"/>
              <a:buChar char="●"/>
            </a:pPr>
            <a:r>
              <a:rPr lang="en">
                <a:latin typeface="Montserrat"/>
                <a:ea typeface="Montserrat"/>
                <a:cs typeface="Montserrat"/>
                <a:sym typeface="Montserrat"/>
              </a:rPr>
              <a:t>Variable names for assignment can only happen in one cell.</a:t>
            </a:r>
            <a:endParaRPr>
              <a:latin typeface="Montserrat"/>
              <a:ea typeface="Montserrat"/>
              <a:cs typeface="Montserrat"/>
              <a:sym typeface="Montserrat"/>
            </a:endParaRPr>
          </a:p>
          <a:p>
            <a:pPr indent="-330200" lvl="1" marL="914400" rtl="0" algn="l">
              <a:lnSpc>
                <a:spcPct val="115000"/>
              </a:lnSpc>
              <a:spcBef>
                <a:spcPts val="1000"/>
              </a:spcBef>
              <a:spcAft>
                <a:spcPts val="1000"/>
              </a:spcAft>
              <a:buSzPts val="1600"/>
              <a:buFont typeface="Montserrat"/>
              <a:buChar char="○"/>
            </a:pPr>
            <a:r>
              <a:rPr lang="en" sz="1600">
                <a:latin typeface="Montserrat"/>
                <a:ea typeface="Montserrat"/>
                <a:cs typeface="Montserrat"/>
                <a:sym typeface="Montserrat"/>
              </a:rPr>
              <a:t>You cannot define a variable in one cell and redefine it in another cell</a:t>
            </a:r>
            <a:endParaRPr sz="1600">
              <a:latin typeface="Montserrat"/>
              <a:ea typeface="Montserrat"/>
              <a:cs typeface="Montserrat"/>
              <a:sym typeface="Montserrat"/>
            </a:endParaRPr>
          </a:p>
        </p:txBody>
      </p:sp>
      <p:pic>
        <p:nvPicPr>
          <p:cNvPr id="329" name="Google Shape;329;h704c0b4b91e99d5f_0_28"/>
          <p:cNvPicPr preferRelativeResize="0"/>
          <p:nvPr/>
        </p:nvPicPr>
        <p:blipFill rotWithShape="1">
          <a:blip r:embed="rId3">
            <a:alphaModFix/>
          </a:blip>
          <a:srcRect b="0" l="0" r="0" t="0"/>
          <a:stretch/>
        </p:blipFill>
        <p:spPr>
          <a:xfrm>
            <a:off x="5166025" y="1000025"/>
            <a:ext cx="3065856" cy="3838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h704c0b4b91e99d5f_0_34"/>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Marimo Notebook</a:t>
            </a:r>
            <a:endParaRPr/>
          </a:p>
        </p:txBody>
      </p:sp>
      <p:sp>
        <p:nvSpPr>
          <p:cNvPr id="335" name="Google Shape;335;h704c0b4b91e99d5f_0_34"/>
          <p:cNvSpPr txBox="1"/>
          <p:nvPr>
            <p:ph idx="1" type="body"/>
          </p:nvPr>
        </p:nvSpPr>
        <p:spPr>
          <a:xfrm>
            <a:off x="311700" y="1027025"/>
            <a:ext cx="8400000" cy="3714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a:t>Text/Markdown</a:t>
            </a:r>
            <a:endParaRPr/>
          </a:p>
          <a:p>
            <a:pPr indent="-355600" lvl="0" marL="457200" rtl="0" algn="l">
              <a:lnSpc>
                <a:spcPct val="115000"/>
              </a:lnSpc>
              <a:spcBef>
                <a:spcPts val="1000"/>
              </a:spcBef>
              <a:spcAft>
                <a:spcPts val="0"/>
              </a:spcAft>
              <a:buSzPts val="2000"/>
              <a:buChar char="●"/>
            </a:pPr>
            <a:r>
              <a:rPr lang="en"/>
              <a:t>Expand on the cell (simply click inside)</a:t>
            </a:r>
            <a:endParaRPr/>
          </a:p>
          <a:p>
            <a:pPr indent="-355600" lvl="0" marL="457200" rtl="0" algn="l">
              <a:lnSpc>
                <a:spcPct val="115000"/>
              </a:lnSpc>
              <a:spcBef>
                <a:spcPts val="1000"/>
              </a:spcBef>
              <a:spcAft>
                <a:spcPts val="0"/>
              </a:spcAft>
              <a:buSzPts val="2000"/>
              <a:buChar char="●"/>
            </a:pPr>
            <a:r>
              <a:rPr lang="en"/>
              <a:t>Control/Command + Enter to format current block</a:t>
            </a:r>
            <a:endParaRPr/>
          </a:p>
          <a:p>
            <a:pPr indent="-355600" lvl="0" marL="457200" rtl="0" algn="l">
              <a:lnSpc>
                <a:spcPct val="115000"/>
              </a:lnSpc>
              <a:spcBef>
                <a:spcPts val="1000"/>
              </a:spcBef>
              <a:spcAft>
                <a:spcPts val="1000"/>
              </a:spcAft>
              <a:buSzPts val="2000"/>
              <a:buChar char="●"/>
            </a:pPr>
            <a:r>
              <a:rPr lang="en"/>
              <a:t>Shift + Enter to format current block and move forward</a:t>
            </a:r>
            <a:endParaRPr/>
          </a:p>
        </p:txBody>
      </p:sp>
      <p:pic>
        <p:nvPicPr>
          <p:cNvPr id="336" name="Google Shape;336;h704c0b4b91e99d5f_0_34"/>
          <p:cNvPicPr preferRelativeResize="0"/>
          <p:nvPr/>
        </p:nvPicPr>
        <p:blipFill rotWithShape="1">
          <a:blip r:embed="rId3">
            <a:alphaModFix/>
          </a:blip>
          <a:srcRect b="0" l="0" r="0" t="0"/>
          <a:stretch/>
        </p:blipFill>
        <p:spPr>
          <a:xfrm>
            <a:off x="900550" y="3031188"/>
            <a:ext cx="3389075" cy="1585425"/>
          </a:xfrm>
          <a:prstGeom prst="rect">
            <a:avLst/>
          </a:prstGeom>
          <a:noFill/>
          <a:ln>
            <a:noFill/>
          </a:ln>
        </p:spPr>
      </p:pic>
      <p:pic>
        <p:nvPicPr>
          <p:cNvPr id="337" name="Google Shape;337;h704c0b4b91e99d5f_0_34"/>
          <p:cNvPicPr preferRelativeResize="0"/>
          <p:nvPr/>
        </p:nvPicPr>
        <p:blipFill rotWithShape="1">
          <a:blip r:embed="rId4">
            <a:alphaModFix/>
          </a:blip>
          <a:srcRect b="0" l="0" r="0" t="0"/>
          <a:stretch/>
        </p:blipFill>
        <p:spPr>
          <a:xfrm>
            <a:off x="4999050" y="2992026"/>
            <a:ext cx="2506501" cy="1663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h704c0b4b91e99d5f_0_4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Running the Marimo Lab</a:t>
            </a:r>
            <a:endParaRPr/>
          </a:p>
        </p:txBody>
      </p:sp>
      <p:sp>
        <p:nvSpPr>
          <p:cNvPr id="343" name="Google Shape;343;h704c0b4b91e99d5f_0_41"/>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SzPts val="2000"/>
              <a:buChar char="●"/>
            </a:pPr>
            <a:r>
              <a:rPr lang="en"/>
              <a:t>If you are using the lab computer, login using your CalNet ID</a:t>
            </a:r>
            <a:endParaRPr/>
          </a:p>
          <a:p>
            <a:pPr indent="-355600" lvl="0" marL="457200" rtl="0" algn="l">
              <a:lnSpc>
                <a:spcPct val="115000"/>
              </a:lnSpc>
              <a:spcBef>
                <a:spcPts val="0"/>
              </a:spcBef>
              <a:spcAft>
                <a:spcPts val="0"/>
              </a:spcAft>
              <a:buSzPts val="2000"/>
              <a:buChar char="●"/>
            </a:pPr>
            <a:r>
              <a:rPr lang="en"/>
              <a:t>Click on the Datahub link from the course website</a:t>
            </a:r>
            <a:endParaRPr/>
          </a:p>
          <a:p>
            <a:pPr indent="-355600" lvl="0" marL="457200" rtl="0" algn="l">
              <a:lnSpc>
                <a:spcPct val="115000"/>
              </a:lnSpc>
              <a:spcBef>
                <a:spcPts val="0"/>
              </a:spcBef>
              <a:spcAft>
                <a:spcPts val="0"/>
              </a:spcAft>
              <a:buSzPts val="2000"/>
              <a:buChar char="●"/>
            </a:pPr>
            <a:r>
              <a:rPr lang="en"/>
              <a:t>You should see a .py file to start working on the lab!</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9"/>
          <p:cNvSpPr txBox="1"/>
          <p:nvPr>
            <p:ph type="title"/>
          </p:nvPr>
        </p:nvSpPr>
        <p:spPr>
          <a:xfrm>
            <a:off x="366925" y="301225"/>
            <a:ext cx="4142700" cy="85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Checking-off Today</a:t>
            </a:r>
            <a:endParaRPr/>
          </a:p>
        </p:txBody>
      </p:sp>
      <p:sp>
        <p:nvSpPr>
          <p:cNvPr id="349" name="Google Shape;349;p29"/>
          <p:cNvSpPr txBox="1"/>
          <p:nvPr>
            <p:ph idx="1" type="body"/>
          </p:nvPr>
        </p:nvSpPr>
        <p:spPr>
          <a:xfrm>
            <a:off x="363400" y="1013875"/>
            <a:ext cx="8060700" cy="3610800"/>
          </a:xfrm>
          <a:prstGeom prst="rect">
            <a:avLst/>
          </a:prstGeom>
          <a:noFill/>
          <a:ln>
            <a:noFill/>
          </a:ln>
        </p:spPr>
        <p:txBody>
          <a:bodyPr anchorCtr="0" anchor="t" bIns="91425" lIns="91425" spcFirstLastPara="1" rIns="91425" wrap="square" tIns="91425">
            <a:noAutofit/>
          </a:bodyPr>
          <a:lstStyle/>
          <a:p>
            <a:pPr indent="-349250" lvl="0" marL="457200" rtl="0" algn="l">
              <a:lnSpc>
                <a:spcPct val="105000"/>
              </a:lnSpc>
              <a:spcBef>
                <a:spcPts val="0"/>
              </a:spcBef>
              <a:spcAft>
                <a:spcPts val="0"/>
              </a:spcAft>
              <a:buSzPts val="1900"/>
              <a:buChar char="●"/>
            </a:pPr>
            <a:r>
              <a:rPr lang="en" sz="1900"/>
              <a:t>Work on Shazam</a:t>
            </a:r>
            <a:endParaRPr sz="1900"/>
          </a:p>
          <a:p>
            <a:pPr indent="-349250" lvl="0" marL="457200" rtl="0" algn="l">
              <a:lnSpc>
                <a:spcPct val="105000"/>
              </a:lnSpc>
              <a:spcBef>
                <a:spcPts val="0"/>
              </a:spcBef>
              <a:spcAft>
                <a:spcPts val="0"/>
              </a:spcAft>
              <a:buSzPts val="1900"/>
              <a:buChar char="●"/>
            </a:pPr>
            <a:r>
              <a:rPr lang="en" sz="1900"/>
              <a:t>Pass all autograder checks</a:t>
            </a:r>
            <a:endParaRPr sz="1900"/>
          </a:p>
          <a:p>
            <a:pPr indent="-349250" lvl="0" marL="457200" rtl="0" algn="l">
              <a:lnSpc>
                <a:spcPct val="105000"/>
              </a:lnSpc>
              <a:spcBef>
                <a:spcPts val="0"/>
              </a:spcBef>
              <a:spcAft>
                <a:spcPts val="0"/>
              </a:spcAft>
              <a:buSzPts val="1900"/>
              <a:buChar char="●"/>
            </a:pPr>
            <a:r>
              <a:rPr lang="en" sz="1900"/>
              <a:t>Follow the directions linked at bottom of the lab</a:t>
            </a:r>
            <a:endParaRPr sz="1900"/>
          </a:p>
          <a:p>
            <a:pPr indent="-349250" lvl="1" marL="914400" rtl="0" algn="l">
              <a:lnSpc>
                <a:spcPct val="105000"/>
              </a:lnSpc>
              <a:spcBef>
                <a:spcPts val="0"/>
              </a:spcBef>
              <a:spcAft>
                <a:spcPts val="0"/>
              </a:spcAft>
              <a:buSzPts val="1900"/>
              <a:buChar char="○"/>
            </a:pPr>
            <a:r>
              <a:rPr lang="en" sz="1900"/>
              <a:t>Fill out Google form.</a:t>
            </a:r>
            <a:endParaRPr sz="1900"/>
          </a:p>
          <a:p>
            <a:pPr indent="-349250" lvl="1" marL="914400" rtl="0" algn="l">
              <a:lnSpc>
                <a:spcPct val="105000"/>
              </a:lnSpc>
              <a:spcBef>
                <a:spcPts val="0"/>
              </a:spcBef>
              <a:spcAft>
                <a:spcPts val="0"/>
              </a:spcAft>
              <a:buSzPts val="1900"/>
              <a:buChar char="○"/>
            </a:pPr>
            <a:r>
              <a:rPr lang="en" sz="1900"/>
              <a:t>Station number: Sit at a lab computer and enter the number ## on the monitor (c111-##)</a:t>
            </a:r>
            <a:endParaRPr sz="1900"/>
          </a:p>
          <a:p>
            <a:pPr indent="-349250" lvl="0" marL="457200" rtl="0" algn="l">
              <a:lnSpc>
                <a:spcPct val="105000"/>
              </a:lnSpc>
              <a:spcBef>
                <a:spcPts val="0"/>
              </a:spcBef>
              <a:spcAft>
                <a:spcPts val="0"/>
              </a:spcAft>
              <a:buSzPts val="1900"/>
              <a:buChar char="●"/>
            </a:pPr>
            <a:r>
              <a:rPr lang="en" sz="1900"/>
              <a:t>During checkoff:</a:t>
            </a:r>
            <a:endParaRPr sz="1900"/>
          </a:p>
          <a:p>
            <a:pPr indent="-349250" lvl="1" marL="914400" rtl="0" algn="l">
              <a:lnSpc>
                <a:spcPct val="105000"/>
              </a:lnSpc>
              <a:spcBef>
                <a:spcPts val="0"/>
              </a:spcBef>
              <a:spcAft>
                <a:spcPts val="0"/>
              </a:spcAft>
              <a:buSzPts val="1900"/>
              <a:buChar char="○"/>
            </a:pPr>
            <a:r>
              <a:rPr lang="en" sz="1900"/>
              <a:t>You will be asked a series of conceptual questions. Make sure you fully understand what is going on.</a:t>
            </a:r>
            <a:endParaRPr sz="1900"/>
          </a:p>
          <a:p>
            <a:pPr indent="-349250" lvl="1" marL="914400" rtl="0" algn="l">
              <a:lnSpc>
                <a:spcPct val="90000"/>
              </a:lnSpc>
              <a:spcBef>
                <a:spcPts val="0"/>
              </a:spcBef>
              <a:spcAft>
                <a:spcPts val="0"/>
              </a:spcAft>
              <a:buSzPts val="1900"/>
              <a:buChar char="○"/>
            </a:pPr>
            <a:r>
              <a:rPr lang="en" sz="1900"/>
              <a:t>If you want to add songs to our playlist: tinyurl.com/66-playlist</a:t>
            </a:r>
            <a:endParaRPr sz="1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h704c0b4b91e99d5f_0_141"/>
          <p:cNvSpPr txBox="1"/>
          <p:nvPr>
            <p:ph type="title"/>
          </p:nvPr>
        </p:nvSpPr>
        <p:spPr>
          <a:xfrm>
            <a:off x="311700" y="292625"/>
            <a:ext cx="8520600" cy="70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Feedback Time</a:t>
            </a:r>
            <a:endParaRPr/>
          </a:p>
        </p:txBody>
      </p:sp>
      <p:sp>
        <p:nvSpPr>
          <p:cNvPr id="355" name="Google Shape;355;h704c0b4b91e99d5f_0_141"/>
          <p:cNvSpPr txBox="1"/>
          <p:nvPr>
            <p:ph idx="1" type="body"/>
          </p:nvPr>
        </p:nvSpPr>
        <p:spPr>
          <a:xfrm>
            <a:off x="311700" y="1027025"/>
            <a:ext cx="8520600" cy="3714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000"/>
              <a:buNone/>
            </a:pPr>
            <a:r>
              <a:rPr lang="en" sz="3200">
                <a:solidFill>
                  <a:srgbClr val="179669"/>
                </a:solidFill>
                <a:highlight>
                  <a:srgbClr val="FFFFFF"/>
                </a:highlight>
              </a:rPr>
              <a:t>https://tinyurl.com/bdf3ya92</a:t>
            </a:r>
            <a:endParaRPr sz="3200">
              <a:solidFill>
                <a:srgbClr val="179669"/>
              </a:solidFill>
            </a:endParaRPr>
          </a:p>
        </p:txBody>
      </p:sp>
      <p:pic>
        <p:nvPicPr>
          <p:cNvPr id="356" name="Google Shape;356;h704c0b4b91e99d5f_0_141"/>
          <p:cNvPicPr preferRelativeResize="0"/>
          <p:nvPr/>
        </p:nvPicPr>
        <p:blipFill rotWithShape="1">
          <a:blip r:embed="rId3">
            <a:alphaModFix/>
          </a:blip>
          <a:srcRect b="0" l="0" r="0" t="0"/>
          <a:stretch/>
        </p:blipFill>
        <p:spPr>
          <a:xfrm>
            <a:off x="3152334" y="1775896"/>
            <a:ext cx="2839325" cy="2839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ECS16a - Lab">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