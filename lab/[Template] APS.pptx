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Dosis"/>
      <p:regular r:id="rId42"/>
      <p:bold r:id="rId43"/>
    </p:embeddedFont>
    <p:embeddedFont>
      <p:font typeface="Roboto"/>
      <p:regular r:id="rId44"/>
      <p:bold r:id="rId45"/>
      <p:italic r:id="rId46"/>
      <p:boldItalic r:id="rId47"/>
    </p:embeddedFont>
    <p:embeddedFont>
      <p:font typeface="Montserrat"/>
      <p:regular r:id="rId48"/>
      <p:bold r:id="rId49"/>
      <p:italic r:id="rId50"/>
      <p:boldItalic r:id="rId51"/>
    </p:embeddedFont>
    <p:embeddedFont>
      <p:font typeface="PT Sans Narrow"/>
      <p:regular r:id="rId52"/>
      <p:bold r:id="rId53"/>
    </p:embeddedFont>
    <p:embeddedFont>
      <p:font typeface="Montserrat Medium"/>
      <p:regular r:id="rId54"/>
      <p:bold r:id="rId55"/>
      <p:italic r:id="rId56"/>
      <p:boldItalic r:id="rId57"/>
    </p:embeddedFont>
    <p:embeddedFont>
      <p:font typeface="Open Sans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2" roundtripDataSignature="AMtx7mhv4nOLNyQCZGT2nSWiJnX1g0B6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C93476-C458-464A-A98B-A6952AA0C386}">
  <a:tblStyle styleId="{C7C93476-C458-464A-A98B-A6952AA0C38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Dosis-regular.fntdata"/><Relationship Id="rId41" Type="http://schemas.openxmlformats.org/officeDocument/2006/relationships/slide" Target="slides/slide35.xml"/><Relationship Id="rId44" Type="http://schemas.openxmlformats.org/officeDocument/2006/relationships/font" Target="fonts/Roboto-regular.fntdata"/><Relationship Id="rId43" Type="http://schemas.openxmlformats.org/officeDocument/2006/relationships/font" Target="fonts/Dosis-bold.fntdata"/><Relationship Id="rId46" Type="http://schemas.openxmlformats.org/officeDocument/2006/relationships/font" Target="fonts/Roboto-italic.fntdata"/><Relationship Id="rId45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Montserrat-regular.fntdata"/><Relationship Id="rId47" Type="http://schemas.openxmlformats.org/officeDocument/2006/relationships/font" Target="fonts/Roboto-boldItalic.fntdata"/><Relationship Id="rId49" Type="http://schemas.openxmlformats.org/officeDocument/2006/relationships/font" Target="fonts/Montserra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customschemas.google.com/relationships/presentationmetadata" Target="metadata"/><Relationship Id="rId61" Type="http://schemas.openxmlformats.org/officeDocument/2006/relationships/font" Target="fonts/Open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OpenSans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-boldItalic.fntdata"/><Relationship Id="rId50" Type="http://schemas.openxmlformats.org/officeDocument/2006/relationships/font" Target="fonts/Montserrat-italic.fntdata"/><Relationship Id="rId53" Type="http://schemas.openxmlformats.org/officeDocument/2006/relationships/font" Target="fonts/PTSansNarrow-bold.fntdata"/><Relationship Id="rId52" Type="http://schemas.openxmlformats.org/officeDocument/2006/relationships/font" Target="fonts/PTSansNarrow-regular.fntdata"/><Relationship Id="rId11" Type="http://schemas.openxmlformats.org/officeDocument/2006/relationships/slide" Target="slides/slide5.xml"/><Relationship Id="rId55" Type="http://schemas.openxmlformats.org/officeDocument/2006/relationships/font" Target="fonts/MontserratMedium-bold.fntdata"/><Relationship Id="rId10" Type="http://schemas.openxmlformats.org/officeDocument/2006/relationships/slide" Target="slides/slide4.xml"/><Relationship Id="rId54" Type="http://schemas.openxmlformats.org/officeDocument/2006/relationships/font" Target="fonts/MontserratMedium-regular.fntdata"/><Relationship Id="rId13" Type="http://schemas.openxmlformats.org/officeDocument/2006/relationships/slide" Target="slides/slide7.xml"/><Relationship Id="rId57" Type="http://schemas.openxmlformats.org/officeDocument/2006/relationships/font" Target="fonts/MontserratMedium-boldItalic.fntdata"/><Relationship Id="rId12" Type="http://schemas.openxmlformats.org/officeDocument/2006/relationships/slide" Target="slides/slide6.xml"/><Relationship Id="rId56" Type="http://schemas.openxmlformats.org/officeDocument/2006/relationships/font" Target="fonts/MontserratMedium-italic.fntdata"/><Relationship Id="rId15" Type="http://schemas.openxmlformats.org/officeDocument/2006/relationships/slide" Target="slides/slide9.xml"/><Relationship Id="rId59" Type="http://schemas.openxmlformats.org/officeDocument/2006/relationships/font" Target="fonts/OpenSans-bold.fntdata"/><Relationship Id="rId14" Type="http://schemas.openxmlformats.org/officeDocument/2006/relationships/slide" Target="slides/slide8.xml"/><Relationship Id="rId58" Type="http://schemas.openxmlformats.org/officeDocument/2006/relationships/font" Target="fonts/OpenSans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Remind the lab assistants to ask for the students’ names.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Hi my name is ****. this is our first real lab…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Rhetorical question: Answer on next slide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~ 25ish samples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We don’t know when the beacons arrived, but based off of the offsets we know how much longer it took for beacon 1 to arrive RELATIVE to beacon 0!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||\vec{r}-\vec{a_0}||^2 = d_0^2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||\vec{r}||^2 - 2\vec{a_2}^T \vec{r} + ||\vec{a_2}||^2 = v_s^2 \tau_2^2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\implies 2(\vec{a_0} - \vec{a_1})^T \vec{r} = ||\vec{a_0}||^2 - ||\vec{a_1}||^2 + v_s^2(\tau_1^2 - \tau_0^2)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(\tau_i^2 - \tau_0^2) = (\tau_i - \tau_0)(\tau_i + \tau_0) = (\tau_i - \tau_0)(\tau_i - \tau_0 + 2\tau_0) = \Delta\tau_i(\Delta\tau_i + 2\tau_0)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2(\vec{a_0} - \vec{a_1})^T \vec{r} - 2(v_s^2 \Delta \tau_1)\tau_0 = ||\vec{a_0}||^2 - ||\vec{a_1}||^2 + v_s^2 \Delta \tau_1^2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h114ab7fe80dafef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h114ab7fe80dafef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8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1" name="Google Shape;11;p38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C4820E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38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C4820E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" name="Google Shape;13;p38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4" name="Google Shape;14;p38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C4820E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" name="Google Shape;15;p38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C4820E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" name="Google Shape;16;p38"/>
          <p:cNvSpPr txBox="1"/>
          <p:nvPr>
            <p:ph type="ctrTitle"/>
          </p:nvPr>
        </p:nvSpPr>
        <p:spPr>
          <a:xfrm>
            <a:off x="1004150" y="15231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5400"/>
              <a:buFont typeface="Montserrat"/>
              <a:buNone/>
              <a:defRPr sz="5400">
                <a:solidFill>
                  <a:srgbClr val="00326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7" name="Google Shape;17;p38"/>
          <p:cNvSpPr txBox="1"/>
          <p:nvPr>
            <p:ph idx="1" type="subTitle"/>
          </p:nvPr>
        </p:nvSpPr>
        <p:spPr>
          <a:xfrm>
            <a:off x="1547925" y="2850050"/>
            <a:ext cx="6094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400"/>
              <a:buFont typeface="Montserrat Medium"/>
              <a:buNone/>
              <a:defRPr sz="24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" name="Google Shape;1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9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3000"/>
              <a:buFont typeface="Montserrat"/>
              <a:buNone/>
              <a:defRPr sz="3000">
                <a:solidFill>
                  <a:srgbClr val="C4820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1" name="Google Shape;2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rgbClr val="C482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4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3000"/>
              <a:buFont typeface="Montserrat"/>
              <a:buNone/>
              <a:defRPr sz="3000">
                <a:solidFill>
                  <a:srgbClr val="C4820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p54"/>
          <p:cNvSpPr txBox="1"/>
          <p:nvPr>
            <p:ph idx="1" type="body"/>
          </p:nvPr>
        </p:nvSpPr>
        <p:spPr>
          <a:xfrm>
            <a:off x="311700" y="1027025"/>
            <a:ext cx="85206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○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■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○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■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○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■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" name="Google Shape;30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5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3000"/>
              <a:buFont typeface="Montserrat"/>
              <a:buNone/>
              <a:defRPr sz="3000">
                <a:solidFill>
                  <a:srgbClr val="C4820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p55"/>
          <p:cNvSpPr txBox="1"/>
          <p:nvPr>
            <p:ph idx="1" type="body"/>
          </p:nvPr>
        </p:nvSpPr>
        <p:spPr>
          <a:xfrm>
            <a:off x="311700" y="1145700"/>
            <a:ext cx="3999900" cy="3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●"/>
              <a:defRPr sz="14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●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●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" name="Google Shape;34;p55"/>
          <p:cNvSpPr txBox="1"/>
          <p:nvPr>
            <p:ph idx="2" type="body"/>
          </p:nvPr>
        </p:nvSpPr>
        <p:spPr>
          <a:xfrm>
            <a:off x="4832400" y="1145700"/>
            <a:ext cx="3999900" cy="3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●"/>
              <a:defRPr sz="14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●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●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" name="Google Shape;3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6"/>
          <p:cNvSpPr txBox="1"/>
          <p:nvPr>
            <p:ph type="title"/>
          </p:nvPr>
        </p:nvSpPr>
        <p:spPr>
          <a:xfrm>
            <a:off x="311700" y="3270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56"/>
          <p:cNvSpPr txBox="1"/>
          <p:nvPr>
            <p:ph idx="1" type="body"/>
          </p:nvPr>
        </p:nvSpPr>
        <p:spPr>
          <a:xfrm>
            <a:off x="311700" y="1389600"/>
            <a:ext cx="28080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2;p5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57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57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5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8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/>
        </p:txBody>
      </p:sp>
      <p:sp>
        <p:nvSpPr>
          <p:cNvPr id="49" name="Google Shape;49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9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9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13000"/>
              <a:buNone/>
              <a:defRPr sz="13000">
                <a:solidFill>
                  <a:srgbClr val="C4820E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59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1"/>
          <p:cNvSpPr txBox="1"/>
          <p:nvPr>
            <p:ph idx="1" type="body"/>
          </p:nvPr>
        </p:nvSpPr>
        <p:spPr>
          <a:xfrm>
            <a:off x="2159325" y="2161800"/>
            <a:ext cx="48255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873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●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○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■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●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○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■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●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○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■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" name="Google Shape;59;p61"/>
          <p:cNvSpPr/>
          <p:nvPr/>
        </p:nvSpPr>
        <p:spPr>
          <a:xfrm>
            <a:off x="7302880" y="-294362"/>
            <a:ext cx="450550" cy="558734"/>
          </a:xfrm>
          <a:custGeom>
            <a:rect b="b" l="l" r="r" t="t"/>
            <a:pathLst>
              <a:path extrusionOk="0" h="19698" w="15884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1"/>
          <p:cNvSpPr/>
          <p:nvPr/>
        </p:nvSpPr>
        <p:spPr>
          <a:xfrm>
            <a:off x="-35374" y="3366963"/>
            <a:ext cx="443260" cy="504670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1"/>
          <p:cNvSpPr/>
          <p:nvPr/>
        </p:nvSpPr>
        <p:spPr>
          <a:xfrm>
            <a:off x="8817948" y="3439661"/>
            <a:ext cx="414157" cy="507762"/>
          </a:xfrm>
          <a:custGeom>
            <a:rect b="b" l="l" r="r" t="t"/>
            <a:pathLst>
              <a:path extrusionOk="0" h="17901" w="14601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1"/>
          <p:cNvSpPr/>
          <p:nvPr/>
        </p:nvSpPr>
        <p:spPr>
          <a:xfrm>
            <a:off x="8742973" y="4166677"/>
            <a:ext cx="495281" cy="340238"/>
          </a:xfrm>
          <a:custGeom>
            <a:rect b="b" l="l" r="r" t="t"/>
            <a:pathLst>
              <a:path extrusionOk="0" h="11995" w="17461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1"/>
          <p:cNvSpPr/>
          <p:nvPr/>
        </p:nvSpPr>
        <p:spPr>
          <a:xfrm>
            <a:off x="8360955" y="4506916"/>
            <a:ext cx="372518" cy="384998"/>
          </a:xfrm>
          <a:custGeom>
            <a:rect b="b" l="l" r="r" t="t"/>
            <a:pathLst>
              <a:path extrusionOk="0" h="13573" w="13133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1"/>
          <p:cNvSpPr/>
          <p:nvPr/>
        </p:nvSpPr>
        <p:spPr>
          <a:xfrm>
            <a:off x="-77078" y="1488018"/>
            <a:ext cx="339602" cy="400617"/>
          </a:xfrm>
          <a:custGeom>
            <a:rect b="b" l="l" r="r" t="t"/>
            <a:pathLst>
              <a:path extrusionOk="0" h="11079" w="9391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1"/>
          <p:cNvSpPr/>
          <p:nvPr/>
        </p:nvSpPr>
        <p:spPr>
          <a:xfrm>
            <a:off x="8052572" y="4825260"/>
            <a:ext cx="589992" cy="414129"/>
          </a:xfrm>
          <a:custGeom>
            <a:rect b="b" l="l" r="r" t="t"/>
            <a:pathLst>
              <a:path extrusionOk="0" h="14600" w="2080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1"/>
          <p:cNvSpPr/>
          <p:nvPr/>
        </p:nvSpPr>
        <p:spPr>
          <a:xfrm>
            <a:off x="8052577" y="4132327"/>
            <a:ext cx="388118" cy="408938"/>
          </a:xfrm>
          <a:custGeom>
            <a:rect b="b" l="l" r="r" t="t"/>
            <a:pathLst>
              <a:path extrusionOk="0" h="14417" w="13683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1"/>
          <p:cNvSpPr/>
          <p:nvPr/>
        </p:nvSpPr>
        <p:spPr>
          <a:xfrm>
            <a:off x="7430898" y="4873171"/>
            <a:ext cx="297606" cy="211234"/>
          </a:xfrm>
          <a:custGeom>
            <a:rect b="b" l="l" r="r" t="t"/>
            <a:pathLst>
              <a:path extrusionOk="0" h="7447" w="10492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1"/>
          <p:cNvSpPr/>
          <p:nvPr/>
        </p:nvSpPr>
        <p:spPr>
          <a:xfrm>
            <a:off x="8749725" y="4950125"/>
            <a:ext cx="288245" cy="184202"/>
          </a:xfrm>
          <a:custGeom>
            <a:rect b="b" l="l" r="r" t="t"/>
            <a:pathLst>
              <a:path extrusionOk="0" h="6494" w="10162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1"/>
          <p:cNvSpPr/>
          <p:nvPr/>
        </p:nvSpPr>
        <p:spPr>
          <a:xfrm>
            <a:off x="8522444" y="4000279"/>
            <a:ext cx="306966" cy="385027"/>
          </a:xfrm>
          <a:custGeom>
            <a:rect b="b" l="l" r="r" t="t"/>
            <a:pathLst>
              <a:path extrusionOk="0" h="13574" w="10822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1"/>
          <p:cNvSpPr/>
          <p:nvPr/>
        </p:nvSpPr>
        <p:spPr>
          <a:xfrm>
            <a:off x="8829403" y="4583868"/>
            <a:ext cx="391238" cy="289295"/>
          </a:xfrm>
          <a:custGeom>
            <a:rect b="b" l="l" r="r" t="t"/>
            <a:pathLst>
              <a:path extrusionOk="0" h="10199" w="13793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1"/>
          <p:cNvSpPr/>
          <p:nvPr/>
        </p:nvSpPr>
        <p:spPr>
          <a:xfrm>
            <a:off x="8963979" y="1338718"/>
            <a:ext cx="180033" cy="373539"/>
          </a:xfrm>
          <a:custGeom>
            <a:rect b="b" l="l" r="r" t="t"/>
            <a:pathLst>
              <a:path extrusionOk="0" h="13169" w="6347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1"/>
          <p:cNvSpPr/>
          <p:nvPr/>
        </p:nvSpPr>
        <p:spPr>
          <a:xfrm rot="-2426120">
            <a:off x="7110132" y="4877011"/>
            <a:ext cx="279910" cy="357971"/>
          </a:xfrm>
          <a:custGeom>
            <a:rect b="b" l="l" r="r" t="t"/>
            <a:pathLst>
              <a:path extrusionOk="0" h="12620" w="9868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1"/>
          <p:cNvSpPr/>
          <p:nvPr/>
        </p:nvSpPr>
        <p:spPr>
          <a:xfrm>
            <a:off x="7659648" y="4370196"/>
            <a:ext cx="377708" cy="426638"/>
          </a:xfrm>
          <a:custGeom>
            <a:rect b="b" l="l" r="r" t="t"/>
            <a:pathLst>
              <a:path extrusionOk="0" h="15041" w="13316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1"/>
          <p:cNvSpPr/>
          <p:nvPr/>
        </p:nvSpPr>
        <p:spPr>
          <a:xfrm>
            <a:off x="8797588" y="3078732"/>
            <a:ext cx="386048" cy="258065"/>
          </a:xfrm>
          <a:custGeom>
            <a:rect b="b" l="l" r="r" t="t"/>
            <a:pathLst>
              <a:path extrusionOk="0" h="9098" w="1361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1"/>
          <p:cNvSpPr/>
          <p:nvPr/>
        </p:nvSpPr>
        <p:spPr>
          <a:xfrm>
            <a:off x="7782420" y="4885132"/>
            <a:ext cx="174842" cy="187322"/>
          </a:xfrm>
          <a:custGeom>
            <a:rect b="b" l="l" r="r" t="t"/>
            <a:pathLst>
              <a:path extrusionOk="0" h="6604" w="6164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1"/>
          <p:cNvSpPr/>
          <p:nvPr/>
        </p:nvSpPr>
        <p:spPr>
          <a:xfrm>
            <a:off x="346877" y="608615"/>
            <a:ext cx="210213" cy="458889"/>
          </a:xfrm>
          <a:custGeom>
            <a:rect b="b" l="l" r="r" t="t"/>
            <a:pathLst>
              <a:path extrusionOk="0" h="16178" w="7411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1"/>
          <p:cNvSpPr/>
          <p:nvPr/>
        </p:nvSpPr>
        <p:spPr>
          <a:xfrm>
            <a:off x="645010" y="355961"/>
            <a:ext cx="414157" cy="507762"/>
          </a:xfrm>
          <a:custGeom>
            <a:rect b="b" l="l" r="r" t="t"/>
            <a:pathLst>
              <a:path extrusionOk="0" h="17901" w="14601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1"/>
          <p:cNvSpPr/>
          <p:nvPr/>
        </p:nvSpPr>
        <p:spPr>
          <a:xfrm>
            <a:off x="8318810" y="-29822"/>
            <a:ext cx="456818" cy="425588"/>
          </a:xfrm>
          <a:custGeom>
            <a:rect b="b" l="l" r="r" t="t"/>
            <a:pathLst>
              <a:path extrusionOk="0" h="15004" w="16105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1"/>
          <p:cNvSpPr/>
          <p:nvPr/>
        </p:nvSpPr>
        <p:spPr>
          <a:xfrm>
            <a:off x="-8" y="1013366"/>
            <a:ext cx="372518" cy="384998"/>
          </a:xfrm>
          <a:custGeom>
            <a:rect b="b" l="l" r="r" t="t"/>
            <a:pathLst>
              <a:path extrusionOk="0" h="13573" w="13133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1"/>
          <p:cNvSpPr/>
          <p:nvPr/>
        </p:nvSpPr>
        <p:spPr>
          <a:xfrm>
            <a:off x="8699356" y="179112"/>
            <a:ext cx="521292" cy="538992"/>
          </a:xfrm>
          <a:custGeom>
            <a:rect b="b" l="l" r="r" t="t"/>
            <a:pathLst>
              <a:path extrusionOk="0" h="19002" w="18378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1"/>
          <p:cNvSpPr/>
          <p:nvPr/>
        </p:nvSpPr>
        <p:spPr>
          <a:xfrm>
            <a:off x="700454" y="4557600"/>
            <a:ext cx="504670" cy="400627"/>
          </a:xfrm>
          <a:custGeom>
            <a:rect b="b" l="l" r="r" t="t"/>
            <a:pathLst>
              <a:path extrusionOk="0" h="14124" w="17792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1"/>
          <p:cNvSpPr/>
          <p:nvPr/>
        </p:nvSpPr>
        <p:spPr>
          <a:xfrm>
            <a:off x="258967" y="-86251"/>
            <a:ext cx="470320" cy="442210"/>
          </a:xfrm>
          <a:custGeom>
            <a:rect b="b" l="l" r="r" t="t"/>
            <a:pathLst>
              <a:path extrusionOk="0" h="15590" w="16581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1"/>
          <p:cNvSpPr/>
          <p:nvPr/>
        </p:nvSpPr>
        <p:spPr>
          <a:xfrm>
            <a:off x="-35016" y="4075593"/>
            <a:ext cx="339602" cy="400617"/>
          </a:xfrm>
          <a:custGeom>
            <a:rect b="b" l="l" r="r" t="t"/>
            <a:pathLst>
              <a:path extrusionOk="0" h="11079" w="9391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1"/>
          <p:cNvSpPr/>
          <p:nvPr/>
        </p:nvSpPr>
        <p:spPr>
          <a:xfrm>
            <a:off x="721258" y="4998019"/>
            <a:ext cx="463059" cy="177962"/>
          </a:xfrm>
          <a:custGeom>
            <a:rect b="b" l="l" r="r" t="t"/>
            <a:pathLst>
              <a:path extrusionOk="0" h="6274" w="16325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1"/>
          <p:cNvSpPr/>
          <p:nvPr/>
        </p:nvSpPr>
        <p:spPr>
          <a:xfrm>
            <a:off x="-243128" y="54210"/>
            <a:ext cx="589992" cy="414129"/>
          </a:xfrm>
          <a:custGeom>
            <a:rect b="b" l="l" r="r" t="t"/>
            <a:pathLst>
              <a:path extrusionOk="0" h="14600" w="2080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1"/>
          <p:cNvSpPr/>
          <p:nvPr/>
        </p:nvSpPr>
        <p:spPr>
          <a:xfrm>
            <a:off x="7842052" y="-100873"/>
            <a:ext cx="388118" cy="408938"/>
          </a:xfrm>
          <a:custGeom>
            <a:rect b="b" l="l" r="r" t="t"/>
            <a:pathLst>
              <a:path extrusionOk="0" h="14417" w="13683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1"/>
          <p:cNvSpPr/>
          <p:nvPr/>
        </p:nvSpPr>
        <p:spPr>
          <a:xfrm>
            <a:off x="-38626" y="579046"/>
            <a:ext cx="297606" cy="211234"/>
          </a:xfrm>
          <a:custGeom>
            <a:rect b="b" l="l" r="r" t="t"/>
            <a:pathLst>
              <a:path extrusionOk="0" h="7447" w="10492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1"/>
          <p:cNvSpPr/>
          <p:nvPr/>
        </p:nvSpPr>
        <p:spPr>
          <a:xfrm>
            <a:off x="1403775" y="11500"/>
            <a:ext cx="288245" cy="184202"/>
          </a:xfrm>
          <a:custGeom>
            <a:rect b="b" l="l" r="r" t="t"/>
            <a:pathLst>
              <a:path extrusionOk="0" h="6494" w="10162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1"/>
          <p:cNvSpPr/>
          <p:nvPr/>
        </p:nvSpPr>
        <p:spPr>
          <a:xfrm>
            <a:off x="955990" y="-57166"/>
            <a:ext cx="323616" cy="321546"/>
          </a:xfrm>
          <a:custGeom>
            <a:rect b="b" l="l" r="r" t="t"/>
            <a:pathLst>
              <a:path extrusionOk="0" h="11336" w="11409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1"/>
          <p:cNvSpPr/>
          <p:nvPr/>
        </p:nvSpPr>
        <p:spPr>
          <a:xfrm>
            <a:off x="1333294" y="4678454"/>
            <a:ext cx="306966" cy="385027"/>
          </a:xfrm>
          <a:custGeom>
            <a:rect b="b" l="l" r="r" t="t"/>
            <a:pathLst>
              <a:path extrusionOk="0" h="13574" w="10822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1"/>
          <p:cNvSpPr/>
          <p:nvPr/>
        </p:nvSpPr>
        <p:spPr>
          <a:xfrm>
            <a:off x="91624" y="4552927"/>
            <a:ext cx="416228" cy="409988"/>
          </a:xfrm>
          <a:custGeom>
            <a:rect b="b" l="l" r="r" t="t"/>
            <a:pathLst>
              <a:path extrusionOk="0" h="14454" w="14674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1"/>
          <p:cNvSpPr/>
          <p:nvPr/>
        </p:nvSpPr>
        <p:spPr>
          <a:xfrm>
            <a:off x="1525678" y="4911343"/>
            <a:ext cx="391238" cy="289295"/>
          </a:xfrm>
          <a:custGeom>
            <a:rect b="b" l="l" r="r" t="t"/>
            <a:pathLst>
              <a:path extrusionOk="0" h="10199" w="13793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1"/>
          <p:cNvSpPr/>
          <p:nvPr/>
        </p:nvSpPr>
        <p:spPr>
          <a:xfrm>
            <a:off x="2704" y="4900231"/>
            <a:ext cx="180033" cy="373539"/>
          </a:xfrm>
          <a:custGeom>
            <a:rect b="b" l="l" r="r" t="t"/>
            <a:pathLst>
              <a:path extrusionOk="0" h="13169" w="6347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1"/>
          <p:cNvSpPr/>
          <p:nvPr/>
        </p:nvSpPr>
        <p:spPr>
          <a:xfrm rot="1920548">
            <a:off x="8225551" y="625274"/>
            <a:ext cx="501522" cy="425557"/>
          </a:xfrm>
          <a:custGeom>
            <a:rect b="b" l="l" r="r" t="t"/>
            <a:pathLst>
              <a:path extrusionOk="0" h="15004" w="17681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1"/>
          <p:cNvSpPr/>
          <p:nvPr/>
        </p:nvSpPr>
        <p:spPr>
          <a:xfrm>
            <a:off x="346867" y="4064142"/>
            <a:ext cx="479681" cy="339217"/>
          </a:xfrm>
          <a:custGeom>
            <a:rect b="b" l="l" r="r" t="t"/>
            <a:pathLst>
              <a:path extrusionOk="0" h="11959" w="16911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1"/>
          <p:cNvSpPr/>
          <p:nvPr/>
        </p:nvSpPr>
        <p:spPr>
          <a:xfrm rot="-5400000">
            <a:off x="7996280" y="316930"/>
            <a:ext cx="279906" cy="357966"/>
          </a:xfrm>
          <a:custGeom>
            <a:rect b="b" l="l" r="r" t="t"/>
            <a:pathLst>
              <a:path extrusionOk="0" h="12620" w="9868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1"/>
          <p:cNvSpPr/>
          <p:nvPr/>
        </p:nvSpPr>
        <p:spPr>
          <a:xfrm>
            <a:off x="8801760" y="790271"/>
            <a:ext cx="377708" cy="426638"/>
          </a:xfrm>
          <a:custGeom>
            <a:rect b="b" l="l" r="r" t="t"/>
            <a:pathLst>
              <a:path extrusionOk="0" h="15041" w="13316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1"/>
          <p:cNvSpPr/>
          <p:nvPr/>
        </p:nvSpPr>
        <p:spPr>
          <a:xfrm>
            <a:off x="258963" y="4957957"/>
            <a:ext cx="386048" cy="258065"/>
          </a:xfrm>
          <a:custGeom>
            <a:rect b="b" l="l" r="r" t="t"/>
            <a:pathLst>
              <a:path extrusionOk="0" h="9098" w="1361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1"/>
          <p:cNvSpPr/>
          <p:nvPr/>
        </p:nvSpPr>
        <p:spPr>
          <a:xfrm>
            <a:off x="8699345" y="1151407"/>
            <a:ext cx="174842" cy="187322"/>
          </a:xfrm>
          <a:custGeom>
            <a:rect b="b" l="l" r="r" t="t"/>
            <a:pathLst>
              <a:path extrusionOk="0" h="6604" w="6164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rgbClr val="C482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1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3000"/>
              <a:buFont typeface="Montserrat"/>
              <a:buNone/>
              <a:defRPr sz="3000">
                <a:solidFill>
                  <a:srgbClr val="C4820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07" name="Google Shape;107;p41"/>
          <p:cNvSpPr txBox="1"/>
          <p:nvPr>
            <p:ph idx="1" type="body"/>
          </p:nvPr>
        </p:nvSpPr>
        <p:spPr>
          <a:xfrm>
            <a:off x="311700" y="1027025"/>
            <a:ext cx="85206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○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■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○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■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○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■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08" name="Google Shape;10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4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11" name="Google Shape;111;p4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C4820E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" name="Google Shape;112;p4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C4820E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3" name="Google Shape;113;p4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14" name="Google Shape;114;p4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C4820E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4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C4820E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6" name="Google Shape;116;p42"/>
          <p:cNvSpPr txBox="1"/>
          <p:nvPr>
            <p:ph type="ctrTitle"/>
          </p:nvPr>
        </p:nvSpPr>
        <p:spPr>
          <a:xfrm>
            <a:off x="1004150" y="15231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5400"/>
              <a:buFont typeface="Montserrat"/>
              <a:buNone/>
              <a:defRPr sz="5400">
                <a:solidFill>
                  <a:srgbClr val="00326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17" name="Google Shape;117;p42"/>
          <p:cNvSpPr txBox="1"/>
          <p:nvPr>
            <p:ph idx="1" type="subTitle"/>
          </p:nvPr>
        </p:nvSpPr>
        <p:spPr>
          <a:xfrm>
            <a:off x="1547925" y="2850050"/>
            <a:ext cx="6094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400"/>
              <a:buFont typeface="Montserrat Medium"/>
              <a:buNone/>
              <a:defRPr sz="24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" name="Google Shape;11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22" name="Google Shape;12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4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3000"/>
              <a:buFont typeface="Montserrat"/>
              <a:buNone/>
              <a:defRPr sz="3000">
                <a:solidFill>
                  <a:srgbClr val="C4820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25" name="Google Shape;125;p44"/>
          <p:cNvSpPr txBox="1"/>
          <p:nvPr>
            <p:ph idx="1" type="body"/>
          </p:nvPr>
        </p:nvSpPr>
        <p:spPr>
          <a:xfrm>
            <a:off x="311700" y="1145700"/>
            <a:ext cx="3999900" cy="3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●"/>
              <a:defRPr sz="14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●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●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6" name="Google Shape;126;p44"/>
          <p:cNvSpPr txBox="1"/>
          <p:nvPr>
            <p:ph idx="2" type="body"/>
          </p:nvPr>
        </p:nvSpPr>
        <p:spPr>
          <a:xfrm>
            <a:off x="4832400" y="1145700"/>
            <a:ext cx="3999900" cy="3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●"/>
              <a:defRPr sz="14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●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●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7" name="Google Shape;12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5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3000"/>
              <a:buFont typeface="Montserrat"/>
              <a:buNone/>
              <a:defRPr sz="3000">
                <a:solidFill>
                  <a:srgbClr val="C4820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30" name="Google Shape;13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6"/>
          <p:cNvSpPr txBox="1"/>
          <p:nvPr>
            <p:ph type="title"/>
          </p:nvPr>
        </p:nvSpPr>
        <p:spPr>
          <a:xfrm>
            <a:off x="311700" y="3270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46"/>
          <p:cNvSpPr txBox="1"/>
          <p:nvPr>
            <p:ph idx="1" type="body"/>
          </p:nvPr>
        </p:nvSpPr>
        <p:spPr>
          <a:xfrm>
            <a:off x="311700" y="1389600"/>
            <a:ext cx="28080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4" name="Google Shape;13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4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47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9" name="Google Shape;139;p47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0" name="Google Shape;140;p4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8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/>
        </p:txBody>
      </p:sp>
      <p:sp>
        <p:nvSpPr>
          <p:cNvPr id="144" name="Google Shape;14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9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9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13000"/>
              <a:buNone/>
              <a:defRPr sz="13000">
                <a:solidFill>
                  <a:srgbClr val="C4820E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8" name="Google Shape;148;p49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9" name="Google Shape;14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1"/>
          <p:cNvSpPr txBox="1"/>
          <p:nvPr>
            <p:ph type="ctrTitle"/>
          </p:nvPr>
        </p:nvSpPr>
        <p:spPr>
          <a:xfrm>
            <a:off x="2305100" y="1161050"/>
            <a:ext cx="61530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4800"/>
              <a:buNone/>
              <a:defRPr b="0" sz="4800">
                <a:solidFill>
                  <a:srgbClr val="1C4587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4800"/>
              <a:buNone/>
              <a:defRPr b="0" sz="4800">
                <a:solidFill>
                  <a:srgbClr val="1C4587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4800"/>
              <a:buNone/>
              <a:defRPr b="0" sz="4800">
                <a:solidFill>
                  <a:srgbClr val="1C4587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4800"/>
              <a:buNone/>
              <a:defRPr b="0" sz="4800">
                <a:solidFill>
                  <a:srgbClr val="1C4587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4800"/>
              <a:buNone/>
              <a:defRPr b="0" sz="4800">
                <a:solidFill>
                  <a:srgbClr val="1C4587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4800"/>
              <a:buNone/>
              <a:defRPr b="0" sz="4800">
                <a:solidFill>
                  <a:srgbClr val="1C4587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4800"/>
              <a:buNone/>
              <a:defRPr b="0" sz="4800">
                <a:solidFill>
                  <a:srgbClr val="1C4587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4800"/>
              <a:buNone/>
              <a:defRPr b="0" sz="4800">
                <a:solidFill>
                  <a:srgbClr val="1C4587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4800"/>
              <a:buNone/>
              <a:defRPr b="0" sz="4800">
                <a:solidFill>
                  <a:srgbClr val="1C4587"/>
                </a:solidFill>
              </a:defRPr>
            </a:lvl9pPr>
          </a:lstStyle>
          <a:p/>
        </p:txBody>
      </p:sp>
      <p:sp>
        <p:nvSpPr>
          <p:cNvPr id="154" name="Google Shape;154;p51"/>
          <p:cNvSpPr/>
          <p:nvPr/>
        </p:nvSpPr>
        <p:spPr>
          <a:xfrm>
            <a:off x="723692" y="4220091"/>
            <a:ext cx="794875" cy="985737"/>
          </a:xfrm>
          <a:custGeom>
            <a:rect b="b" l="l" r="r" t="t"/>
            <a:pathLst>
              <a:path extrusionOk="0" h="19698" w="15884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1"/>
          <p:cNvSpPr/>
          <p:nvPr/>
        </p:nvSpPr>
        <p:spPr>
          <a:xfrm>
            <a:off x="-58319" y="3053287"/>
            <a:ext cx="782014" cy="890356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1"/>
          <p:cNvSpPr/>
          <p:nvPr/>
        </p:nvSpPr>
        <p:spPr>
          <a:xfrm>
            <a:off x="4025101" y="3422420"/>
            <a:ext cx="370865" cy="809588"/>
          </a:xfrm>
          <a:custGeom>
            <a:rect b="b" l="l" r="r" t="t"/>
            <a:pathLst>
              <a:path extrusionOk="0" h="16178" w="7411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1"/>
          <p:cNvSpPr/>
          <p:nvPr/>
        </p:nvSpPr>
        <p:spPr>
          <a:xfrm>
            <a:off x="3078045" y="3128354"/>
            <a:ext cx="730671" cy="895811"/>
          </a:xfrm>
          <a:custGeom>
            <a:rect b="b" l="l" r="r" t="t"/>
            <a:pathLst>
              <a:path extrusionOk="0" h="17901" w="14601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1"/>
          <p:cNvSpPr/>
          <p:nvPr/>
        </p:nvSpPr>
        <p:spPr>
          <a:xfrm>
            <a:off x="5401648" y="3285712"/>
            <a:ext cx="805934" cy="750838"/>
          </a:xfrm>
          <a:custGeom>
            <a:rect b="b" l="l" r="r" t="t"/>
            <a:pathLst>
              <a:path extrusionOk="0" h="15004" w="16105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1"/>
          <p:cNvSpPr/>
          <p:nvPr/>
        </p:nvSpPr>
        <p:spPr>
          <a:xfrm>
            <a:off x="8364459" y="3346843"/>
            <a:ext cx="873792" cy="600260"/>
          </a:xfrm>
          <a:custGeom>
            <a:rect b="b" l="l" r="r" t="t"/>
            <a:pathLst>
              <a:path extrusionOk="0" h="11995" w="17461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1"/>
          <p:cNvSpPr/>
          <p:nvPr/>
        </p:nvSpPr>
        <p:spPr>
          <a:xfrm>
            <a:off x="4551116" y="3125540"/>
            <a:ext cx="657208" cy="679227"/>
          </a:xfrm>
          <a:custGeom>
            <a:rect b="b" l="l" r="r" t="t"/>
            <a:pathLst>
              <a:path extrusionOk="0" h="13573" w="13133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1"/>
          <p:cNvSpPr/>
          <p:nvPr/>
        </p:nvSpPr>
        <p:spPr>
          <a:xfrm>
            <a:off x="4419881" y="3994834"/>
            <a:ext cx="919681" cy="950908"/>
          </a:xfrm>
          <a:custGeom>
            <a:rect b="b" l="l" r="r" t="t"/>
            <a:pathLst>
              <a:path extrusionOk="0" h="19002" w="18378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1"/>
          <p:cNvSpPr/>
          <p:nvPr/>
        </p:nvSpPr>
        <p:spPr>
          <a:xfrm>
            <a:off x="2644912" y="4036538"/>
            <a:ext cx="890356" cy="706800"/>
          </a:xfrm>
          <a:custGeom>
            <a:rect b="b" l="l" r="r" t="t"/>
            <a:pathLst>
              <a:path extrusionOk="0" h="14124" w="17792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1"/>
          <p:cNvSpPr/>
          <p:nvPr/>
        </p:nvSpPr>
        <p:spPr>
          <a:xfrm>
            <a:off x="2116542" y="3186156"/>
            <a:ext cx="829755" cy="780163"/>
          </a:xfrm>
          <a:custGeom>
            <a:rect b="b" l="l" r="r" t="t"/>
            <a:pathLst>
              <a:path extrusionOk="0" h="15590" w="16581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1"/>
          <p:cNvSpPr/>
          <p:nvPr/>
        </p:nvSpPr>
        <p:spPr>
          <a:xfrm>
            <a:off x="1347361" y="3186147"/>
            <a:ext cx="599146" cy="706813"/>
          </a:xfrm>
          <a:custGeom>
            <a:rect b="b" l="l" r="r" t="t"/>
            <a:pathLst>
              <a:path extrusionOk="0" h="11079" w="9391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1"/>
          <p:cNvSpPr/>
          <p:nvPr/>
        </p:nvSpPr>
        <p:spPr>
          <a:xfrm>
            <a:off x="2681615" y="4813558"/>
            <a:ext cx="816944" cy="313967"/>
          </a:xfrm>
          <a:custGeom>
            <a:rect b="b" l="l" r="r" t="t"/>
            <a:pathLst>
              <a:path extrusionOk="0" h="6274" w="16325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1"/>
          <p:cNvSpPr/>
          <p:nvPr/>
        </p:nvSpPr>
        <p:spPr>
          <a:xfrm>
            <a:off x="7146421" y="4508764"/>
            <a:ext cx="1040884" cy="730621"/>
          </a:xfrm>
          <a:custGeom>
            <a:rect b="b" l="l" r="r" t="t"/>
            <a:pathLst>
              <a:path extrusionOk="0" h="14600" w="2080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1"/>
          <p:cNvSpPr/>
          <p:nvPr/>
        </p:nvSpPr>
        <p:spPr>
          <a:xfrm>
            <a:off x="7146430" y="3104432"/>
            <a:ext cx="684732" cy="721463"/>
          </a:xfrm>
          <a:custGeom>
            <a:rect b="b" l="l" r="r" t="t"/>
            <a:pathLst>
              <a:path extrusionOk="0" h="14417" w="13683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1"/>
          <p:cNvSpPr/>
          <p:nvPr/>
        </p:nvSpPr>
        <p:spPr>
          <a:xfrm>
            <a:off x="5262207" y="4729516"/>
            <a:ext cx="525046" cy="372666"/>
          </a:xfrm>
          <a:custGeom>
            <a:rect b="b" l="l" r="r" t="t"/>
            <a:pathLst>
              <a:path extrusionOk="0" h="7447" w="10492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1"/>
          <p:cNvSpPr/>
          <p:nvPr/>
        </p:nvSpPr>
        <p:spPr>
          <a:xfrm>
            <a:off x="8376372" y="4729061"/>
            <a:ext cx="508532" cy="324976"/>
          </a:xfrm>
          <a:custGeom>
            <a:rect b="b" l="l" r="r" t="t"/>
            <a:pathLst>
              <a:path extrusionOk="0" h="6494" w="10162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1"/>
          <p:cNvSpPr/>
          <p:nvPr/>
        </p:nvSpPr>
        <p:spPr>
          <a:xfrm>
            <a:off x="3808716" y="4429326"/>
            <a:ext cx="570935" cy="567282"/>
          </a:xfrm>
          <a:custGeom>
            <a:rect b="b" l="l" r="r" t="t"/>
            <a:pathLst>
              <a:path extrusionOk="0" h="11336" w="11409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1"/>
          <p:cNvSpPr/>
          <p:nvPr/>
        </p:nvSpPr>
        <p:spPr>
          <a:xfrm>
            <a:off x="7975391" y="3053272"/>
            <a:ext cx="541560" cy="679277"/>
          </a:xfrm>
          <a:custGeom>
            <a:rect b="b" l="l" r="r" t="t"/>
            <a:pathLst>
              <a:path extrusionOk="0" h="13574" w="10822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1"/>
          <p:cNvSpPr/>
          <p:nvPr/>
        </p:nvSpPr>
        <p:spPr>
          <a:xfrm>
            <a:off x="1570785" y="4028295"/>
            <a:ext cx="734324" cy="723314"/>
          </a:xfrm>
          <a:custGeom>
            <a:rect b="b" l="l" r="r" t="t"/>
            <a:pathLst>
              <a:path extrusionOk="0" h="14454" w="14674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1"/>
          <p:cNvSpPr/>
          <p:nvPr/>
        </p:nvSpPr>
        <p:spPr>
          <a:xfrm>
            <a:off x="247060" y="4094875"/>
            <a:ext cx="275434" cy="244207"/>
          </a:xfrm>
          <a:custGeom>
            <a:rect b="b" l="l" r="r" t="t"/>
            <a:pathLst>
              <a:path extrusionOk="0" h="4880" w="5504">
                <a:moveTo>
                  <a:pt x="5173" y="0"/>
                </a:moveTo>
                <a:lnTo>
                  <a:pt x="5063" y="37"/>
                </a:lnTo>
                <a:lnTo>
                  <a:pt x="4990" y="110"/>
                </a:lnTo>
                <a:lnTo>
                  <a:pt x="4770" y="404"/>
                </a:lnTo>
                <a:lnTo>
                  <a:pt x="4513" y="624"/>
                </a:lnTo>
                <a:lnTo>
                  <a:pt x="4219" y="844"/>
                </a:lnTo>
                <a:lnTo>
                  <a:pt x="3926" y="991"/>
                </a:lnTo>
                <a:lnTo>
                  <a:pt x="3742" y="1064"/>
                </a:lnTo>
                <a:lnTo>
                  <a:pt x="3559" y="1101"/>
                </a:lnTo>
                <a:lnTo>
                  <a:pt x="3229" y="1101"/>
                </a:lnTo>
                <a:lnTo>
                  <a:pt x="2862" y="1028"/>
                </a:lnTo>
                <a:lnTo>
                  <a:pt x="2532" y="917"/>
                </a:lnTo>
                <a:lnTo>
                  <a:pt x="2239" y="807"/>
                </a:lnTo>
                <a:lnTo>
                  <a:pt x="1908" y="734"/>
                </a:lnTo>
                <a:lnTo>
                  <a:pt x="1578" y="661"/>
                </a:lnTo>
                <a:lnTo>
                  <a:pt x="1248" y="624"/>
                </a:lnTo>
                <a:lnTo>
                  <a:pt x="918" y="661"/>
                </a:lnTo>
                <a:lnTo>
                  <a:pt x="625" y="771"/>
                </a:lnTo>
                <a:lnTo>
                  <a:pt x="478" y="844"/>
                </a:lnTo>
                <a:lnTo>
                  <a:pt x="368" y="954"/>
                </a:lnTo>
                <a:lnTo>
                  <a:pt x="258" y="1064"/>
                </a:lnTo>
                <a:lnTo>
                  <a:pt x="148" y="1211"/>
                </a:lnTo>
                <a:lnTo>
                  <a:pt x="111" y="1284"/>
                </a:lnTo>
                <a:lnTo>
                  <a:pt x="111" y="1321"/>
                </a:lnTo>
                <a:lnTo>
                  <a:pt x="148" y="1431"/>
                </a:lnTo>
                <a:lnTo>
                  <a:pt x="258" y="1468"/>
                </a:lnTo>
                <a:lnTo>
                  <a:pt x="368" y="1468"/>
                </a:lnTo>
                <a:lnTo>
                  <a:pt x="698" y="1284"/>
                </a:lnTo>
                <a:lnTo>
                  <a:pt x="1028" y="1174"/>
                </a:lnTo>
                <a:lnTo>
                  <a:pt x="1028" y="2531"/>
                </a:lnTo>
                <a:lnTo>
                  <a:pt x="955" y="3228"/>
                </a:lnTo>
                <a:lnTo>
                  <a:pt x="881" y="3925"/>
                </a:lnTo>
                <a:lnTo>
                  <a:pt x="698" y="3852"/>
                </a:lnTo>
                <a:lnTo>
                  <a:pt x="551" y="3742"/>
                </a:lnTo>
                <a:lnTo>
                  <a:pt x="368" y="3632"/>
                </a:lnTo>
                <a:lnTo>
                  <a:pt x="184" y="3522"/>
                </a:lnTo>
                <a:lnTo>
                  <a:pt x="111" y="3522"/>
                </a:lnTo>
                <a:lnTo>
                  <a:pt x="38" y="3595"/>
                </a:lnTo>
                <a:lnTo>
                  <a:pt x="1" y="3669"/>
                </a:lnTo>
                <a:lnTo>
                  <a:pt x="1" y="3779"/>
                </a:lnTo>
                <a:lnTo>
                  <a:pt x="38" y="3962"/>
                </a:lnTo>
                <a:lnTo>
                  <a:pt x="148" y="4145"/>
                </a:lnTo>
                <a:lnTo>
                  <a:pt x="294" y="4256"/>
                </a:lnTo>
                <a:lnTo>
                  <a:pt x="514" y="4402"/>
                </a:lnTo>
                <a:lnTo>
                  <a:pt x="735" y="4476"/>
                </a:lnTo>
                <a:lnTo>
                  <a:pt x="1175" y="4476"/>
                </a:lnTo>
                <a:lnTo>
                  <a:pt x="1248" y="4439"/>
                </a:lnTo>
                <a:lnTo>
                  <a:pt x="1321" y="4402"/>
                </a:lnTo>
                <a:lnTo>
                  <a:pt x="1395" y="4256"/>
                </a:lnTo>
                <a:lnTo>
                  <a:pt x="1505" y="3485"/>
                </a:lnTo>
                <a:lnTo>
                  <a:pt x="1578" y="2715"/>
                </a:lnTo>
                <a:lnTo>
                  <a:pt x="1578" y="1908"/>
                </a:lnTo>
                <a:lnTo>
                  <a:pt x="1542" y="1504"/>
                </a:lnTo>
                <a:lnTo>
                  <a:pt x="1505" y="1138"/>
                </a:lnTo>
                <a:lnTo>
                  <a:pt x="1762" y="1174"/>
                </a:lnTo>
                <a:lnTo>
                  <a:pt x="2128" y="1321"/>
                </a:lnTo>
                <a:lnTo>
                  <a:pt x="2459" y="1431"/>
                </a:lnTo>
                <a:lnTo>
                  <a:pt x="2825" y="1578"/>
                </a:lnTo>
                <a:lnTo>
                  <a:pt x="3192" y="1651"/>
                </a:lnTo>
                <a:lnTo>
                  <a:pt x="3486" y="1651"/>
                </a:lnTo>
                <a:lnTo>
                  <a:pt x="3449" y="2531"/>
                </a:lnTo>
                <a:lnTo>
                  <a:pt x="3412" y="3449"/>
                </a:lnTo>
                <a:lnTo>
                  <a:pt x="3412" y="3999"/>
                </a:lnTo>
                <a:lnTo>
                  <a:pt x="3412" y="4256"/>
                </a:lnTo>
                <a:lnTo>
                  <a:pt x="3412" y="4366"/>
                </a:lnTo>
                <a:lnTo>
                  <a:pt x="3412" y="4402"/>
                </a:lnTo>
                <a:lnTo>
                  <a:pt x="3449" y="4402"/>
                </a:lnTo>
                <a:lnTo>
                  <a:pt x="3412" y="4476"/>
                </a:lnTo>
                <a:lnTo>
                  <a:pt x="3376" y="4512"/>
                </a:lnTo>
                <a:lnTo>
                  <a:pt x="3376" y="4659"/>
                </a:lnTo>
                <a:lnTo>
                  <a:pt x="3376" y="4696"/>
                </a:lnTo>
                <a:lnTo>
                  <a:pt x="3412" y="4806"/>
                </a:lnTo>
                <a:lnTo>
                  <a:pt x="3522" y="4879"/>
                </a:lnTo>
                <a:lnTo>
                  <a:pt x="3632" y="4879"/>
                </a:lnTo>
                <a:lnTo>
                  <a:pt x="3742" y="4842"/>
                </a:lnTo>
                <a:lnTo>
                  <a:pt x="3853" y="4732"/>
                </a:lnTo>
                <a:lnTo>
                  <a:pt x="3926" y="4586"/>
                </a:lnTo>
                <a:lnTo>
                  <a:pt x="3926" y="4439"/>
                </a:lnTo>
                <a:lnTo>
                  <a:pt x="3926" y="4256"/>
                </a:lnTo>
                <a:lnTo>
                  <a:pt x="3963" y="3045"/>
                </a:lnTo>
                <a:lnTo>
                  <a:pt x="3963" y="1871"/>
                </a:lnTo>
                <a:lnTo>
                  <a:pt x="3963" y="1541"/>
                </a:lnTo>
                <a:lnTo>
                  <a:pt x="4366" y="1394"/>
                </a:lnTo>
                <a:lnTo>
                  <a:pt x="4733" y="1138"/>
                </a:lnTo>
                <a:lnTo>
                  <a:pt x="5063" y="844"/>
                </a:lnTo>
                <a:lnTo>
                  <a:pt x="5320" y="551"/>
                </a:lnTo>
                <a:lnTo>
                  <a:pt x="5467" y="367"/>
                </a:lnTo>
                <a:lnTo>
                  <a:pt x="5503" y="257"/>
                </a:lnTo>
                <a:lnTo>
                  <a:pt x="5503" y="184"/>
                </a:lnTo>
                <a:lnTo>
                  <a:pt x="5430" y="74"/>
                </a:lnTo>
                <a:lnTo>
                  <a:pt x="5356" y="37"/>
                </a:lnTo>
                <a:lnTo>
                  <a:pt x="528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1"/>
          <p:cNvSpPr/>
          <p:nvPr/>
        </p:nvSpPr>
        <p:spPr>
          <a:xfrm>
            <a:off x="8516944" y="4082884"/>
            <a:ext cx="690236" cy="510383"/>
          </a:xfrm>
          <a:custGeom>
            <a:rect b="b" l="l" r="r" t="t"/>
            <a:pathLst>
              <a:path extrusionOk="0" h="10199" w="13793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1"/>
          <p:cNvSpPr/>
          <p:nvPr/>
        </p:nvSpPr>
        <p:spPr>
          <a:xfrm>
            <a:off x="859713" y="3417443"/>
            <a:ext cx="317620" cy="659010"/>
          </a:xfrm>
          <a:custGeom>
            <a:rect b="b" l="l" r="r" t="t"/>
            <a:pathLst>
              <a:path extrusionOk="0" h="13169" w="6347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1"/>
          <p:cNvSpPr/>
          <p:nvPr/>
        </p:nvSpPr>
        <p:spPr>
          <a:xfrm rot="1920742">
            <a:off x="5707038" y="4213989"/>
            <a:ext cx="884797" cy="750834"/>
          </a:xfrm>
          <a:custGeom>
            <a:rect b="b" l="l" r="r" t="t"/>
            <a:pathLst>
              <a:path extrusionOk="0" h="15004" w="17681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1"/>
          <p:cNvSpPr/>
          <p:nvPr/>
        </p:nvSpPr>
        <p:spPr>
          <a:xfrm rot="-3496844">
            <a:off x="115839" y="4509560"/>
            <a:ext cx="537852" cy="464440"/>
          </a:xfrm>
          <a:custGeom>
            <a:rect b="b" l="l" r="r" t="t"/>
            <a:pathLst>
              <a:path extrusionOk="0" h="9281" w="10748">
                <a:moveTo>
                  <a:pt x="4072" y="550"/>
                </a:moveTo>
                <a:lnTo>
                  <a:pt x="4329" y="587"/>
                </a:lnTo>
                <a:lnTo>
                  <a:pt x="4585" y="697"/>
                </a:lnTo>
                <a:lnTo>
                  <a:pt x="4842" y="844"/>
                </a:lnTo>
                <a:lnTo>
                  <a:pt x="5025" y="1064"/>
                </a:lnTo>
                <a:lnTo>
                  <a:pt x="5136" y="1211"/>
                </a:lnTo>
                <a:lnTo>
                  <a:pt x="5209" y="1394"/>
                </a:lnTo>
                <a:lnTo>
                  <a:pt x="5246" y="1541"/>
                </a:lnTo>
                <a:lnTo>
                  <a:pt x="5282" y="1724"/>
                </a:lnTo>
                <a:lnTo>
                  <a:pt x="5282" y="2091"/>
                </a:lnTo>
                <a:lnTo>
                  <a:pt x="5246" y="2458"/>
                </a:lnTo>
                <a:lnTo>
                  <a:pt x="5209" y="2641"/>
                </a:lnTo>
                <a:lnTo>
                  <a:pt x="4695" y="1761"/>
                </a:lnTo>
                <a:lnTo>
                  <a:pt x="4072" y="550"/>
                </a:lnTo>
                <a:close/>
                <a:moveTo>
                  <a:pt x="1357" y="3008"/>
                </a:moveTo>
                <a:lnTo>
                  <a:pt x="1504" y="3265"/>
                </a:lnTo>
                <a:lnTo>
                  <a:pt x="1614" y="3558"/>
                </a:lnTo>
                <a:lnTo>
                  <a:pt x="1797" y="3852"/>
                </a:lnTo>
                <a:lnTo>
                  <a:pt x="1467" y="3778"/>
                </a:lnTo>
                <a:lnTo>
                  <a:pt x="1137" y="3742"/>
                </a:lnTo>
                <a:lnTo>
                  <a:pt x="1321" y="3118"/>
                </a:lnTo>
                <a:lnTo>
                  <a:pt x="1357" y="3008"/>
                </a:lnTo>
                <a:close/>
                <a:moveTo>
                  <a:pt x="3815" y="550"/>
                </a:moveTo>
                <a:lnTo>
                  <a:pt x="4072" y="1174"/>
                </a:lnTo>
                <a:lnTo>
                  <a:pt x="4329" y="1798"/>
                </a:lnTo>
                <a:lnTo>
                  <a:pt x="4695" y="2531"/>
                </a:lnTo>
                <a:lnTo>
                  <a:pt x="5099" y="3265"/>
                </a:lnTo>
                <a:lnTo>
                  <a:pt x="4989" y="3852"/>
                </a:lnTo>
                <a:lnTo>
                  <a:pt x="4732" y="3191"/>
                </a:lnTo>
                <a:lnTo>
                  <a:pt x="4475" y="2531"/>
                </a:lnTo>
                <a:lnTo>
                  <a:pt x="4255" y="1981"/>
                </a:lnTo>
                <a:lnTo>
                  <a:pt x="4035" y="1467"/>
                </a:lnTo>
                <a:lnTo>
                  <a:pt x="3742" y="880"/>
                </a:lnTo>
                <a:lnTo>
                  <a:pt x="3558" y="587"/>
                </a:lnTo>
                <a:lnTo>
                  <a:pt x="3815" y="550"/>
                </a:lnTo>
                <a:close/>
                <a:moveTo>
                  <a:pt x="1761" y="1724"/>
                </a:moveTo>
                <a:lnTo>
                  <a:pt x="1724" y="1798"/>
                </a:lnTo>
                <a:lnTo>
                  <a:pt x="1761" y="1944"/>
                </a:lnTo>
                <a:lnTo>
                  <a:pt x="1834" y="2018"/>
                </a:lnTo>
                <a:lnTo>
                  <a:pt x="1944" y="2054"/>
                </a:lnTo>
                <a:lnTo>
                  <a:pt x="2054" y="2054"/>
                </a:lnTo>
                <a:lnTo>
                  <a:pt x="2274" y="2531"/>
                </a:lnTo>
                <a:lnTo>
                  <a:pt x="2458" y="2971"/>
                </a:lnTo>
                <a:lnTo>
                  <a:pt x="3008" y="4182"/>
                </a:lnTo>
                <a:lnTo>
                  <a:pt x="3081" y="4329"/>
                </a:lnTo>
                <a:lnTo>
                  <a:pt x="2825" y="4255"/>
                </a:lnTo>
                <a:lnTo>
                  <a:pt x="2458" y="4072"/>
                </a:lnTo>
                <a:lnTo>
                  <a:pt x="2164" y="3742"/>
                </a:lnTo>
                <a:lnTo>
                  <a:pt x="1944" y="3375"/>
                </a:lnTo>
                <a:lnTo>
                  <a:pt x="1724" y="2935"/>
                </a:lnTo>
                <a:lnTo>
                  <a:pt x="1651" y="2715"/>
                </a:lnTo>
                <a:lnTo>
                  <a:pt x="1504" y="2494"/>
                </a:lnTo>
                <a:lnTo>
                  <a:pt x="1724" y="1761"/>
                </a:lnTo>
                <a:lnTo>
                  <a:pt x="1761" y="1724"/>
                </a:lnTo>
                <a:close/>
                <a:moveTo>
                  <a:pt x="2604" y="1174"/>
                </a:moveTo>
                <a:lnTo>
                  <a:pt x="2715" y="1614"/>
                </a:lnTo>
                <a:lnTo>
                  <a:pt x="2861" y="2054"/>
                </a:lnTo>
                <a:lnTo>
                  <a:pt x="3228" y="2898"/>
                </a:lnTo>
                <a:lnTo>
                  <a:pt x="3998" y="4695"/>
                </a:lnTo>
                <a:lnTo>
                  <a:pt x="3632" y="4549"/>
                </a:lnTo>
                <a:lnTo>
                  <a:pt x="3522" y="4365"/>
                </a:lnTo>
                <a:lnTo>
                  <a:pt x="3301" y="3888"/>
                </a:lnTo>
                <a:lnTo>
                  <a:pt x="2861" y="2935"/>
                </a:lnTo>
                <a:lnTo>
                  <a:pt x="2274" y="1834"/>
                </a:lnTo>
                <a:lnTo>
                  <a:pt x="2311" y="1651"/>
                </a:lnTo>
                <a:lnTo>
                  <a:pt x="2421" y="1467"/>
                </a:lnTo>
                <a:lnTo>
                  <a:pt x="2604" y="1174"/>
                </a:lnTo>
                <a:close/>
                <a:moveTo>
                  <a:pt x="3338" y="660"/>
                </a:moveTo>
                <a:lnTo>
                  <a:pt x="3375" y="770"/>
                </a:lnTo>
                <a:lnTo>
                  <a:pt x="3668" y="1467"/>
                </a:lnTo>
                <a:lnTo>
                  <a:pt x="3962" y="2164"/>
                </a:lnTo>
                <a:lnTo>
                  <a:pt x="4182" y="2788"/>
                </a:lnTo>
                <a:lnTo>
                  <a:pt x="4402" y="3412"/>
                </a:lnTo>
                <a:lnTo>
                  <a:pt x="4769" y="4659"/>
                </a:lnTo>
                <a:lnTo>
                  <a:pt x="4732" y="4805"/>
                </a:lnTo>
                <a:lnTo>
                  <a:pt x="4659" y="4805"/>
                </a:lnTo>
                <a:lnTo>
                  <a:pt x="4549" y="4842"/>
                </a:lnTo>
                <a:lnTo>
                  <a:pt x="3668" y="2971"/>
                </a:lnTo>
                <a:lnTo>
                  <a:pt x="3191" y="1981"/>
                </a:lnTo>
                <a:lnTo>
                  <a:pt x="2971" y="1504"/>
                </a:lnTo>
                <a:lnTo>
                  <a:pt x="2788" y="991"/>
                </a:lnTo>
                <a:lnTo>
                  <a:pt x="3045" y="807"/>
                </a:lnTo>
                <a:lnTo>
                  <a:pt x="3338" y="660"/>
                </a:lnTo>
                <a:close/>
                <a:moveTo>
                  <a:pt x="7703" y="4952"/>
                </a:moveTo>
                <a:lnTo>
                  <a:pt x="7960" y="5246"/>
                </a:lnTo>
                <a:lnTo>
                  <a:pt x="7960" y="5246"/>
                </a:lnTo>
                <a:lnTo>
                  <a:pt x="7887" y="5209"/>
                </a:lnTo>
                <a:lnTo>
                  <a:pt x="7593" y="5319"/>
                </a:lnTo>
                <a:lnTo>
                  <a:pt x="7300" y="5466"/>
                </a:lnTo>
                <a:lnTo>
                  <a:pt x="7190" y="5356"/>
                </a:lnTo>
                <a:lnTo>
                  <a:pt x="7080" y="5246"/>
                </a:lnTo>
                <a:lnTo>
                  <a:pt x="7373" y="5099"/>
                </a:lnTo>
                <a:lnTo>
                  <a:pt x="7703" y="4952"/>
                </a:lnTo>
                <a:close/>
                <a:moveTo>
                  <a:pt x="8070" y="5356"/>
                </a:moveTo>
                <a:lnTo>
                  <a:pt x="8180" y="5466"/>
                </a:lnTo>
                <a:lnTo>
                  <a:pt x="7923" y="5576"/>
                </a:lnTo>
                <a:lnTo>
                  <a:pt x="7923" y="5576"/>
                </a:lnTo>
                <a:lnTo>
                  <a:pt x="8033" y="5429"/>
                </a:lnTo>
                <a:lnTo>
                  <a:pt x="8070" y="5356"/>
                </a:lnTo>
                <a:close/>
                <a:moveTo>
                  <a:pt x="7556" y="5612"/>
                </a:moveTo>
                <a:lnTo>
                  <a:pt x="7483" y="5722"/>
                </a:lnTo>
                <a:lnTo>
                  <a:pt x="7483" y="5686"/>
                </a:lnTo>
                <a:lnTo>
                  <a:pt x="7556" y="5612"/>
                </a:lnTo>
                <a:close/>
                <a:moveTo>
                  <a:pt x="8327" y="5649"/>
                </a:moveTo>
                <a:lnTo>
                  <a:pt x="8327" y="5686"/>
                </a:lnTo>
                <a:lnTo>
                  <a:pt x="7850" y="6163"/>
                </a:lnTo>
                <a:lnTo>
                  <a:pt x="7740" y="6016"/>
                </a:lnTo>
                <a:lnTo>
                  <a:pt x="7997" y="5796"/>
                </a:lnTo>
                <a:lnTo>
                  <a:pt x="8327" y="5649"/>
                </a:lnTo>
                <a:close/>
                <a:moveTo>
                  <a:pt x="8437" y="5796"/>
                </a:moveTo>
                <a:lnTo>
                  <a:pt x="8584" y="6053"/>
                </a:lnTo>
                <a:lnTo>
                  <a:pt x="8143" y="6163"/>
                </a:lnTo>
                <a:lnTo>
                  <a:pt x="8437" y="5796"/>
                </a:lnTo>
                <a:close/>
                <a:moveTo>
                  <a:pt x="8437" y="6346"/>
                </a:moveTo>
                <a:lnTo>
                  <a:pt x="8180" y="6676"/>
                </a:lnTo>
                <a:lnTo>
                  <a:pt x="8107" y="6493"/>
                </a:lnTo>
                <a:lnTo>
                  <a:pt x="8437" y="6346"/>
                </a:lnTo>
                <a:close/>
                <a:moveTo>
                  <a:pt x="8767" y="6309"/>
                </a:moveTo>
                <a:lnTo>
                  <a:pt x="8840" y="6419"/>
                </a:lnTo>
                <a:lnTo>
                  <a:pt x="8547" y="6676"/>
                </a:lnTo>
                <a:lnTo>
                  <a:pt x="8767" y="6309"/>
                </a:lnTo>
                <a:close/>
                <a:moveTo>
                  <a:pt x="9024" y="4695"/>
                </a:moveTo>
                <a:lnTo>
                  <a:pt x="9244" y="4732"/>
                </a:lnTo>
                <a:lnTo>
                  <a:pt x="9464" y="4805"/>
                </a:lnTo>
                <a:lnTo>
                  <a:pt x="9647" y="4915"/>
                </a:lnTo>
                <a:lnTo>
                  <a:pt x="9831" y="5062"/>
                </a:lnTo>
                <a:lnTo>
                  <a:pt x="9904" y="5099"/>
                </a:lnTo>
                <a:lnTo>
                  <a:pt x="9941" y="5099"/>
                </a:lnTo>
                <a:lnTo>
                  <a:pt x="10051" y="5209"/>
                </a:lnTo>
                <a:lnTo>
                  <a:pt x="10161" y="5429"/>
                </a:lnTo>
                <a:lnTo>
                  <a:pt x="10198" y="5649"/>
                </a:lnTo>
                <a:lnTo>
                  <a:pt x="10234" y="5869"/>
                </a:lnTo>
                <a:lnTo>
                  <a:pt x="10198" y="6089"/>
                </a:lnTo>
                <a:lnTo>
                  <a:pt x="10161" y="6346"/>
                </a:lnTo>
                <a:lnTo>
                  <a:pt x="10088" y="6566"/>
                </a:lnTo>
                <a:lnTo>
                  <a:pt x="9941" y="7006"/>
                </a:lnTo>
                <a:lnTo>
                  <a:pt x="9904" y="7080"/>
                </a:lnTo>
                <a:lnTo>
                  <a:pt x="9647" y="6676"/>
                </a:lnTo>
                <a:lnTo>
                  <a:pt x="9024" y="5832"/>
                </a:lnTo>
                <a:lnTo>
                  <a:pt x="8620" y="5282"/>
                </a:lnTo>
                <a:lnTo>
                  <a:pt x="8400" y="5025"/>
                </a:lnTo>
                <a:lnTo>
                  <a:pt x="8143" y="4842"/>
                </a:lnTo>
                <a:lnTo>
                  <a:pt x="8584" y="4732"/>
                </a:lnTo>
                <a:lnTo>
                  <a:pt x="8804" y="4695"/>
                </a:lnTo>
                <a:close/>
                <a:moveTo>
                  <a:pt x="1064" y="3962"/>
                </a:moveTo>
                <a:lnTo>
                  <a:pt x="1357" y="4182"/>
                </a:lnTo>
                <a:lnTo>
                  <a:pt x="1651" y="4329"/>
                </a:lnTo>
                <a:lnTo>
                  <a:pt x="2348" y="4585"/>
                </a:lnTo>
                <a:lnTo>
                  <a:pt x="2458" y="4659"/>
                </a:lnTo>
                <a:lnTo>
                  <a:pt x="2494" y="4695"/>
                </a:lnTo>
                <a:lnTo>
                  <a:pt x="2568" y="4732"/>
                </a:lnTo>
                <a:lnTo>
                  <a:pt x="2641" y="4695"/>
                </a:lnTo>
                <a:lnTo>
                  <a:pt x="4329" y="5319"/>
                </a:lnTo>
                <a:lnTo>
                  <a:pt x="4329" y="5356"/>
                </a:lnTo>
                <a:lnTo>
                  <a:pt x="4292" y="5319"/>
                </a:lnTo>
                <a:lnTo>
                  <a:pt x="3888" y="5172"/>
                </a:lnTo>
                <a:lnTo>
                  <a:pt x="3705" y="5136"/>
                </a:lnTo>
                <a:lnTo>
                  <a:pt x="3485" y="5099"/>
                </a:lnTo>
                <a:lnTo>
                  <a:pt x="3448" y="5136"/>
                </a:lnTo>
                <a:lnTo>
                  <a:pt x="3411" y="5172"/>
                </a:lnTo>
                <a:lnTo>
                  <a:pt x="3448" y="5246"/>
                </a:lnTo>
                <a:lnTo>
                  <a:pt x="3595" y="5392"/>
                </a:lnTo>
                <a:lnTo>
                  <a:pt x="3852" y="5539"/>
                </a:lnTo>
                <a:lnTo>
                  <a:pt x="4108" y="5686"/>
                </a:lnTo>
                <a:lnTo>
                  <a:pt x="4402" y="5759"/>
                </a:lnTo>
                <a:lnTo>
                  <a:pt x="4365" y="5906"/>
                </a:lnTo>
                <a:lnTo>
                  <a:pt x="4035" y="5906"/>
                </a:lnTo>
                <a:lnTo>
                  <a:pt x="3742" y="5869"/>
                </a:lnTo>
                <a:lnTo>
                  <a:pt x="3411" y="5759"/>
                </a:lnTo>
                <a:lnTo>
                  <a:pt x="3228" y="5686"/>
                </a:lnTo>
                <a:lnTo>
                  <a:pt x="3191" y="5612"/>
                </a:lnTo>
                <a:lnTo>
                  <a:pt x="3155" y="5576"/>
                </a:lnTo>
                <a:lnTo>
                  <a:pt x="3118" y="5539"/>
                </a:lnTo>
                <a:lnTo>
                  <a:pt x="3081" y="5502"/>
                </a:lnTo>
                <a:lnTo>
                  <a:pt x="3045" y="5502"/>
                </a:lnTo>
                <a:lnTo>
                  <a:pt x="3008" y="5539"/>
                </a:lnTo>
                <a:lnTo>
                  <a:pt x="2971" y="5649"/>
                </a:lnTo>
                <a:lnTo>
                  <a:pt x="2971" y="5722"/>
                </a:lnTo>
                <a:lnTo>
                  <a:pt x="3008" y="5796"/>
                </a:lnTo>
                <a:lnTo>
                  <a:pt x="3045" y="5869"/>
                </a:lnTo>
                <a:lnTo>
                  <a:pt x="3191" y="6016"/>
                </a:lnTo>
                <a:lnTo>
                  <a:pt x="3338" y="6126"/>
                </a:lnTo>
                <a:lnTo>
                  <a:pt x="3522" y="6199"/>
                </a:lnTo>
                <a:lnTo>
                  <a:pt x="3742" y="6273"/>
                </a:lnTo>
                <a:lnTo>
                  <a:pt x="3962" y="6309"/>
                </a:lnTo>
                <a:lnTo>
                  <a:pt x="4182" y="6309"/>
                </a:lnTo>
                <a:lnTo>
                  <a:pt x="3962" y="6676"/>
                </a:lnTo>
                <a:lnTo>
                  <a:pt x="3742" y="6603"/>
                </a:lnTo>
                <a:lnTo>
                  <a:pt x="3228" y="6456"/>
                </a:lnTo>
                <a:lnTo>
                  <a:pt x="2971" y="6419"/>
                </a:lnTo>
                <a:lnTo>
                  <a:pt x="2715" y="6383"/>
                </a:lnTo>
                <a:lnTo>
                  <a:pt x="2641" y="6383"/>
                </a:lnTo>
                <a:lnTo>
                  <a:pt x="2641" y="6456"/>
                </a:lnTo>
                <a:lnTo>
                  <a:pt x="2641" y="6493"/>
                </a:lnTo>
                <a:lnTo>
                  <a:pt x="2678" y="6529"/>
                </a:lnTo>
                <a:lnTo>
                  <a:pt x="2861" y="6676"/>
                </a:lnTo>
                <a:lnTo>
                  <a:pt x="3081" y="6786"/>
                </a:lnTo>
                <a:lnTo>
                  <a:pt x="3522" y="6970"/>
                </a:lnTo>
                <a:lnTo>
                  <a:pt x="3742" y="7080"/>
                </a:lnTo>
                <a:lnTo>
                  <a:pt x="3632" y="7226"/>
                </a:lnTo>
                <a:lnTo>
                  <a:pt x="3522" y="7336"/>
                </a:lnTo>
                <a:lnTo>
                  <a:pt x="2935" y="7080"/>
                </a:lnTo>
                <a:lnTo>
                  <a:pt x="2311" y="6823"/>
                </a:lnTo>
                <a:lnTo>
                  <a:pt x="2238" y="6823"/>
                </a:lnTo>
                <a:lnTo>
                  <a:pt x="2201" y="6860"/>
                </a:lnTo>
                <a:lnTo>
                  <a:pt x="2201" y="6896"/>
                </a:lnTo>
                <a:lnTo>
                  <a:pt x="2201" y="6970"/>
                </a:lnTo>
                <a:lnTo>
                  <a:pt x="2458" y="7190"/>
                </a:lnTo>
                <a:lnTo>
                  <a:pt x="2678" y="7410"/>
                </a:lnTo>
                <a:lnTo>
                  <a:pt x="2971" y="7557"/>
                </a:lnTo>
                <a:lnTo>
                  <a:pt x="3265" y="7703"/>
                </a:lnTo>
                <a:lnTo>
                  <a:pt x="2971" y="7960"/>
                </a:lnTo>
                <a:lnTo>
                  <a:pt x="2641" y="7960"/>
                </a:lnTo>
                <a:lnTo>
                  <a:pt x="2311" y="7887"/>
                </a:lnTo>
                <a:lnTo>
                  <a:pt x="1981" y="7777"/>
                </a:lnTo>
                <a:lnTo>
                  <a:pt x="1871" y="7777"/>
                </a:lnTo>
                <a:lnTo>
                  <a:pt x="1834" y="7813"/>
                </a:lnTo>
                <a:lnTo>
                  <a:pt x="1797" y="7850"/>
                </a:lnTo>
                <a:lnTo>
                  <a:pt x="1797" y="7923"/>
                </a:lnTo>
                <a:lnTo>
                  <a:pt x="1834" y="8070"/>
                </a:lnTo>
                <a:lnTo>
                  <a:pt x="1944" y="8143"/>
                </a:lnTo>
                <a:lnTo>
                  <a:pt x="2091" y="8217"/>
                </a:lnTo>
                <a:lnTo>
                  <a:pt x="2238" y="8290"/>
                </a:lnTo>
                <a:lnTo>
                  <a:pt x="2348" y="8327"/>
                </a:lnTo>
                <a:lnTo>
                  <a:pt x="2164" y="8364"/>
                </a:lnTo>
                <a:lnTo>
                  <a:pt x="1944" y="8364"/>
                </a:lnTo>
                <a:lnTo>
                  <a:pt x="1761" y="8327"/>
                </a:lnTo>
                <a:lnTo>
                  <a:pt x="1541" y="8253"/>
                </a:lnTo>
                <a:lnTo>
                  <a:pt x="1247" y="8070"/>
                </a:lnTo>
                <a:lnTo>
                  <a:pt x="1027" y="7850"/>
                </a:lnTo>
                <a:lnTo>
                  <a:pt x="844" y="7593"/>
                </a:lnTo>
                <a:lnTo>
                  <a:pt x="697" y="7300"/>
                </a:lnTo>
                <a:lnTo>
                  <a:pt x="624" y="6970"/>
                </a:lnTo>
                <a:lnTo>
                  <a:pt x="550" y="6676"/>
                </a:lnTo>
                <a:lnTo>
                  <a:pt x="550" y="6346"/>
                </a:lnTo>
                <a:lnTo>
                  <a:pt x="550" y="6016"/>
                </a:lnTo>
                <a:lnTo>
                  <a:pt x="624" y="5502"/>
                </a:lnTo>
                <a:lnTo>
                  <a:pt x="734" y="4989"/>
                </a:lnTo>
                <a:lnTo>
                  <a:pt x="1064" y="3962"/>
                </a:lnTo>
                <a:close/>
                <a:moveTo>
                  <a:pt x="6786" y="5429"/>
                </a:moveTo>
                <a:lnTo>
                  <a:pt x="6860" y="5649"/>
                </a:lnTo>
                <a:lnTo>
                  <a:pt x="6970" y="5832"/>
                </a:lnTo>
                <a:lnTo>
                  <a:pt x="7006" y="5906"/>
                </a:lnTo>
                <a:lnTo>
                  <a:pt x="7043" y="5979"/>
                </a:lnTo>
                <a:lnTo>
                  <a:pt x="7116" y="6016"/>
                </a:lnTo>
                <a:lnTo>
                  <a:pt x="7813" y="7006"/>
                </a:lnTo>
                <a:lnTo>
                  <a:pt x="8143" y="7520"/>
                </a:lnTo>
                <a:lnTo>
                  <a:pt x="8143" y="7667"/>
                </a:lnTo>
                <a:lnTo>
                  <a:pt x="8143" y="7740"/>
                </a:lnTo>
                <a:lnTo>
                  <a:pt x="8217" y="7813"/>
                </a:lnTo>
                <a:lnTo>
                  <a:pt x="8290" y="7850"/>
                </a:lnTo>
                <a:lnTo>
                  <a:pt x="8363" y="7850"/>
                </a:lnTo>
                <a:lnTo>
                  <a:pt x="8400" y="7813"/>
                </a:lnTo>
                <a:lnTo>
                  <a:pt x="8510" y="7887"/>
                </a:lnTo>
                <a:lnTo>
                  <a:pt x="8584" y="7923"/>
                </a:lnTo>
                <a:lnTo>
                  <a:pt x="8694" y="7960"/>
                </a:lnTo>
                <a:lnTo>
                  <a:pt x="8767" y="7923"/>
                </a:lnTo>
                <a:lnTo>
                  <a:pt x="8877" y="7997"/>
                </a:lnTo>
                <a:lnTo>
                  <a:pt x="8987" y="7997"/>
                </a:lnTo>
                <a:lnTo>
                  <a:pt x="9060" y="8033"/>
                </a:lnTo>
                <a:lnTo>
                  <a:pt x="9134" y="7997"/>
                </a:lnTo>
                <a:lnTo>
                  <a:pt x="9207" y="7923"/>
                </a:lnTo>
                <a:lnTo>
                  <a:pt x="9207" y="7813"/>
                </a:lnTo>
                <a:lnTo>
                  <a:pt x="9207" y="7740"/>
                </a:lnTo>
                <a:lnTo>
                  <a:pt x="9134" y="7667"/>
                </a:lnTo>
                <a:lnTo>
                  <a:pt x="9170" y="7557"/>
                </a:lnTo>
                <a:lnTo>
                  <a:pt x="9207" y="7483"/>
                </a:lnTo>
                <a:lnTo>
                  <a:pt x="9244" y="7410"/>
                </a:lnTo>
                <a:lnTo>
                  <a:pt x="9244" y="7373"/>
                </a:lnTo>
                <a:lnTo>
                  <a:pt x="9207" y="7300"/>
                </a:lnTo>
                <a:lnTo>
                  <a:pt x="9170" y="7263"/>
                </a:lnTo>
                <a:lnTo>
                  <a:pt x="9134" y="7226"/>
                </a:lnTo>
                <a:lnTo>
                  <a:pt x="8987" y="7226"/>
                </a:lnTo>
                <a:lnTo>
                  <a:pt x="8694" y="7336"/>
                </a:lnTo>
                <a:lnTo>
                  <a:pt x="8694" y="7300"/>
                </a:lnTo>
                <a:lnTo>
                  <a:pt x="8877" y="7153"/>
                </a:lnTo>
                <a:lnTo>
                  <a:pt x="9060" y="6970"/>
                </a:lnTo>
                <a:lnTo>
                  <a:pt x="9134" y="6860"/>
                </a:lnTo>
                <a:lnTo>
                  <a:pt x="9244" y="7043"/>
                </a:lnTo>
                <a:lnTo>
                  <a:pt x="9501" y="7446"/>
                </a:lnTo>
                <a:lnTo>
                  <a:pt x="9537" y="7593"/>
                </a:lnTo>
                <a:lnTo>
                  <a:pt x="9317" y="7887"/>
                </a:lnTo>
                <a:lnTo>
                  <a:pt x="9024" y="8143"/>
                </a:lnTo>
                <a:lnTo>
                  <a:pt x="8730" y="8364"/>
                </a:lnTo>
                <a:lnTo>
                  <a:pt x="8400" y="8547"/>
                </a:lnTo>
                <a:lnTo>
                  <a:pt x="8070" y="8657"/>
                </a:lnTo>
                <a:lnTo>
                  <a:pt x="7703" y="8694"/>
                </a:lnTo>
                <a:lnTo>
                  <a:pt x="7520" y="8694"/>
                </a:lnTo>
                <a:lnTo>
                  <a:pt x="7373" y="8657"/>
                </a:lnTo>
                <a:lnTo>
                  <a:pt x="7190" y="8620"/>
                </a:lnTo>
                <a:lnTo>
                  <a:pt x="7006" y="8547"/>
                </a:lnTo>
                <a:lnTo>
                  <a:pt x="6823" y="8437"/>
                </a:lnTo>
                <a:lnTo>
                  <a:pt x="6676" y="8290"/>
                </a:lnTo>
                <a:lnTo>
                  <a:pt x="6419" y="7997"/>
                </a:lnTo>
                <a:lnTo>
                  <a:pt x="6199" y="7667"/>
                </a:lnTo>
                <a:lnTo>
                  <a:pt x="6053" y="7300"/>
                </a:lnTo>
                <a:lnTo>
                  <a:pt x="6016" y="6896"/>
                </a:lnTo>
                <a:lnTo>
                  <a:pt x="6016" y="6676"/>
                </a:lnTo>
                <a:lnTo>
                  <a:pt x="6053" y="6493"/>
                </a:lnTo>
                <a:lnTo>
                  <a:pt x="6089" y="6309"/>
                </a:lnTo>
                <a:lnTo>
                  <a:pt x="6163" y="6126"/>
                </a:lnTo>
                <a:lnTo>
                  <a:pt x="6273" y="5943"/>
                </a:lnTo>
                <a:lnTo>
                  <a:pt x="6383" y="5759"/>
                </a:lnTo>
                <a:lnTo>
                  <a:pt x="6566" y="5576"/>
                </a:lnTo>
                <a:lnTo>
                  <a:pt x="6786" y="5429"/>
                </a:lnTo>
                <a:close/>
                <a:moveTo>
                  <a:pt x="3852" y="0"/>
                </a:moveTo>
                <a:lnTo>
                  <a:pt x="3522" y="37"/>
                </a:lnTo>
                <a:lnTo>
                  <a:pt x="3191" y="110"/>
                </a:lnTo>
                <a:lnTo>
                  <a:pt x="2898" y="257"/>
                </a:lnTo>
                <a:lnTo>
                  <a:pt x="2604" y="440"/>
                </a:lnTo>
                <a:lnTo>
                  <a:pt x="2348" y="660"/>
                </a:lnTo>
                <a:lnTo>
                  <a:pt x="2091" y="660"/>
                </a:lnTo>
                <a:lnTo>
                  <a:pt x="1871" y="734"/>
                </a:lnTo>
                <a:lnTo>
                  <a:pt x="1687" y="880"/>
                </a:lnTo>
                <a:lnTo>
                  <a:pt x="1541" y="1064"/>
                </a:lnTo>
                <a:lnTo>
                  <a:pt x="1394" y="1284"/>
                </a:lnTo>
                <a:lnTo>
                  <a:pt x="1321" y="1504"/>
                </a:lnTo>
                <a:lnTo>
                  <a:pt x="1137" y="1944"/>
                </a:lnTo>
                <a:lnTo>
                  <a:pt x="660" y="3522"/>
                </a:lnTo>
                <a:lnTo>
                  <a:pt x="404" y="4292"/>
                </a:lnTo>
                <a:lnTo>
                  <a:pt x="183" y="5062"/>
                </a:lnTo>
                <a:lnTo>
                  <a:pt x="37" y="5759"/>
                </a:lnTo>
                <a:lnTo>
                  <a:pt x="0" y="6126"/>
                </a:lnTo>
                <a:lnTo>
                  <a:pt x="0" y="6456"/>
                </a:lnTo>
                <a:lnTo>
                  <a:pt x="0" y="6786"/>
                </a:lnTo>
                <a:lnTo>
                  <a:pt x="73" y="7153"/>
                </a:lnTo>
                <a:lnTo>
                  <a:pt x="183" y="7483"/>
                </a:lnTo>
                <a:lnTo>
                  <a:pt x="330" y="7813"/>
                </a:lnTo>
                <a:lnTo>
                  <a:pt x="477" y="8033"/>
                </a:lnTo>
                <a:lnTo>
                  <a:pt x="660" y="8253"/>
                </a:lnTo>
                <a:lnTo>
                  <a:pt x="880" y="8474"/>
                </a:lnTo>
                <a:lnTo>
                  <a:pt x="1101" y="8657"/>
                </a:lnTo>
                <a:lnTo>
                  <a:pt x="1357" y="8767"/>
                </a:lnTo>
                <a:lnTo>
                  <a:pt x="1651" y="8877"/>
                </a:lnTo>
                <a:lnTo>
                  <a:pt x="1908" y="8914"/>
                </a:lnTo>
                <a:lnTo>
                  <a:pt x="2201" y="8950"/>
                </a:lnTo>
                <a:lnTo>
                  <a:pt x="2458" y="8914"/>
                </a:lnTo>
                <a:lnTo>
                  <a:pt x="2678" y="8840"/>
                </a:lnTo>
                <a:lnTo>
                  <a:pt x="2898" y="8730"/>
                </a:lnTo>
                <a:lnTo>
                  <a:pt x="3081" y="8620"/>
                </a:lnTo>
                <a:lnTo>
                  <a:pt x="3448" y="8290"/>
                </a:lnTo>
                <a:lnTo>
                  <a:pt x="3778" y="7923"/>
                </a:lnTo>
                <a:lnTo>
                  <a:pt x="3815" y="7960"/>
                </a:lnTo>
                <a:lnTo>
                  <a:pt x="3925" y="7960"/>
                </a:lnTo>
                <a:lnTo>
                  <a:pt x="4035" y="7887"/>
                </a:lnTo>
                <a:lnTo>
                  <a:pt x="4108" y="7813"/>
                </a:lnTo>
                <a:lnTo>
                  <a:pt x="4108" y="7740"/>
                </a:lnTo>
                <a:lnTo>
                  <a:pt x="4072" y="7593"/>
                </a:lnTo>
                <a:lnTo>
                  <a:pt x="4182" y="7446"/>
                </a:lnTo>
                <a:lnTo>
                  <a:pt x="4512" y="6896"/>
                </a:lnTo>
                <a:lnTo>
                  <a:pt x="4769" y="6309"/>
                </a:lnTo>
                <a:lnTo>
                  <a:pt x="5025" y="5722"/>
                </a:lnTo>
                <a:lnTo>
                  <a:pt x="5209" y="5099"/>
                </a:lnTo>
                <a:lnTo>
                  <a:pt x="5246" y="5062"/>
                </a:lnTo>
                <a:lnTo>
                  <a:pt x="5282" y="4989"/>
                </a:lnTo>
                <a:lnTo>
                  <a:pt x="5282" y="4915"/>
                </a:lnTo>
                <a:lnTo>
                  <a:pt x="5466" y="4292"/>
                </a:lnTo>
                <a:lnTo>
                  <a:pt x="5612" y="3632"/>
                </a:lnTo>
                <a:lnTo>
                  <a:pt x="5722" y="2971"/>
                </a:lnTo>
                <a:lnTo>
                  <a:pt x="5796" y="2311"/>
                </a:lnTo>
                <a:lnTo>
                  <a:pt x="5832" y="1981"/>
                </a:lnTo>
                <a:lnTo>
                  <a:pt x="5796" y="1651"/>
                </a:lnTo>
                <a:lnTo>
                  <a:pt x="5759" y="1357"/>
                </a:lnTo>
                <a:lnTo>
                  <a:pt x="5649" y="1064"/>
                </a:lnTo>
                <a:lnTo>
                  <a:pt x="5539" y="807"/>
                </a:lnTo>
                <a:lnTo>
                  <a:pt x="5356" y="587"/>
                </a:lnTo>
                <a:lnTo>
                  <a:pt x="5099" y="367"/>
                </a:lnTo>
                <a:lnTo>
                  <a:pt x="4842" y="184"/>
                </a:lnTo>
                <a:lnTo>
                  <a:pt x="4512" y="73"/>
                </a:lnTo>
                <a:lnTo>
                  <a:pt x="4182" y="0"/>
                </a:lnTo>
                <a:close/>
                <a:moveTo>
                  <a:pt x="8730" y="3962"/>
                </a:moveTo>
                <a:lnTo>
                  <a:pt x="8584" y="4072"/>
                </a:lnTo>
                <a:lnTo>
                  <a:pt x="8437" y="4182"/>
                </a:lnTo>
                <a:lnTo>
                  <a:pt x="8327" y="4329"/>
                </a:lnTo>
                <a:lnTo>
                  <a:pt x="7887" y="4439"/>
                </a:lnTo>
                <a:lnTo>
                  <a:pt x="7336" y="4585"/>
                </a:lnTo>
                <a:lnTo>
                  <a:pt x="6786" y="4842"/>
                </a:lnTo>
                <a:lnTo>
                  <a:pt x="6566" y="4989"/>
                </a:lnTo>
                <a:lnTo>
                  <a:pt x="6309" y="5172"/>
                </a:lnTo>
                <a:lnTo>
                  <a:pt x="6089" y="5356"/>
                </a:lnTo>
                <a:lnTo>
                  <a:pt x="5906" y="5576"/>
                </a:lnTo>
                <a:lnTo>
                  <a:pt x="5759" y="5796"/>
                </a:lnTo>
                <a:lnTo>
                  <a:pt x="5612" y="6053"/>
                </a:lnTo>
                <a:lnTo>
                  <a:pt x="5539" y="6309"/>
                </a:lnTo>
                <a:lnTo>
                  <a:pt x="5502" y="6603"/>
                </a:lnTo>
                <a:lnTo>
                  <a:pt x="5466" y="6860"/>
                </a:lnTo>
                <a:lnTo>
                  <a:pt x="5502" y="7116"/>
                </a:lnTo>
                <a:lnTo>
                  <a:pt x="5539" y="7373"/>
                </a:lnTo>
                <a:lnTo>
                  <a:pt x="5612" y="7630"/>
                </a:lnTo>
                <a:lnTo>
                  <a:pt x="5722" y="7887"/>
                </a:lnTo>
                <a:lnTo>
                  <a:pt x="5869" y="8107"/>
                </a:lnTo>
                <a:lnTo>
                  <a:pt x="6016" y="8327"/>
                </a:lnTo>
                <a:lnTo>
                  <a:pt x="6199" y="8547"/>
                </a:lnTo>
                <a:lnTo>
                  <a:pt x="6419" y="8730"/>
                </a:lnTo>
                <a:lnTo>
                  <a:pt x="6639" y="8914"/>
                </a:lnTo>
                <a:lnTo>
                  <a:pt x="6860" y="9060"/>
                </a:lnTo>
                <a:lnTo>
                  <a:pt x="7116" y="9170"/>
                </a:lnTo>
                <a:lnTo>
                  <a:pt x="7410" y="9244"/>
                </a:lnTo>
                <a:lnTo>
                  <a:pt x="7703" y="9281"/>
                </a:lnTo>
                <a:lnTo>
                  <a:pt x="8033" y="9244"/>
                </a:lnTo>
                <a:lnTo>
                  <a:pt x="8327" y="9170"/>
                </a:lnTo>
                <a:lnTo>
                  <a:pt x="8620" y="9024"/>
                </a:lnTo>
                <a:lnTo>
                  <a:pt x="8877" y="8877"/>
                </a:lnTo>
                <a:lnTo>
                  <a:pt x="9391" y="8547"/>
                </a:lnTo>
                <a:lnTo>
                  <a:pt x="9611" y="8364"/>
                </a:lnTo>
                <a:lnTo>
                  <a:pt x="9794" y="8143"/>
                </a:lnTo>
                <a:lnTo>
                  <a:pt x="9977" y="7923"/>
                </a:lnTo>
                <a:lnTo>
                  <a:pt x="10161" y="7703"/>
                </a:lnTo>
                <a:lnTo>
                  <a:pt x="10418" y="7190"/>
                </a:lnTo>
                <a:lnTo>
                  <a:pt x="10638" y="6676"/>
                </a:lnTo>
                <a:lnTo>
                  <a:pt x="10711" y="6346"/>
                </a:lnTo>
                <a:lnTo>
                  <a:pt x="10748" y="6053"/>
                </a:lnTo>
                <a:lnTo>
                  <a:pt x="10748" y="5722"/>
                </a:lnTo>
                <a:lnTo>
                  <a:pt x="10711" y="5466"/>
                </a:lnTo>
                <a:lnTo>
                  <a:pt x="10601" y="5172"/>
                </a:lnTo>
                <a:lnTo>
                  <a:pt x="10454" y="4915"/>
                </a:lnTo>
                <a:lnTo>
                  <a:pt x="10271" y="4659"/>
                </a:lnTo>
                <a:lnTo>
                  <a:pt x="10051" y="4439"/>
                </a:lnTo>
                <a:lnTo>
                  <a:pt x="9794" y="4255"/>
                </a:lnTo>
                <a:lnTo>
                  <a:pt x="9537" y="4108"/>
                </a:lnTo>
                <a:lnTo>
                  <a:pt x="9244" y="3998"/>
                </a:lnTo>
                <a:lnTo>
                  <a:pt x="8950" y="396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1"/>
          <p:cNvSpPr/>
          <p:nvPr/>
        </p:nvSpPr>
        <p:spPr>
          <a:xfrm>
            <a:off x="7518184" y="3966329"/>
            <a:ext cx="846269" cy="598458"/>
          </a:xfrm>
          <a:custGeom>
            <a:rect b="b" l="l" r="r" t="t"/>
            <a:pathLst>
              <a:path extrusionOk="0" h="11959" w="16911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1"/>
          <p:cNvSpPr/>
          <p:nvPr/>
        </p:nvSpPr>
        <p:spPr>
          <a:xfrm rot="-5400000">
            <a:off x="6496794" y="3021440"/>
            <a:ext cx="493819" cy="631536"/>
          </a:xfrm>
          <a:custGeom>
            <a:rect b="b" l="l" r="r" t="t"/>
            <a:pathLst>
              <a:path extrusionOk="0" h="12620" w="9868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1"/>
          <p:cNvSpPr/>
          <p:nvPr/>
        </p:nvSpPr>
        <p:spPr>
          <a:xfrm>
            <a:off x="6453205" y="3705907"/>
            <a:ext cx="666366" cy="752689"/>
          </a:xfrm>
          <a:custGeom>
            <a:rect b="b" l="l" r="r" t="t"/>
            <a:pathLst>
              <a:path extrusionOk="0" h="15041" w="13316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1"/>
          <p:cNvSpPr/>
          <p:nvPr/>
        </p:nvSpPr>
        <p:spPr>
          <a:xfrm>
            <a:off x="1866011" y="4742879"/>
            <a:ext cx="681078" cy="455287"/>
          </a:xfrm>
          <a:custGeom>
            <a:rect b="b" l="l" r="r" t="t"/>
            <a:pathLst>
              <a:path extrusionOk="0" h="9098" w="1361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1"/>
          <p:cNvSpPr/>
          <p:nvPr/>
        </p:nvSpPr>
        <p:spPr>
          <a:xfrm>
            <a:off x="6669805" y="4614395"/>
            <a:ext cx="308462" cy="330481"/>
          </a:xfrm>
          <a:custGeom>
            <a:rect b="b" l="l" r="r" t="t"/>
            <a:pathLst>
              <a:path extrusionOk="0" h="6604" w="6164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ly blank">
  <p:cSld name="BLANK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3000"/>
              <a:buFont typeface="Montserrat"/>
              <a:buNone/>
              <a:defRPr b="1" i="0" sz="3000" u="none" cap="none" strike="noStrike">
                <a:solidFill>
                  <a:srgbClr val="C4820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311700" y="1113875"/>
            <a:ext cx="8520600" cy="3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  <a:defRPr b="0" i="0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○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■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●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○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■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●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○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■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0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3000"/>
              <a:buFont typeface="Montserrat"/>
              <a:buNone/>
              <a:defRPr b="1" i="0" sz="3000" u="none" cap="none" strike="noStrike">
                <a:solidFill>
                  <a:srgbClr val="C4820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102" name="Google Shape;102;p40"/>
          <p:cNvSpPr txBox="1"/>
          <p:nvPr>
            <p:ph idx="1" type="body"/>
          </p:nvPr>
        </p:nvSpPr>
        <p:spPr>
          <a:xfrm>
            <a:off x="311700" y="1113875"/>
            <a:ext cx="8520600" cy="3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  <a:defRPr b="0" i="0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○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■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●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○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■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●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○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■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03" name="Google Shape;10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9" Type="http://schemas.openxmlformats.org/officeDocument/2006/relationships/image" Target="../media/image24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Relationship Id="rId7" Type="http://schemas.openxmlformats.org/officeDocument/2006/relationships/image" Target="../media/image40.png"/><Relationship Id="rId8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39.png"/><Relationship Id="rId8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"/>
          <p:cNvSpPr txBox="1"/>
          <p:nvPr>
            <p:ph type="ctrTitle"/>
          </p:nvPr>
        </p:nvSpPr>
        <p:spPr>
          <a:xfrm>
            <a:off x="-150" y="1751775"/>
            <a:ext cx="91440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 sz="4350"/>
              <a:t>EE 66 Lab </a:t>
            </a:r>
            <a:endParaRPr sz="435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 sz="4350"/>
              <a:t>Acoustic Positioning System</a:t>
            </a:r>
            <a:endParaRPr sz="4350"/>
          </a:p>
        </p:txBody>
      </p:sp>
      <p:sp>
        <p:nvSpPr>
          <p:cNvPr id="189" name="Google Shape;189;p1"/>
          <p:cNvSpPr txBox="1"/>
          <p:nvPr>
            <p:ph idx="1" type="subTitle"/>
          </p:nvPr>
        </p:nvSpPr>
        <p:spPr>
          <a:xfrm>
            <a:off x="1547925" y="3154850"/>
            <a:ext cx="6094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We will start at Berkeley Time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Semester Outline</a:t>
            </a:r>
            <a:endParaRPr/>
          </a:p>
        </p:txBody>
      </p:sp>
      <p:cxnSp>
        <p:nvCxnSpPr>
          <p:cNvPr id="195" name="Google Shape;195;p2"/>
          <p:cNvCxnSpPr/>
          <p:nvPr/>
        </p:nvCxnSpPr>
        <p:spPr>
          <a:xfrm>
            <a:off x="-4800" y="2156036"/>
            <a:ext cx="9153600" cy="0"/>
          </a:xfrm>
          <a:prstGeom prst="straightConnector1">
            <a:avLst/>
          </a:prstGeom>
          <a:noFill/>
          <a:ln cap="rnd" cmpd="sng" w="19050">
            <a:solidFill>
              <a:srgbClr val="003262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96" name="Google Shape;196;p2"/>
          <p:cNvGrpSpPr/>
          <p:nvPr/>
        </p:nvGrpSpPr>
        <p:grpSpPr>
          <a:xfrm>
            <a:off x="510675" y="1944596"/>
            <a:ext cx="419100" cy="1038375"/>
            <a:chOff x="2173100" y="1946332"/>
            <a:chExt cx="419100" cy="1038375"/>
          </a:xfrm>
        </p:grpSpPr>
        <p:sp>
          <p:nvSpPr>
            <p:cNvPr id="197" name="Google Shape;197;p2"/>
            <p:cNvSpPr/>
            <p:nvPr/>
          </p:nvSpPr>
          <p:spPr>
            <a:xfrm flipH="1" rot="10800000">
              <a:off x="2173100" y="1946332"/>
              <a:ext cx="419100" cy="419400"/>
            </a:xfrm>
            <a:prstGeom prst="donut">
              <a:avLst>
                <a:gd fmla="val 24108" name="adj"/>
              </a:avLst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8" name="Google Shape;198;p2"/>
            <p:cNvCxnSpPr/>
            <p:nvPr/>
          </p:nvCxnSpPr>
          <p:spPr>
            <a:xfrm>
              <a:off x="2382650" y="2108407"/>
              <a:ext cx="0" cy="876300"/>
            </a:xfrm>
            <a:prstGeom prst="straightConnector1">
              <a:avLst/>
            </a:prstGeom>
            <a:noFill/>
            <a:ln cap="flat" cmpd="sng" w="19050">
              <a:solidFill>
                <a:srgbClr val="003262"/>
              </a:solidFill>
              <a:prstDash val="solid"/>
              <a:round/>
              <a:headEnd len="med" w="med" type="oval"/>
              <a:tailEnd len="med" w="med" type="diamond"/>
            </a:ln>
          </p:spPr>
        </p:cxnSp>
      </p:grpSp>
      <p:grpSp>
        <p:nvGrpSpPr>
          <p:cNvPr id="199" name="Google Shape;199;p2"/>
          <p:cNvGrpSpPr/>
          <p:nvPr/>
        </p:nvGrpSpPr>
        <p:grpSpPr>
          <a:xfrm>
            <a:off x="2517858" y="1937274"/>
            <a:ext cx="419100" cy="1045700"/>
            <a:chOff x="4395150" y="1939011"/>
            <a:chExt cx="419100" cy="1045700"/>
          </a:xfrm>
        </p:grpSpPr>
        <p:sp>
          <p:nvSpPr>
            <p:cNvPr id="200" name="Google Shape;200;p2"/>
            <p:cNvSpPr/>
            <p:nvPr/>
          </p:nvSpPr>
          <p:spPr>
            <a:xfrm>
              <a:off x="4395150" y="1939011"/>
              <a:ext cx="419100" cy="419400"/>
            </a:xfrm>
            <a:prstGeom prst="donut">
              <a:avLst>
                <a:gd fmla="val 24108" name="adj"/>
              </a:avLst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1" name="Google Shape;201;p2"/>
            <p:cNvCxnSpPr/>
            <p:nvPr/>
          </p:nvCxnSpPr>
          <p:spPr>
            <a:xfrm>
              <a:off x="4604700" y="2108411"/>
              <a:ext cx="0" cy="876300"/>
            </a:xfrm>
            <a:prstGeom prst="straightConnector1">
              <a:avLst/>
            </a:prstGeom>
            <a:noFill/>
            <a:ln cap="flat" cmpd="sng" w="19050">
              <a:solidFill>
                <a:srgbClr val="003262"/>
              </a:solidFill>
              <a:prstDash val="solid"/>
              <a:round/>
              <a:headEnd len="med" w="med" type="oval"/>
              <a:tailEnd len="med" w="med" type="diamond"/>
            </a:ln>
          </p:spPr>
        </p:cxnSp>
      </p:grpSp>
      <p:grpSp>
        <p:nvGrpSpPr>
          <p:cNvPr id="202" name="Google Shape;202;p2"/>
          <p:cNvGrpSpPr/>
          <p:nvPr/>
        </p:nvGrpSpPr>
        <p:grpSpPr>
          <a:xfrm>
            <a:off x="4525042" y="1937271"/>
            <a:ext cx="419100" cy="1045700"/>
            <a:chOff x="6551800" y="1939007"/>
            <a:chExt cx="419100" cy="1045700"/>
          </a:xfrm>
        </p:grpSpPr>
        <p:sp>
          <p:nvSpPr>
            <p:cNvPr id="203" name="Google Shape;203;p2"/>
            <p:cNvSpPr/>
            <p:nvPr/>
          </p:nvSpPr>
          <p:spPr>
            <a:xfrm flipH="1" rot="10800000">
              <a:off x="6551800" y="1939007"/>
              <a:ext cx="419100" cy="419400"/>
            </a:xfrm>
            <a:prstGeom prst="donut">
              <a:avLst>
                <a:gd fmla="val 24108" name="adj"/>
              </a:avLst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4" name="Google Shape;204;p2"/>
            <p:cNvCxnSpPr/>
            <p:nvPr/>
          </p:nvCxnSpPr>
          <p:spPr>
            <a:xfrm>
              <a:off x="6761350" y="2108407"/>
              <a:ext cx="0" cy="876300"/>
            </a:xfrm>
            <a:prstGeom prst="straightConnector1">
              <a:avLst/>
            </a:prstGeom>
            <a:noFill/>
            <a:ln cap="flat" cmpd="sng" w="19050">
              <a:solidFill>
                <a:srgbClr val="003262"/>
              </a:solidFill>
              <a:prstDash val="solid"/>
              <a:round/>
              <a:headEnd len="med" w="med" type="oval"/>
              <a:tailEnd len="med" w="med" type="diamond"/>
            </a:ln>
          </p:spPr>
        </p:cxnSp>
      </p:grpSp>
      <p:sp>
        <p:nvSpPr>
          <p:cNvPr id="205" name="Google Shape;205;p2"/>
          <p:cNvSpPr txBox="1"/>
          <p:nvPr/>
        </p:nvSpPr>
        <p:spPr>
          <a:xfrm>
            <a:off x="96375" y="2982975"/>
            <a:ext cx="12477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3D49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Shazam</a:t>
            </a:r>
            <a:endParaRPr b="0" i="0" sz="1800" u="none" cap="none" strike="noStrike">
              <a:solidFill>
                <a:srgbClr val="3D496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6" name="Google Shape;206;p2"/>
          <p:cNvSpPr txBox="1"/>
          <p:nvPr/>
        </p:nvSpPr>
        <p:spPr>
          <a:xfrm>
            <a:off x="1833850" y="2990300"/>
            <a:ext cx="17871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D49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Acoustic Positioning</a:t>
            </a:r>
            <a:endParaRPr b="0" i="0" sz="1800" u="none" cap="none" strike="noStrike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07" name="Google Shape;207;p2"/>
          <p:cNvSpPr txBox="1"/>
          <p:nvPr/>
        </p:nvSpPr>
        <p:spPr>
          <a:xfrm>
            <a:off x="3861888" y="2998425"/>
            <a:ext cx="17871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D49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Voice</a:t>
            </a:r>
            <a:endParaRPr b="0" i="0" sz="1800" u="none" cap="none" strike="noStrike">
              <a:solidFill>
                <a:srgbClr val="3D496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D49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Recognition</a:t>
            </a:r>
            <a:endParaRPr b="0" i="0" sz="1800" u="none" cap="none" strike="noStrike">
              <a:solidFill>
                <a:srgbClr val="3D496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08" name="Google Shape;208;p2"/>
          <p:cNvGrpSpPr/>
          <p:nvPr/>
        </p:nvGrpSpPr>
        <p:grpSpPr>
          <a:xfrm>
            <a:off x="6255988" y="1937271"/>
            <a:ext cx="419100" cy="1045700"/>
            <a:chOff x="8194650" y="1946332"/>
            <a:chExt cx="419100" cy="1045700"/>
          </a:xfrm>
        </p:grpSpPr>
        <p:sp>
          <p:nvSpPr>
            <p:cNvPr id="209" name="Google Shape;209;p2"/>
            <p:cNvSpPr/>
            <p:nvPr/>
          </p:nvSpPr>
          <p:spPr>
            <a:xfrm flipH="1" rot="10800000">
              <a:off x="8194650" y="1946332"/>
              <a:ext cx="419100" cy="419400"/>
            </a:xfrm>
            <a:prstGeom prst="donut">
              <a:avLst>
                <a:gd fmla="val 24108" name="adj"/>
              </a:avLst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0" name="Google Shape;210;p2"/>
            <p:cNvCxnSpPr/>
            <p:nvPr/>
          </p:nvCxnSpPr>
          <p:spPr>
            <a:xfrm>
              <a:off x="8404200" y="2115732"/>
              <a:ext cx="0" cy="876300"/>
            </a:xfrm>
            <a:prstGeom prst="straightConnector1">
              <a:avLst/>
            </a:prstGeom>
            <a:noFill/>
            <a:ln cap="flat" cmpd="sng" w="19050">
              <a:solidFill>
                <a:srgbClr val="003262"/>
              </a:solidFill>
              <a:prstDash val="solid"/>
              <a:round/>
              <a:headEnd len="med" w="med" type="oval"/>
              <a:tailEnd len="med" w="med" type="diamond"/>
            </a:ln>
          </p:spPr>
        </p:cxnSp>
      </p:grpSp>
      <p:sp>
        <p:nvSpPr>
          <p:cNvPr id="211" name="Google Shape;211;p2"/>
          <p:cNvSpPr txBox="1"/>
          <p:nvPr/>
        </p:nvSpPr>
        <p:spPr>
          <a:xfrm>
            <a:off x="5459500" y="2990300"/>
            <a:ext cx="20121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3D49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Image Deconv</a:t>
            </a:r>
            <a:endParaRPr b="0" i="0" sz="1800" u="none" cap="none" strike="noStrike">
              <a:solidFill>
                <a:srgbClr val="3D496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2" name="Google Shape;212;p2"/>
          <p:cNvSpPr/>
          <p:nvPr/>
        </p:nvSpPr>
        <p:spPr>
          <a:xfrm>
            <a:off x="2023315" y="1891228"/>
            <a:ext cx="1402800" cy="1860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13" name="Google Shape;213;p2"/>
          <p:cNvGrpSpPr/>
          <p:nvPr/>
        </p:nvGrpSpPr>
        <p:grpSpPr>
          <a:xfrm>
            <a:off x="7986925" y="1944596"/>
            <a:ext cx="419100" cy="1045700"/>
            <a:chOff x="8194650" y="1946332"/>
            <a:chExt cx="419100" cy="1045700"/>
          </a:xfrm>
        </p:grpSpPr>
        <p:sp>
          <p:nvSpPr>
            <p:cNvPr id="214" name="Google Shape;214;p2"/>
            <p:cNvSpPr/>
            <p:nvPr/>
          </p:nvSpPr>
          <p:spPr>
            <a:xfrm flipH="1" rot="10800000">
              <a:off x="8194650" y="1946332"/>
              <a:ext cx="419100" cy="419400"/>
            </a:xfrm>
            <a:prstGeom prst="donut">
              <a:avLst>
                <a:gd fmla="val 24108" name="adj"/>
              </a:avLst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5" name="Google Shape;215;p2"/>
            <p:cNvCxnSpPr/>
            <p:nvPr/>
          </p:nvCxnSpPr>
          <p:spPr>
            <a:xfrm>
              <a:off x="8404200" y="2115732"/>
              <a:ext cx="0" cy="876300"/>
            </a:xfrm>
            <a:prstGeom prst="straightConnector1">
              <a:avLst/>
            </a:prstGeom>
            <a:noFill/>
            <a:ln cap="flat" cmpd="sng" w="19050">
              <a:solidFill>
                <a:srgbClr val="003262"/>
              </a:solidFill>
              <a:prstDash val="solid"/>
              <a:round/>
              <a:headEnd len="med" w="med" type="oval"/>
              <a:tailEnd len="med" w="med" type="diamond"/>
            </a:ln>
          </p:spPr>
        </p:cxnSp>
      </p:grpSp>
      <p:sp>
        <p:nvSpPr>
          <p:cNvPr id="216" name="Google Shape;216;p2"/>
          <p:cNvSpPr txBox="1"/>
          <p:nvPr/>
        </p:nvSpPr>
        <p:spPr>
          <a:xfrm>
            <a:off x="7190425" y="2990300"/>
            <a:ext cx="20121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3D49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Medical Imaging</a:t>
            </a:r>
            <a:endParaRPr b="0" i="0" sz="1800" u="none" cap="none" strike="noStrike">
              <a:solidFill>
                <a:srgbClr val="3D496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"/>
          <p:cNvSpPr txBox="1"/>
          <p:nvPr/>
        </p:nvSpPr>
        <p:spPr>
          <a:xfrm>
            <a:off x="383750" y="1000025"/>
            <a:ext cx="62940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Global Positioning System (GPS)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○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Uses radio waves instead of sound waves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Understand mathematical tools used for shifting and detecting signals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○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Think about cross correlation!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22" name="Google Shape;222;p3"/>
          <p:cNvPicPr preferRelativeResize="0"/>
          <p:nvPr/>
        </p:nvPicPr>
        <p:blipFill rotWithShape="1">
          <a:blip r:embed="rId3">
            <a:alphaModFix/>
          </a:blip>
          <a:srcRect b="0" l="31690" r="22489" t="0"/>
          <a:stretch/>
        </p:blipFill>
        <p:spPr>
          <a:xfrm>
            <a:off x="6620450" y="945900"/>
            <a:ext cx="2211850" cy="32517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Today’s Lab: Acoustic Positioning System</a:t>
            </a:r>
            <a:endParaRPr sz="2400"/>
          </a:p>
        </p:txBody>
      </p:sp>
      <p:pic>
        <p:nvPicPr>
          <p:cNvPr id="224" name="Google Shape;2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3750" y="2934636"/>
            <a:ext cx="3032025" cy="203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"/>
          <p:cNvSpPr txBox="1"/>
          <p:nvPr/>
        </p:nvSpPr>
        <p:spPr>
          <a:xfrm>
            <a:off x="2023662" y="2977416"/>
            <a:ext cx="22152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e</a:t>
            </a: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" sz="1000"/>
              <a:t> 66</a:t>
            </a: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final fall 2</a:t>
            </a:r>
            <a:r>
              <a:rPr lang="en" sz="1000"/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"/>
          <p:cNvSpPr txBox="1"/>
          <p:nvPr/>
        </p:nvSpPr>
        <p:spPr>
          <a:xfrm>
            <a:off x="1904300" y="3918950"/>
            <a:ext cx="1123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Babak Ayazifar</a:t>
            </a:r>
            <a:endParaRPr b="0" i="0" sz="6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1" name="Google Shape;231;p4"/>
          <p:cNvGraphicFramePr/>
          <p:nvPr/>
        </p:nvGraphicFramePr>
        <p:xfrm>
          <a:off x="456600" y="1352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{C7C93476-C458-464A-A98B-A6952AA0C386}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solidFill>
                            <a:srgbClr val="00326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General </a:t>
                      </a:r>
                      <a:endParaRPr b="1" sz="1700" u="none" cap="none" strike="noStrike">
                        <a:solidFill>
                          <a:srgbClr val="00326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solidFill>
                            <a:srgbClr val="00326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Lab Specific </a:t>
                      </a:r>
                      <a:endParaRPr b="1" sz="1700" u="none" cap="none" strike="noStrike">
                        <a:solidFill>
                          <a:srgbClr val="00326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rgbClr val="00326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Receiver</a:t>
                      </a:r>
                      <a:endParaRPr sz="1700" u="none" cap="none" strike="noStrike">
                        <a:solidFill>
                          <a:srgbClr val="00326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rgbClr val="00326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Microphone</a:t>
                      </a:r>
                      <a:endParaRPr sz="1700" u="none" cap="none" strike="noStrike">
                        <a:solidFill>
                          <a:srgbClr val="00326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rgbClr val="00326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Satellites repeatedly transmitting specific beacon signals</a:t>
                      </a:r>
                      <a:endParaRPr sz="1700" u="none" cap="none" strike="noStrike">
                        <a:solidFill>
                          <a:srgbClr val="00326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rgbClr val="00326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Speakers repeatedly playing specific tones (beacon signals)</a:t>
                      </a:r>
                      <a:endParaRPr sz="1700" u="none" cap="none" strike="noStrike">
                        <a:solidFill>
                          <a:srgbClr val="00326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2" name="Google Shape;232;p4"/>
          <p:cNvSpPr txBox="1"/>
          <p:nvPr>
            <p:ph idx="1" type="body"/>
          </p:nvPr>
        </p:nvSpPr>
        <p:spPr>
          <a:xfrm>
            <a:off x="293700" y="3216075"/>
            <a:ext cx="7401900" cy="20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Known: Location of each satellite and what beacon signal each satellite is playing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 sz="1800"/>
              <a:t>Unknown: Location of receiver ← what we want to figure out!</a:t>
            </a:r>
            <a:endParaRPr sz="1800"/>
          </a:p>
        </p:txBody>
      </p:sp>
      <p:pic>
        <p:nvPicPr>
          <p:cNvPr id="233" name="Google Shape;233;p4"/>
          <p:cNvPicPr preferRelativeResize="0"/>
          <p:nvPr/>
        </p:nvPicPr>
        <p:blipFill rotWithShape="1">
          <a:blip r:embed="rId3">
            <a:alphaModFix/>
          </a:blip>
          <a:srcRect b="59179" l="0" r="68516" t="0"/>
          <a:stretch/>
        </p:blipFill>
        <p:spPr>
          <a:xfrm>
            <a:off x="7117874" y="-7"/>
            <a:ext cx="1993100" cy="1949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Set-up</a:t>
            </a:r>
            <a:endParaRPr sz="2400"/>
          </a:p>
        </p:txBody>
      </p:sp>
      <p:sp>
        <p:nvSpPr>
          <p:cNvPr id="235" name="Google Shape;235;p4"/>
          <p:cNvSpPr/>
          <p:nvPr/>
        </p:nvSpPr>
        <p:spPr>
          <a:xfrm>
            <a:off x="8983625" y="1026050"/>
            <a:ext cx="160500" cy="58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Set-up</a:t>
            </a:r>
            <a:endParaRPr sz="2400"/>
          </a:p>
        </p:txBody>
      </p:sp>
      <p:pic>
        <p:nvPicPr>
          <p:cNvPr id="241" name="Google Shape;2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9050" y="97950"/>
            <a:ext cx="2998275" cy="275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/>
          <p:cNvSpPr/>
          <p:nvPr/>
        </p:nvSpPr>
        <p:spPr>
          <a:xfrm>
            <a:off x="7263725" y="1092250"/>
            <a:ext cx="476700" cy="451500"/>
          </a:xfrm>
          <a:prstGeom prst="mathPlus">
            <a:avLst>
              <a:gd fmla="val 235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7232375" y="2070775"/>
            <a:ext cx="539400" cy="4014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470050" y="1139550"/>
            <a:ext cx="83622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Satellite: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○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Known, periodic waveforms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○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Know satellite location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Receiver: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○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Will record the waveform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■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Sum of all shifted beacons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○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Waveform will be shifted from known satellite waveform based on how far it is from satellite (sound takes time to travel)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8700" y="3122700"/>
            <a:ext cx="2319089" cy="18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6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Let’s go backwards</a:t>
            </a:r>
            <a:endParaRPr sz="2400"/>
          </a:p>
        </p:txBody>
      </p:sp>
      <p:sp>
        <p:nvSpPr>
          <p:cNvPr id="251" name="Google Shape;251;p6"/>
          <p:cNvSpPr txBox="1"/>
          <p:nvPr/>
        </p:nvSpPr>
        <p:spPr>
          <a:xfrm>
            <a:off x="470050" y="1139550"/>
            <a:ext cx="83622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Assume we know the </a:t>
            </a:r>
            <a:r>
              <a:rPr b="1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distance</a:t>
            </a: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between the receiver and every satellite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 </a:t>
            </a:r>
            <a:r>
              <a:rPr b="1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lateration</a:t>
            </a: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and the satellites’ locations to locate the receiver!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 many satellites do we need in a 2D world?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How do we get those distances?</a:t>
            </a:r>
            <a:endParaRPr sz="2400"/>
          </a:p>
        </p:txBody>
      </p:sp>
      <p:sp>
        <p:nvSpPr>
          <p:cNvPr id="257" name="Google Shape;257;p7"/>
          <p:cNvSpPr txBox="1"/>
          <p:nvPr/>
        </p:nvSpPr>
        <p:spPr>
          <a:xfrm>
            <a:off x="470050" y="1139550"/>
            <a:ext cx="83622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Assume we know the </a:t>
            </a:r>
            <a:r>
              <a:rPr b="1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time-delay </a:t>
            </a: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(in secs) of every beacon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 the </a:t>
            </a:r>
            <a:r>
              <a:rPr b="1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speed of sound</a:t>
            </a: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through air to get exactly how far our receiver is from every satellite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○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 = v</a:t>
            </a:r>
            <a:r>
              <a:rPr b="0" baseline="-2500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</a:t>
            </a: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⋅ t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○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</a:t>
            </a:r>
            <a:r>
              <a:rPr b="0" baseline="-2500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</a:t>
            </a: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≈ 343 m/s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0775" y="3424100"/>
            <a:ext cx="3440150" cy="73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8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How do we get those time-delays?</a:t>
            </a:r>
            <a:endParaRPr sz="2400"/>
          </a:p>
        </p:txBody>
      </p:sp>
      <p:sp>
        <p:nvSpPr>
          <p:cNvPr id="264" name="Google Shape;264;p8"/>
          <p:cNvSpPr txBox="1"/>
          <p:nvPr/>
        </p:nvSpPr>
        <p:spPr>
          <a:xfrm>
            <a:off x="470050" y="1139550"/>
            <a:ext cx="83622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Assume we know how many </a:t>
            </a:r>
            <a:r>
              <a:rPr b="1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samples </a:t>
            </a: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takes for each beacon signal to arrive at the receiver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 the </a:t>
            </a:r>
            <a:r>
              <a:rPr b="1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sampling frequency</a:t>
            </a: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of receiver to get the </a:t>
            </a:r>
            <a:r>
              <a:rPr b="1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time-delay</a:t>
            </a: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○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Sampling frequency [samples/sec] -  rate at which microphone records samples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Poll Time!</a:t>
            </a:r>
            <a:endParaRPr sz="2400"/>
          </a:p>
        </p:txBody>
      </p:sp>
      <p:sp>
        <p:nvSpPr>
          <p:cNvPr id="270" name="Google Shape;270;p9"/>
          <p:cNvSpPr txBox="1"/>
          <p:nvPr/>
        </p:nvSpPr>
        <p:spPr>
          <a:xfrm>
            <a:off x="470050" y="1139550"/>
            <a:ext cx="83622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Let the sampling frequency be 1000 Hz and the speed of sound be 343 m/s. If I detect a signal with a delay of 100 samples, what is the distance between the speaker and the mic? 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3430 m 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34.3 m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343 m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3.43 m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8900" y="2229849"/>
            <a:ext cx="4650800" cy="11468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6" name="Google Shape;276;p10"/>
          <p:cNvSpPr/>
          <p:nvPr/>
        </p:nvSpPr>
        <p:spPr>
          <a:xfrm>
            <a:off x="5235200" y="3042175"/>
            <a:ext cx="607800" cy="2700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Poll Time!</a:t>
            </a:r>
            <a:endParaRPr sz="2400"/>
          </a:p>
        </p:txBody>
      </p:sp>
      <p:sp>
        <p:nvSpPr>
          <p:cNvPr id="278" name="Google Shape;278;p10"/>
          <p:cNvSpPr txBox="1"/>
          <p:nvPr/>
        </p:nvSpPr>
        <p:spPr>
          <a:xfrm>
            <a:off x="470050" y="1139550"/>
            <a:ext cx="83622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Let the sampling frequency be 1000 Hz and the speed of sound be 343 m/s. If I detect a signal with a delay of 100 samples, what is the distance between the speaker and the mic? 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3430 m 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1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34.3 m →</a:t>
            </a:r>
            <a:endParaRPr b="1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343 m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3.43 m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3375" y="2233400"/>
            <a:ext cx="3257250" cy="261877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1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How do we get sample delays?</a:t>
            </a:r>
            <a:endParaRPr sz="2400"/>
          </a:p>
        </p:txBody>
      </p:sp>
      <p:sp>
        <p:nvSpPr>
          <p:cNvPr id="285" name="Google Shape;285;p11"/>
          <p:cNvSpPr txBox="1"/>
          <p:nvPr/>
        </p:nvSpPr>
        <p:spPr>
          <a:xfrm>
            <a:off x="470050" y="1139550"/>
            <a:ext cx="83622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Receiver’s recorded signal is the sum of all the beacon signals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Need to separate the recorded signal into the individual beacon signals to see how many samples each signal is delayed by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Overview</a:t>
            </a:r>
            <a:endParaRPr sz="2400"/>
          </a:p>
        </p:txBody>
      </p:sp>
      <p:pic>
        <p:nvPicPr>
          <p:cNvPr id="291" name="Google Shape;2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804825"/>
            <a:ext cx="5484724" cy="413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451" y="1849225"/>
            <a:ext cx="3873096" cy="30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3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Recall: Inner (Dot) product</a:t>
            </a:r>
            <a:endParaRPr sz="2400"/>
          </a:p>
        </p:txBody>
      </p:sp>
      <p:sp>
        <p:nvSpPr>
          <p:cNvPr id="298" name="Google Shape;298;p13"/>
          <p:cNvSpPr txBox="1"/>
          <p:nvPr/>
        </p:nvSpPr>
        <p:spPr>
          <a:xfrm>
            <a:off x="470050" y="1139550"/>
            <a:ext cx="83622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Computes how similar two vectors are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2325" y="1000026"/>
            <a:ext cx="4139350" cy="74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4"/>
          <p:cNvSpPr txBox="1"/>
          <p:nvPr>
            <p:ph idx="1" type="body"/>
          </p:nvPr>
        </p:nvSpPr>
        <p:spPr>
          <a:xfrm>
            <a:off x="512825" y="2142000"/>
            <a:ext cx="6889200" cy="1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Given this expression, with ||x|| = ||y||, when is this expression maximized?</a:t>
            </a:r>
            <a:endParaRPr b="1" sz="1800"/>
          </a:p>
        </p:txBody>
      </p:sp>
      <p:sp>
        <p:nvSpPr>
          <p:cNvPr id="305" name="Google Shape;305;p14"/>
          <p:cNvSpPr txBox="1"/>
          <p:nvPr/>
        </p:nvSpPr>
        <p:spPr>
          <a:xfrm>
            <a:off x="2819850" y="1746025"/>
            <a:ext cx="35043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 alternate form of the dot product</a:t>
            </a:r>
            <a:endParaRPr b="0" i="0" sz="14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1475950" y="3048275"/>
            <a:ext cx="5359800" cy="10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𝜃 = 0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vectors point in the </a:t>
            </a:r>
            <a:r>
              <a:rPr b="0" i="0" lang="en" sz="1800" u="sng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SAME DIRECTION, </a:t>
            </a: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 they are the </a:t>
            </a:r>
            <a:r>
              <a:rPr b="0" i="0" lang="en" sz="1800" u="sng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SAME SIGNAL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bigger the dot product magnitude, the more “similar” the two vectors are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7" name="Google Shape;307;p14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Recall: Inner (Dot) product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Tool: Cross-correlation</a:t>
            </a:r>
            <a:endParaRPr sz="2400"/>
          </a:p>
        </p:txBody>
      </p:sp>
      <p:sp>
        <p:nvSpPr>
          <p:cNvPr id="313" name="Google Shape;313;p15"/>
          <p:cNvSpPr txBox="1"/>
          <p:nvPr>
            <p:ph idx="1" type="body"/>
          </p:nvPr>
        </p:nvSpPr>
        <p:spPr>
          <a:xfrm>
            <a:off x="747925" y="1820575"/>
            <a:ext cx="7589700" cy="26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Mathematical tool for finding similarities between signals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Idea</a:t>
            </a:r>
            <a:r>
              <a:rPr lang="en" sz="1800"/>
              <a:t>: Computes dot product between r and signal </a:t>
            </a:r>
            <a:r>
              <a:rPr i="1" lang="en" sz="1800"/>
              <a:t>B</a:t>
            </a:r>
            <a:r>
              <a:rPr baseline="-25000" i="1" lang="en" sz="1800"/>
              <a:t>A</a:t>
            </a:r>
            <a:r>
              <a:rPr lang="en" sz="1800"/>
              <a:t> shifted by k samples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From the previous slide, the </a:t>
            </a:r>
            <a:r>
              <a:rPr lang="en" sz="1800" u="sng"/>
              <a:t>peak</a:t>
            </a:r>
            <a:r>
              <a:rPr lang="en" sz="1800"/>
              <a:t> of the cross-correlation vector tells us which shift amount makes </a:t>
            </a:r>
            <a:r>
              <a:rPr i="1" lang="en" sz="1800"/>
              <a:t>B</a:t>
            </a:r>
            <a:r>
              <a:rPr baseline="-25000" i="1" lang="en" sz="1800"/>
              <a:t>A</a:t>
            </a:r>
            <a:r>
              <a:rPr lang="en" sz="1800"/>
              <a:t> “most similar” to </a:t>
            </a:r>
            <a:r>
              <a:rPr i="1" lang="en" sz="1800"/>
              <a:t>r</a:t>
            </a:r>
            <a:endParaRPr sz="1800"/>
          </a:p>
        </p:txBody>
      </p:sp>
      <p:pic>
        <p:nvPicPr>
          <p:cNvPr id="314" name="Google Shape;3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425" y="971825"/>
            <a:ext cx="4224653" cy="8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5"/>
          <p:cNvSpPr txBox="1"/>
          <p:nvPr/>
        </p:nvSpPr>
        <p:spPr>
          <a:xfrm>
            <a:off x="5398575" y="879700"/>
            <a:ext cx="37455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 Python: 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cross_correlation(r, B</a:t>
            </a:r>
            <a:r>
              <a:rPr b="1" baseline="-25000" i="0" lang="en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i="0" lang="en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i="0" lang="en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[k]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4992000" y="1223800"/>
            <a:ext cx="339900" cy="241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28575">
            <a:solidFill>
              <a:srgbClr val="C482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Poll Time!</a:t>
            </a:r>
            <a:endParaRPr sz="2400"/>
          </a:p>
        </p:txBody>
      </p:sp>
      <p:sp>
        <p:nvSpPr>
          <p:cNvPr id="322" name="Google Shape;322;p16"/>
          <p:cNvSpPr txBox="1"/>
          <p:nvPr/>
        </p:nvSpPr>
        <p:spPr>
          <a:xfrm>
            <a:off x="470050" y="1139550"/>
            <a:ext cx="83622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Given ||x|| = ||y|| = 1, when is the magnitude of the inner product expression maximized?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theta = 0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theta = 90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theta = 180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theta = -90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Poll Time!</a:t>
            </a:r>
            <a:endParaRPr sz="2400"/>
          </a:p>
        </p:txBody>
      </p:sp>
      <p:sp>
        <p:nvSpPr>
          <p:cNvPr id="328" name="Google Shape;328;p17"/>
          <p:cNvSpPr txBox="1"/>
          <p:nvPr/>
        </p:nvSpPr>
        <p:spPr>
          <a:xfrm>
            <a:off x="470050" y="1139550"/>
            <a:ext cx="83622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Given ||x|| = ||y|| = 1, when is the magnitude of the inner product expression maximized?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1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theta = 0</a:t>
            </a:r>
            <a:endParaRPr b="1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theta = 90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"/>
              <a:buChar char="●"/>
            </a:pPr>
            <a:r>
              <a:rPr b="1" i="0" lang="en" sz="1800" u="none" cap="none" strike="noStrike">
                <a:solidFill>
                  <a:srgbClr val="003262"/>
                </a:solidFill>
                <a:latin typeface="Montserrat"/>
                <a:ea typeface="Montserrat"/>
                <a:cs typeface="Montserrat"/>
                <a:sym typeface="Montserrat"/>
              </a:rPr>
              <a:t>theta = 180 (cos 180 = -1)</a:t>
            </a:r>
            <a:endParaRPr b="1" i="0" sz="1800" u="none" cap="none" strike="noStrike">
              <a:solidFill>
                <a:srgbClr val="00326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theta = -90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Tool: Cross-correlation</a:t>
            </a:r>
            <a:endParaRPr sz="2400"/>
          </a:p>
        </p:txBody>
      </p:sp>
      <p:sp>
        <p:nvSpPr>
          <p:cNvPr id="334" name="Google Shape;334;p18"/>
          <p:cNvSpPr txBox="1"/>
          <p:nvPr>
            <p:ph idx="1" type="body"/>
          </p:nvPr>
        </p:nvSpPr>
        <p:spPr>
          <a:xfrm>
            <a:off x="413575" y="711400"/>
            <a:ext cx="8418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At ~ how many offset samples are the signals most similar?</a:t>
            </a:r>
            <a:endParaRPr b="1" sz="1800"/>
          </a:p>
        </p:txBody>
      </p:sp>
      <p:pic>
        <p:nvPicPr>
          <p:cNvPr id="335" name="Google Shape;335;p18"/>
          <p:cNvPicPr preferRelativeResize="0"/>
          <p:nvPr/>
        </p:nvPicPr>
        <p:blipFill rotWithShape="1">
          <a:blip r:embed="rId3">
            <a:alphaModFix/>
          </a:blip>
          <a:srcRect b="0" l="7953" r="4848" t="0"/>
          <a:stretch/>
        </p:blipFill>
        <p:spPr>
          <a:xfrm>
            <a:off x="1917613" y="1134700"/>
            <a:ext cx="4394374" cy="377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8"/>
          <p:cNvSpPr txBox="1"/>
          <p:nvPr/>
        </p:nvSpPr>
        <p:spPr>
          <a:xfrm>
            <a:off x="306925" y="2009025"/>
            <a:ext cx="53574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FF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blue = r</a:t>
            </a:r>
            <a:endParaRPr b="1" i="0" sz="1800" u="none" cap="none" strike="noStrike">
              <a:solidFill>
                <a:srgbClr val="0000FF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FF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red </a:t>
            </a:r>
            <a:r>
              <a:rPr b="1" i="0" lang="en" sz="1800" u="none" cap="none" strike="noStrike">
                <a:solidFill>
                  <a:srgbClr val="FF000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= B</a:t>
            </a:r>
            <a:r>
              <a:rPr b="1" baseline="-25000" i="0" lang="en" sz="1800" u="none" cap="none" strike="noStrike">
                <a:solidFill>
                  <a:srgbClr val="FF000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i="0" sz="1800" u="none" cap="none" strike="noStrike">
              <a:solidFill>
                <a:srgbClr val="FF000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18"/>
          <p:cNvSpPr txBox="1"/>
          <p:nvPr>
            <p:ph idx="1" type="body"/>
          </p:nvPr>
        </p:nvSpPr>
        <p:spPr>
          <a:xfrm>
            <a:off x="6354250" y="4173800"/>
            <a:ext cx="2814900" cy="9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800">
                <a:highlight>
                  <a:srgbClr val="FFFFFF"/>
                </a:highlight>
              </a:rPr>
              <a:t>Note: zero pad signals</a:t>
            </a:r>
            <a:endParaRPr sz="18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000"/>
              <a:buNone/>
            </a:pPr>
            <a:r>
              <a:rPr lang="en" sz="1800">
                <a:highlight>
                  <a:srgbClr val="FFFFFF"/>
                </a:highlight>
              </a:rPr>
              <a:t>to match length</a:t>
            </a:r>
            <a:endParaRPr sz="18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12" y="2886150"/>
            <a:ext cx="8159174" cy="212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9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How to use?</a:t>
            </a:r>
            <a:endParaRPr sz="2400"/>
          </a:p>
        </p:txBody>
      </p:sp>
      <p:sp>
        <p:nvSpPr>
          <p:cNvPr id="344" name="Google Shape;344;p19"/>
          <p:cNvSpPr txBox="1"/>
          <p:nvPr/>
        </p:nvSpPr>
        <p:spPr>
          <a:xfrm>
            <a:off x="470050" y="1139550"/>
            <a:ext cx="83622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Cross correlating should tell us where each beacon signal arrived in our recorded signal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Let’s cross-correlate each of the known beacon signals with what we recorded and plot the result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12" y="2886150"/>
            <a:ext cx="8159174" cy="212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0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Absolute or relative sample delays?</a:t>
            </a:r>
            <a:endParaRPr sz="2400"/>
          </a:p>
        </p:txBody>
      </p:sp>
      <p:sp>
        <p:nvSpPr>
          <p:cNvPr id="351" name="Google Shape;351;p20"/>
          <p:cNvSpPr txBox="1"/>
          <p:nvPr/>
        </p:nvSpPr>
        <p:spPr>
          <a:xfrm>
            <a:off x="470050" y="1139550"/>
            <a:ext cx="83622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can see peaks where each beacon signal arrived!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But notice it only gives us </a:t>
            </a:r>
            <a:r>
              <a:rPr b="1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relative</a:t>
            </a: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sample delays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○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Still can’t tell how many absolute samples each beacon is delayed, we don’t know when it was supposed to arrive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Arbitrarily pick a beacon to be the reference point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6440" y="930025"/>
            <a:ext cx="5757561" cy="4125651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1"/>
          <p:cNvSpPr txBox="1"/>
          <p:nvPr/>
        </p:nvSpPr>
        <p:spPr>
          <a:xfrm>
            <a:off x="5411725" y="1305425"/>
            <a:ext cx="17070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"/>
                <a:ea typeface="Montserrat"/>
                <a:cs typeface="Montserrat"/>
                <a:sym typeface="Montserrat"/>
              </a:rPr>
              <a:t>separated  signals</a:t>
            </a:r>
            <a:endParaRPr b="0" i="0" sz="1800" u="none" cap="none" strike="noStrike">
              <a:solidFill>
                <a:srgbClr val="003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3849675" y="3809950"/>
            <a:ext cx="2134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3262"/>
                </a:solidFill>
                <a:latin typeface="Montserrat"/>
                <a:ea typeface="Montserrat"/>
                <a:cs typeface="Montserrat"/>
                <a:sym typeface="Montserrat"/>
              </a:rPr>
              <a:t>Shift and recenter separated signals</a:t>
            </a:r>
            <a:endParaRPr b="0" i="0" sz="1700" u="none" cap="none" strike="noStrike">
              <a:solidFill>
                <a:srgbClr val="003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97325" y="1368250"/>
            <a:ext cx="3289200" cy="3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Let’s shift our axis so beacon 0 has a delay of 0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could pick any beacon to be the center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○"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 is arbitrary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0" name="Google Shape;360;p21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Absolute or relative sample delays?</a:t>
            </a:r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56550"/>
            <a:ext cx="8839201" cy="3486938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2"/>
          <p:cNvSpPr txBox="1"/>
          <p:nvPr/>
        </p:nvSpPr>
        <p:spPr>
          <a:xfrm>
            <a:off x="810775" y="817125"/>
            <a:ext cx="73863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Now beacon 0 is at our new “origin” and all computations are relative to the new “0” – but how do we find T0?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3450025" y="1706950"/>
            <a:ext cx="835800" cy="30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2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Absolute or relative sample delays?</a:t>
            </a:r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3 Beacon Example</a:t>
            </a:r>
            <a:endParaRPr/>
          </a:p>
        </p:txBody>
      </p:sp>
      <p:sp>
        <p:nvSpPr>
          <p:cNvPr id="374" name="Google Shape;374;p23"/>
          <p:cNvSpPr txBox="1"/>
          <p:nvPr>
            <p:ph idx="1" type="body"/>
          </p:nvPr>
        </p:nvSpPr>
        <p:spPr>
          <a:xfrm>
            <a:off x="311700" y="1027025"/>
            <a:ext cx="85206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31800" lvl="0" marL="609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</a:pPr>
            <a:r>
              <a:rPr lang="en"/>
              <a:t>To answer the T0 question, we must formally set up our system. Let beacon centers be: (x</a:t>
            </a:r>
            <a:r>
              <a:rPr baseline="-25000" lang="en"/>
              <a:t>0</a:t>
            </a:r>
            <a:r>
              <a:rPr lang="en"/>
              <a:t>, y</a:t>
            </a:r>
            <a:r>
              <a:rPr baseline="-25000" lang="en"/>
              <a:t>0</a:t>
            </a:r>
            <a:r>
              <a:rPr lang="en"/>
              <a:t>), (x</a:t>
            </a:r>
            <a:r>
              <a:rPr baseline="-25000" lang="en"/>
              <a:t>1</a:t>
            </a:r>
            <a:r>
              <a:rPr lang="en"/>
              <a:t>, y</a:t>
            </a:r>
            <a:r>
              <a:rPr baseline="-25000" lang="en"/>
              <a:t>1</a:t>
            </a:r>
            <a:r>
              <a:rPr lang="en"/>
              <a:t>) and (x</a:t>
            </a:r>
            <a:r>
              <a:rPr baseline="-25000" lang="en"/>
              <a:t>2</a:t>
            </a:r>
            <a:r>
              <a:rPr lang="en"/>
              <a:t>, y</a:t>
            </a:r>
            <a:r>
              <a:rPr baseline="-25000" lang="en"/>
              <a:t>2</a:t>
            </a:r>
            <a:r>
              <a:rPr lang="en"/>
              <a:t>)</a:t>
            </a:r>
            <a:endParaRPr/>
          </a:p>
          <a:p>
            <a:pPr indent="-4318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</a:pPr>
            <a:r>
              <a:rPr lang="en"/>
              <a:t>Time of arrivals: 𝜏</a:t>
            </a:r>
            <a:r>
              <a:rPr baseline="-25000" lang="en"/>
              <a:t>0</a:t>
            </a:r>
            <a:r>
              <a:rPr lang="en"/>
              <a:t>, 𝜏</a:t>
            </a:r>
            <a:r>
              <a:rPr baseline="-25000" lang="en"/>
              <a:t>1</a:t>
            </a:r>
            <a:r>
              <a:rPr lang="en"/>
              <a:t>, 𝜏</a:t>
            </a:r>
            <a:r>
              <a:rPr baseline="-25000" lang="en"/>
              <a:t>2</a:t>
            </a:r>
            <a:endParaRPr baseline="-25000"/>
          </a:p>
          <a:p>
            <a:pPr indent="-4318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</a:pPr>
            <a:r>
              <a:rPr lang="en"/>
              <a:t>Distance of beacon m (m = 0, 1, 2) is d</a:t>
            </a:r>
            <a:r>
              <a:rPr baseline="-25000" lang="en"/>
              <a:t>m</a:t>
            </a:r>
            <a:r>
              <a:rPr lang="en"/>
              <a:t> = v𝜏</a:t>
            </a:r>
            <a:r>
              <a:rPr baseline="-25000" lang="en"/>
              <a:t>m</a:t>
            </a:r>
            <a:r>
              <a:rPr lang="en"/>
              <a:t> = R</a:t>
            </a:r>
            <a:r>
              <a:rPr baseline="-25000" lang="en"/>
              <a:t>m</a:t>
            </a:r>
            <a:r>
              <a:rPr lang="en"/>
              <a:t> (circle radii)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Circle equations: (x - 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)</a:t>
            </a:r>
            <a:r>
              <a:rPr b="1" baseline="30000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+ (y - y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)</a:t>
            </a:r>
            <a:r>
              <a:rPr b="1" baseline="30000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= d</a:t>
            </a:r>
            <a:r>
              <a:rPr b="1" baseline="30000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m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375" name="Google Shape;3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2375" y="2510975"/>
            <a:ext cx="2969925" cy="2444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4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Trilateration</a:t>
            </a:r>
            <a:endParaRPr/>
          </a:p>
        </p:txBody>
      </p:sp>
      <p:pic>
        <p:nvPicPr>
          <p:cNvPr id="381" name="Google Shape;3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6625" y="653413"/>
            <a:ext cx="3798950" cy="292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4963" y="3895413"/>
            <a:ext cx="296227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700" y="1000025"/>
            <a:ext cx="4260595" cy="76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1700" y="1799724"/>
            <a:ext cx="4260600" cy="76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1700" y="2610049"/>
            <a:ext cx="4260600" cy="76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Trilateration</a:t>
            </a:r>
            <a:endParaRPr/>
          </a:p>
        </p:txBody>
      </p:sp>
      <p:pic>
        <p:nvPicPr>
          <p:cNvPr id="391" name="Google Shape;3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6500" y="752925"/>
            <a:ext cx="3251450" cy="25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9038" y="4390400"/>
            <a:ext cx="5486376" cy="52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9050" y="3849575"/>
            <a:ext cx="5486501" cy="52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9050" y="3291599"/>
            <a:ext cx="5486506" cy="52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Trilateration</a:t>
            </a:r>
            <a:endParaRPr/>
          </a:p>
        </p:txBody>
      </p:sp>
      <p:sp>
        <p:nvSpPr>
          <p:cNvPr id="400" name="Google Shape;400;p26"/>
          <p:cNvSpPr txBox="1"/>
          <p:nvPr>
            <p:ph idx="1" type="body"/>
          </p:nvPr>
        </p:nvSpPr>
        <p:spPr>
          <a:xfrm>
            <a:off x="311700" y="1135701"/>
            <a:ext cx="8520600" cy="3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000"/>
              <a:buNone/>
            </a:pPr>
            <a:r>
              <a:rPr lang="en"/>
              <a:t>Subtracting the zeroth equation yields:</a:t>
            </a:r>
            <a:endParaRPr/>
          </a:p>
        </p:txBody>
      </p:sp>
      <p:pic>
        <p:nvPicPr>
          <p:cNvPr id="401" name="Google Shape;40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7375" y="442152"/>
            <a:ext cx="2636125" cy="20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6"/>
          <p:cNvSpPr txBox="1"/>
          <p:nvPr/>
        </p:nvSpPr>
        <p:spPr>
          <a:xfrm>
            <a:off x="330225" y="4120400"/>
            <a:ext cx="454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and,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03" name="Google Shape;40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88" y="1950675"/>
            <a:ext cx="5486376" cy="52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700" y="1409850"/>
            <a:ext cx="5486501" cy="52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1700" y="851874"/>
            <a:ext cx="5486506" cy="52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1700" y="3143950"/>
            <a:ext cx="7715426" cy="45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1700" y="3634625"/>
            <a:ext cx="8472000" cy="45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03224" y="4484225"/>
            <a:ext cx="7580210" cy="4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7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Trilateration</a:t>
            </a:r>
            <a:endParaRPr/>
          </a:p>
        </p:txBody>
      </p:sp>
      <p:sp>
        <p:nvSpPr>
          <p:cNvPr id="414" name="Google Shape;414;p27"/>
          <p:cNvSpPr txBox="1"/>
          <p:nvPr>
            <p:ph idx="1" type="body"/>
          </p:nvPr>
        </p:nvSpPr>
        <p:spPr>
          <a:xfrm>
            <a:off x="-60867" y="923550"/>
            <a:ext cx="85206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000"/>
              <a:buNone/>
            </a:pPr>
            <a:r>
              <a:rPr lang="en" sz="1600"/>
              <a:t>      We want to write this in terms of TDOAs and unknowns!</a:t>
            </a:r>
            <a:endParaRPr sz="1600"/>
          </a:p>
        </p:txBody>
      </p:sp>
      <p:pic>
        <p:nvPicPr>
          <p:cNvPr id="415" name="Google Shape;4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450" y="3657600"/>
            <a:ext cx="663375" cy="24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7375" y="442152"/>
            <a:ext cx="2636125" cy="20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901" y="1531559"/>
            <a:ext cx="5221361" cy="310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8915" y="1175500"/>
            <a:ext cx="5221361" cy="310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2825" y="3967423"/>
            <a:ext cx="7423658" cy="36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2825" y="4474650"/>
            <a:ext cx="7423658" cy="36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8925" y="3277600"/>
            <a:ext cx="6986825" cy="24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8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Trilateration</a:t>
            </a:r>
            <a:endParaRPr/>
          </a:p>
        </p:txBody>
      </p:sp>
      <p:sp>
        <p:nvSpPr>
          <p:cNvPr id="427" name="Google Shape;427;p28"/>
          <p:cNvSpPr txBox="1"/>
          <p:nvPr>
            <p:ph idx="1" type="body"/>
          </p:nvPr>
        </p:nvSpPr>
        <p:spPr>
          <a:xfrm>
            <a:off x="311700" y="1027025"/>
            <a:ext cx="85206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000"/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What are our unknowns in this system?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8" name="Google Shape;4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27025"/>
            <a:ext cx="8113426" cy="456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1576694"/>
            <a:ext cx="8113426" cy="456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9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Trilateration</a:t>
            </a:r>
            <a:endParaRPr/>
          </a:p>
        </p:txBody>
      </p:sp>
      <p:sp>
        <p:nvSpPr>
          <p:cNvPr id="435" name="Google Shape;435;p29"/>
          <p:cNvSpPr txBox="1"/>
          <p:nvPr>
            <p:ph idx="1" type="body"/>
          </p:nvPr>
        </p:nvSpPr>
        <p:spPr>
          <a:xfrm>
            <a:off x="311700" y="1027025"/>
            <a:ext cx="85206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What are our unknowns in this system?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436" name="Google Shape;4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00025"/>
            <a:ext cx="8022300" cy="45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1543520"/>
            <a:ext cx="8022300" cy="45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100" y="3248300"/>
            <a:ext cx="280987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0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Trilateration</a:t>
            </a:r>
            <a:endParaRPr/>
          </a:p>
        </p:txBody>
      </p:sp>
      <p:sp>
        <p:nvSpPr>
          <p:cNvPr id="444" name="Google Shape;444;p30"/>
          <p:cNvSpPr txBox="1"/>
          <p:nvPr>
            <p:ph idx="1" type="body"/>
          </p:nvPr>
        </p:nvSpPr>
        <p:spPr>
          <a:xfrm>
            <a:off x="311700" y="1027025"/>
            <a:ext cx="85206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2281"/>
              <a:buNone/>
            </a:pPr>
            <a:r>
              <a:rPr b="1" lang="en" sz="2850">
                <a:latin typeface="Montserrat"/>
                <a:ea typeface="Montserrat"/>
                <a:cs typeface="Montserrat"/>
                <a:sym typeface="Montserrat"/>
              </a:rPr>
              <a:t>What are our unknowns in this system?</a:t>
            </a:r>
            <a:endParaRPr b="1" sz="28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2281"/>
              <a:buNone/>
            </a:pPr>
            <a:r>
              <a:rPr b="1" lang="en" sz="2850">
                <a:latin typeface="Montserrat"/>
                <a:ea typeface="Montserrat"/>
                <a:cs typeface="Montserrat"/>
                <a:sym typeface="Montserrat"/>
              </a:rPr>
              <a:t>Problem: 3 unknowns and 2 equations! </a:t>
            </a:r>
            <a:endParaRPr b="1" sz="28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2281"/>
              <a:buNone/>
            </a:pPr>
            <a:r>
              <a:rPr b="1" lang="en" sz="2850">
                <a:latin typeface="Montserrat"/>
                <a:ea typeface="Montserrat"/>
                <a:cs typeface="Montserrat"/>
                <a:sym typeface="Montserrat"/>
              </a:rPr>
              <a:t>Solution: add another beacon to produce a third equation!</a:t>
            </a:r>
            <a:endParaRPr b="1" sz="285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5" name="Google Shape;4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100" y="1000025"/>
            <a:ext cx="8022300" cy="45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100" y="1543520"/>
            <a:ext cx="8022300" cy="45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350" y="2812625"/>
            <a:ext cx="280987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1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Trilateration</a:t>
            </a:r>
            <a:endParaRPr/>
          </a:p>
        </p:txBody>
      </p:sp>
      <p:pic>
        <p:nvPicPr>
          <p:cNvPr id="453" name="Google Shape;45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0475" y="1017875"/>
            <a:ext cx="2902525" cy="2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1"/>
          <p:cNvSpPr txBox="1"/>
          <p:nvPr/>
        </p:nvSpPr>
        <p:spPr>
          <a:xfrm>
            <a:off x="6833850" y="896925"/>
            <a:ext cx="1997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3262"/>
                </a:solidFill>
                <a:latin typeface="Montserrat"/>
                <a:ea typeface="Montserrat"/>
                <a:cs typeface="Montserrat"/>
                <a:sym typeface="Montserrat"/>
              </a:rPr>
              <a:t>3 equations and 3 unknowns, so we have a solvable system!</a:t>
            </a:r>
            <a:endParaRPr b="1" i="0" sz="1400" u="none" cap="none" strike="noStrike">
              <a:solidFill>
                <a:srgbClr val="003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5" name="Google Shape;45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888" y="3365025"/>
            <a:ext cx="8022300" cy="45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9888" y="3908520"/>
            <a:ext cx="8022300" cy="45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9900" y="4452025"/>
            <a:ext cx="8022223" cy="45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Multilateration</a:t>
            </a:r>
            <a:endParaRPr/>
          </a:p>
        </p:txBody>
      </p:sp>
      <p:sp>
        <p:nvSpPr>
          <p:cNvPr id="463" name="Google Shape;463;p32"/>
          <p:cNvSpPr txBox="1"/>
          <p:nvPr>
            <p:ph idx="1" type="body"/>
          </p:nvPr>
        </p:nvSpPr>
        <p:spPr>
          <a:xfrm>
            <a:off x="311700" y="1027025"/>
            <a:ext cx="85206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000"/>
              <a:buNone/>
            </a:pPr>
            <a:r>
              <a:rPr lang="en"/>
              <a:t>We can produce overdetermined system with M beacons!</a:t>
            </a:r>
            <a:endParaRPr/>
          </a:p>
        </p:txBody>
      </p:sp>
      <p:pic>
        <p:nvPicPr>
          <p:cNvPr id="464" name="Google Shape;4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563" y="2215000"/>
            <a:ext cx="8808876" cy="15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3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“Solving” an Overdetermined System</a:t>
            </a:r>
            <a:endParaRPr/>
          </a:p>
        </p:txBody>
      </p:sp>
      <p:sp>
        <p:nvSpPr>
          <p:cNvPr id="470" name="Google Shape;470;p33"/>
          <p:cNvSpPr txBox="1"/>
          <p:nvPr>
            <p:ph idx="1" type="body"/>
          </p:nvPr>
        </p:nvSpPr>
        <p:spPr>
          <a:xfrm>
            <a:off x="311700" y="908850"/>
            <a:ext cx="61335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609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</a:pPr>
            <a:r>
              <a:rPr lang="en"/>
              <a:t>After simplifying, we have more equations than unknowns (x,y)</a:t>
            </a:r>
            <a:endParaRPr/>
          </a:p>
          <a:p>
            <a:pPr indent="-4318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</a:pPr>
            <a:r>
              <a:rPr lang="en"/>
              <a:t>Can do least-squares regardless of number of beacons</a:t>
            </a:r>
            <a:endParaRPr/>
          </a:p>
          <a:p>
            <a:pPr indent="-4318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</a:pPr>
            <a:r>
              <a:rPr lang="en"/>
              <a:t>Best estimate of location if measurements are inconsistent</a:t>
            </a:r>
            <a:endParaRPr/>
          </a:p>
          <a:p>
            <a:pPr indent="-4318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</a:pPr>
            <a:r>
              <a:rPr lang="en"/>
              <a:t>If there is no exact point of intersection because of error or noise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471" name="Google Shape;47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435" y="3510694"/>
            <a:ext cx="2194500" cy="134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4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Notes for Lab Computer Users</a:t>
            </a:r>
            <a:endParaRPr/>
          </a:p>
        </p:txBody>
      </p:sp>
      <p:sp>
        <p:nvSpPr>
          <p:cNvPr id="477" name="Google Shape;477;p34"/>
          <p:cNvSpPr txBox="1"/>
          <p:nvPr/>
        </p:nvSpPr>
        <p:spPr>
          <a:xfrm>
            <a:off x="311700" y="1027025"/>
            <a:ext cx="85206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262"/>
              </a:buClr>
              <a:buSzPts val="2400"/>
              <a:buFont typeface="Montserrat Medium"/>
              <a:buChar char="●"/>
            </a:pPr>
            <a:r>
              <a:rPr b="0" i="0" lang="en" sz="2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Please use the lab computers and download the “Zip” file from the lab website. Extract the files first. Click on Launch </a:t>
            </a:r>
            <a:r>
              <a:rPr lang="en" sz="24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Marimo</a:t>
            </a:r>
            <a:r>
              <a:rPr b="0" i="0" lang="en" sz="2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.bat. This should open the lab notebook.</a:t>
            </a:r>
            <a:endParaRPr b="0" i="0" sz="24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400"/>
              <a:buFont typeface="Montserrat Medium"/>
              <a:buChar char="●"/>
            </a:pPr>
            <a:r>
              <a:rPr b="0" i="0" lang="en" sz="2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Might have to hit reload on the notebook tab for pictures to render.</a:t>
            </a:r>
            <a:endParaRPr b="0" i="0" sz="24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400"/>
              <a:buFont typeface="Arial"/>
              <a:buChar char="●"/>
            </a:pPr>
            <a:r>
              <a:rPr b="0" i="0" lang="en" sz="2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Read over the math carefully, we’ll be asking you about it during the checkoff!</a:t>
            </a:r>
            <a:endParaRPr b="0" i="0" sz="24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262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h114ab7fe80dafefb_0_9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 for PC Users</a:t>
            </a:r>
            <a:endParaRPr/>
          </a:p>
        </p:txBody>
      </p:sp>
      <p:sp>
        <p:nvSpPr>
          <p:cNvPr id="483" name="Google Shape;483;h114ab7fe80dafefb_0_9"/>
          <p:cNvSpPr txBox="1"/>
          <p:nvPr>
            <p:ph idx="1" type="body"/>
          </p:nvPr>
        </p:nvSpPr>
        <p:spPr>
          <a:xfrm>
            <a:off x="311700" y="1027025"/>
            <a:ext cx="8520600" cy="37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Launchers are verified to work well in Windows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If you have a Mac, you might have a “permission denied” error. Follow these steps to fix that: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Open Terminal.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Type chmod +x (with a space after the x), but don't press Return yet.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Drag Launch Marimo.command from the Finder window into the Terminal window. This pastes its full path.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Press Return.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When prompted in terminal with a y/n type 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ECS16a - Lab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ECS16a - Lab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